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886238b56b482c" /><Relationship Type="http://schemas.openxmlformats.org/officeDocument/2006/relationships/extended-properties" Target="/docProps/app.xml" Id="R9b98c1b7af284b8b" /><Relationship Type="http://schemas.openxmlformats.org/officeDocument/2006/relationships/officeDocument" Target="/ppt/presentation.xml" Id="R67c0ae34d72f43b6" /></Relationships>
</file>

<file path=ppt/presentation.xml><?xml version="1.0" encoding="utf-8"?>
<p:presentation xmlns:p="http://schemas.openxmlformats.org/presentationml/2006/main">
  <p:sldMasterIdLst>
    <p:sldMasterId xmlns:r="http://schemas.openxmlformats.org/officeDocument/2006/relationships" id="2147483648" r:id="R7086b8c0878e4d1e"/>
  </p:sldMasterIdLst>
  <p:notesMasterIdLst>
    <p:notesMasterId xmlns:r="http://schemas.openxmlformats.org/officeDocument/2006/relationships" r:id="R82dd5507b6834877"/>
  </p:notesMasterIdLst>
  <p:sldIdLst>
    <p:sldId xmlns:r="http://schemas.openxmlformats.org/officeDocument/2006/relationships" id="256" r:id="R3643a580857f4e1d"/>
    <p:sldId xmlns:r="http://schemas.openxmlformats.org/officeDocument/2006/relationships" id="257" r:id="R1ed3bf9a52f84db7"/>
    <p:sldId xmlns:r="http://schemas.openxmlformats.org/officeDocument/2006/relationships" id="258" r:id="Ra5a019f8f5914e15"/>
    <p:sldId xmlns:r="http://schemas.openxmlformats.org/officeDocument/2006/relationships" id="259" r:id="R4b750b44cd544816"/>
    <p:sldId xmlns:r="http://schemas.openxmlformats.org/officeDocument/2006/relationships" id="260" r:id="Rce3440c8c04c4f20"/>
    <p:sldId xmlns:r="http://schemas.openxmlformats.org/officeDocument/2006/relationships" id="261" r:id="R21b0ef35252245fc"/>
    <p:sldId xmlns:r="http://schemas.openxmlformats.org/officeDocument/2006/relationships" id="262" r:id="R9e56ec969b92445a"/>
    <p:sldId xmlns:r="http://schemas.openxmlformats.org/officeDocument/2006/relationships" id="263" r:id="R4453b5b9c0b942c0"/>
    <p:sldId xmlns:r="http://schemas.openxmlformats.org/officeDocument/2006/relationships" id="264" r:id="R3cee485f5138410b"/>
    <p:sldId xmlns:r="http://schemas.openxmlformats.org/officeDocument/2006/relationships" id="265" r:id="Rec419d118e1d4404"/>
    <p:sldId xmlns:r="http://schemas.openxmlformats.org/officeDocument/2006/relationships" id="266" r:id="R356bbccc7ff94c57"/>
    <p:sldId xmlns:r="http://schemas.openxmlformats.org/officeDocument/2006/relationships" id="267" r:id="R2fa7e73958264558"/>
    <p:sldId xmlns:r="http://schemas.openxmlformats.org/officeDocument/2006/relationships" id="268" r:id="R258b811899fc4999"/>
    <p:sldId xmlns:r="http://schemas.openxmlformats.org/officeDocument/2006/relationships" id="269" r:id="R17aa84c48ea74a2d"/>
    <p:sldId xmlns:r="http://schemas.openxmlformats.org/officeDocument/2006/relationships" id="270" r:id="R9c3f528bcbc84395"/>
    <p:sldId xmlns:r="http://schemas.openxmlformats.org/officeDocument/2006/relationships" id="271" r:id="R4ab0c7b96d7a4bc7"/>
    <p:sldId xmlns:r="http://schemas.openxmlformats.org/officeDocument/2006/relationships" id="272" r:id="R7978fd1d96094a7f"/>
    <p:sldId xmlns:r="http://schemas.openxmlformats.org/officeDocument/2006/relationships" id="273" r:id="Ra5a2a503fdb2450a"/>
    <p:sldId xmlns:r="http://schemas.openxmlformats.org/officeDocument/2006/relationships" id="274" r:id="Rd89491b7da15430e"/>
    <p:sldId xmlns:r="http://schemas.openxmlformats.org/officeDocument/2006/relationships" id="275" r:id="Rf9b74a76c8984697"/>
    <p:sldId xmlns:r="http://schemas.openxmlformats.org/officeDocument/2006/relationships" id="276" r:id="R3ca3e95d53b34e2a"/>
    <p:sldId xmlns:r="http://schemas.openxmlformats.org/officeDocument/2006/relationships" id="277" r:id="R177c0343bd594c6c"/>
    <p:sldId xmlns:r="http://schemas.openxmlformats.org/officeDocument/2006/relationships" id="278" r:id="Rac7ac26e94b5410f"/>
    <p:sldId xmlns:r="http://schemas.openxmlformats.org/officeDocument/2006/relationships" id="279" r:id="Rd0d5ecd76bb14acf"/>
    <p:sldId xmlns:r="http://schemas.openxmlformats.org/officeDocument/2006/relationships" id="280" r:id="R7f9b44344e354bc1"/>
    <p:sldId xmlns:r="http://schemas.openxmlformats.org/officeDocument/2006/relationships" id="281" r:id="R20473667d98b4735"/>
    <p:sldId xmlns:r="http://schemas.openxmlformats.org/officeDocument/2006/relationships" id="282" r:id="Rf912d6213a4d4d62"/>
    <p:sldId xmlns:r="http://schemas.openxmlformats.org/officeDocument/2006/relationships" id="283" r:id="R38b47075ecb04ae0"/>
    <p:sldId xmlns:r="http://schemas.openxmlformats.org/officeDocument/2006/relationships" id="284" r:id="Rc471d0b98dd24bc3"/>
    <p:sldId xmlns:r="http://schemas.openxmlformats.org/officeDocument/2006/relationships" id="285" r:id="Racf2af337c874236"/>
    <p:sldId xmlns:r="http://schemas.openxmlformats.org/officeDocument/2006/relationships" id="286" r:id="Raf70b84298474597"/>
    <p:sldId xmlns:r="http://schemas.openxmlformats.org/officeDocument/2006/relationships" id="287" r:id="R2a7f4ddeb1374c35"/>
    <p:sldId xmlns:r="http://schemas.openxmlformats.org/officeDocument/2006/relationships" id="288" r:id="R9b7ec6047a364d4c"/>
    <p:sldId xmlns:r="http://schemas.openxmlformats.org/officeDocument/2006/relationships" id="289" r:id="R1f5739c1b4dc4cb2"/>
    <p:sldId xmlns:r="http://schemas.openxmlformats.org/officeDocument/2006/relationships" id="290" r:id="Rdbde3992215c4ce7"/>
    <p:sldId xmlns:r="http://schemas.openxmlformats.org/officeDocument/2006/relationships" id="291" r:id="R9758597000114dab"/>
    <p:sldId xmlns:r="http://schemas.openxmlformats.org/officeDocument/2006/relationships" id="292" r:id="R1fd49020e2a24377"/>
    <p:sldId xmlns:r="http://schemas.openxmlformats.org/officeDocument/2006/relationships" id="293" r:id="Rdf9bf9c750284c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1385a8e4394c17" /><Relationship Type="http://schemas.openxmlformats.org/officeDocument/2006/relationships/slideMaster" Target="/ppt/slideMasters/slideMaster1.xml" Id="R7086b8c0878e4d1e" /><Relationship Type="http://schemas.openxmlformats.org/officeDocument/2006/relationships/notesMaster" Target="/ppt/notesMasters/notesMaster1.xml" Id="R82dd5507b6834877" /><Relationship Type="http://schemas.openxmlformats.org/officeDocument/2006/relationships/presProps" Target="/ppt/presProps.xml" Id="Rb44ae76546924746" /><Relationship Type="http://schemas.openxmlformats.org/officeDocument/2006/relationships/tableStyles" Target="/ppt/tableStyles.xml" Id="R4957a62a85be4bfc" /><Relationship Type="http://schemas.openxmlformats.org/officeDocument/2006/relationships/slide" Target="/ppt/slides/slide1.xml" Id="R3643a580857f4e1d" /><Relationship Type="http://schemas.openxmlformats.org/officeDocument/2006/relationships/slide" Target="/ppt/slides/slide2.xml" Id="R1ed3bf9a52f84db7" /><Relationship Type="http://schemas.openxmlformats.org/officeDocument/2006/relationships/slide" Target="/ppt/slides/slide3.xml" Id="Ra5a019f8f5914e15" /><Relationship Type="http://schemas.openxmlformats.org/officeDocument/2006/relationships/slide" Target="/ppt/slides/slide4.xml" Id="R4b750b44cd544816" /><Relationship Type="http://schemas.openxmlformats.org/officeDocument/2006/relationships/slide" Target="/ppt/slides/slide5.xml" Id="Rce3440c8c04c4f20" /><Relationship Type="http://schemas.openxmlformats.org/officeDocument/2006/relationships/slide" Target="/ppt/slides/slide6.xml" Id="R21b0ef35252245fc" /><Relationship Type="http://schemas.openxmlformats.org/officeDocument/2006/relationships/slide" Target="/ppt/slides/slide7.xml" Id="R9e56ec969b92445a" /><Relationship Type="http://schemas.openxmlformats.org/officeDocument/2006/relationships/slide" Target="/ppt/slides/slide8.xml" Id="R4453b5b9c0b942c0" /><Relationship Type="http://schemas.openxmlformats.org/officeDocument/2006/relationships/slide" Target="/ppt/slides/slide9.xml" Id="R3cee485f5138410b" /><Relationship Type="http://schemas.openxmlformats.org/officeDocument/2006/relationships/slide" Target="/ppt/slides/slide10.xml" Id="Rec419d118e1d4404" /><Relationship Type="http://schemas.openxmlformats.org/officeDocument/2006/relationships/slide" Target="/ppt/slides/slide11.xml" Id="R356bbccc7ff94c57" /><Relationship Type="http://schemas.openxmlformats.org/officeDocument/2006/relationships/slide" Target="/ppt/slides/slide12.xml" Id="R2fa7e73958264558" /><Relationship Type="http://schemas.openxmlformats.org/officeDocument/2006/relationships/slide" Target="/ppt/slides/slide13.xml" Id="R258b811899fc4999" /><Relationship Type="http://schemas.openxmlformats.org/officeDocument/2006/relationships/slide" Target="/ppt/slides/slide14.xml" Id="R17aa84c48ea74a2d" /><Relationship Type="http://schemas.openxmlformats.org/officeDocument/2006/relationships/slide" Target="/ppt/slides/slide15.xml" Id="R9c3f528bcbc84395" /><Relationship Type="http://schemas.openxmlformats.org/officeDocument/2006/relationships/slide" Target="/ppt/slides/slide16.xml" Id="R4ab0c7b96d7a4bc7" /><Relationship Type="http://schemas.openxmlformats.org/officeDocument/2006/relationships/slide" Target="/ppt/slides/slide17.xml" Id="R7978fd1d96094a7f" /><Relationship Type="http://schemas.openxmlformats.org/officeDocument/2006/relationships/slide" Target="/ppt/slides/slide18.xml" Id="Ra5a2a503fdb2450a" /><Relationship Type="http://schemas.openxmlformats.org/officeDocument/2006/relationships/slide" Target="/ppt/slides/slide19.xml" Id="Rd89491b7da15430e" /><Relationship Type="http://schemas.openxmlformats.org/officeDocument/2006/relationships/slide" Target="/ppt/slides/slide20.xml" Id="Rf9b74a76c8984697" /><Relationship Type="http://schemas.openxmlformats.org/officeDocument/2006/relationships/slide" Target="/ppt/slides/slide21.xml" Id="R3ca3e95d53b34e2a" /><Relationship Type="http://schemas.openxmlformats.org/officeDocument/2006/relationships/slide" Target="/ppt/slides/slide22.xml" Id="R177c0343bd594c6c" /><Relationship Type="http://schemas.openxmlformats.org/officeDocument/2006/relationships/slide" Target="/ppt/slides/slide23.xml" Id="Rac7ac26e94b5410f" /><Relationship Type="http://schemas.openxmlformats.org/officeDocument/2006/relationships/slide" Target="/ppt/slides/slide24.xml" Id="Rd0d5ecd76bb14acf" /><Relationship Type="http://schemas.openxmlformats.org/officeDocument/2006/relationships/slide" Target="/ppt/slides/slide25.xml" Id="R7f9b44344e354bc1" /><Relationship Type="http://schemas.openxmlformats.org/officeDocument/2006/relationships/slide" Target="/ppt/slides/slide26.xml" Id="R20473667d98b4735" /><Relationship Type="http://schemas.openxmlformats.org/officeDocument/2006/relationships/slide" Target="/ppt/slides/slide27.xml" Id="Rf912d6213a4d4d62" /><Relationship Type="http://schemas.openxmlformats.org/officeDocument/2006/relationships/slide" Target="/ppt/slides/slide28.xml" Id="R38b47075ecb04ae0" /><Relationship Type="http://schemas.openxmlformats.org/officeDocument/2006/relationships/slide" Target="/ppt/slides/slide29.xml" Id="Rc471d0b98dd24bc3" /><Relationship Type="http://schemas.openxmlformats.org/officeDocument/2006/relationships/slide" Target="/ppt/slides/slide30.xml" Id="Racf2af337c874236" /><Relationship Type="http://schemas.openxmlformats.org/officeDocument/2006/relationships/slide" Target="/ppt/slides/slide31.xml" Id="Raf70b84298474597" /><Relationship Type="http://schemas.openxmlformats.org/officeDocument/2006/relationships/slide" Target="/ppt/slides/slide32.xml" Id="R2a7f4ddeb1374c35" /><Relationship Type="http://schemas.openxmlformats.org/officeDocument/2006/relationships/slide" Target="/ppt/slides/slide33.xml" Id="R9b7ec6047a364d4c" /><Relationship Type="http://schemas.openxmlformats.org/officeDocument/2006/relationships/slide" Target="/ppt/slides/slide34.xml" Id="R1f5739c1b4dc4cb2" /><Relationship Type="http://schemas.openxmlformats.org/officeDocument/2006/relationships/slide" Target="/ppt/slides/slide35.xml" Id="Rdbde3992215c4ce7" /><Relationship Type="http://schemas.openxmlformats.org/officeDocument/2006/relationships/slide" Target="/ppt/slides/slide36.xml" Id="R9758597000114dab" /><Relationship Type="http://schemas.openxmlformats.org/officeDocument/2006/relationships/slide" Target="/ppt/slides/slide37.xml" Id="R1fd49020e2a24377" /><Relationship Type="http://schemas.openxmlformats.org/officeDocument/2006/relationships/slide" Target="/ppt/slides/slide38.xml" Id="Rdf9bf9c750284c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46410b3ee247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49f9d6598946ee" /><Relationship Type="http://schemas.openxmlformats.org/officeDocument/2006/relationships/notesMaster" Target="/ppt/notesMasters/notesMaster1.xml" Id="R1e794a7178b641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1867a8b30d46b5" /><Relationship Type="http://schemas.openxmlformats.org/officeDocument/2006/relationships/notesMaster" Target="/ppt/notesMasters/notesMaster1.xml" Id="R68f7a473874a42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c5bdf4a1564e81" /><Relationship Type="http://schemas.openxmlformats.org/officeDocument/2006/relationships/notesMaster" Target="/ppt/notesMasters/notesMaster1.xml" Id="R9d8a3eee37344a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f201dde8a847b4" /><Relationship Type="http://schemas.openxmlformats.org/officeDocument/2006/relationships/notesMaster" Target="/ppt/notesMasters/notesMaster1.xml" Id="R31404e65852a45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c93ae4041548ec" /><Relationship Type="http://schemas.openxmlformats.org/officeDocument/2006/relationships/notesMaster" Target="/ppt/notesMasters/notesMaster1.xml" Id="R436950a8931642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996ba142174edd" /><Relationship Type="http://schemas.openxmlformats.org/officeDocument/2006/relationships/notesMaster" Target="/ppt/notesMasters/notesMaster1.xml" Id="R8b404c6c6dfd44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6ba4ee51134779" /><Relationship Type="http://schemas.openxmlformats.org/officeDocument/2006/relationships/notesMaster" Target="/ppt/notesMasters/notesMaster1.xml" Id="R608bcdd4848845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2c3a95d1b94a3c" /><Relationship Type="http://schemas.openxmlformats.org/officeDocument/2006/relationships/notesMaster" Target="/ppt/notesMasters/notesMaster1.xml" Id="R91718322831841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3cf046f03b4578" /><Relationship Type="http://schemas.openxmlformats.org/officeDocument/2006/relationships/notesMaster" Target="/ppt/notesMasters/notesMaster1.xml" Id="R4c70ac7516d441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e4e5a8e6e6c4d11" /><Relationship Type="http://schemas.openxmlformats.org/officeDocument/2006/relationships/notesMaster" Target="/ppt/notesMasters/notesMaster1.xml" Id="R2b3a8bdba7c248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a17986e37e4550" /><Relationship Type="http://schemas.openxmlformats.org/officeDocument/2006/relationships/notesMaster" Target="/ppt/notesMasters/notesMaster1.xml" Id="R2cefe5836fea46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ecfdd872e5444a" /><Relationship Type="http://schemas.openxmlformats.org/officeDocument/2006/relationships/notesMaster" Target="/ppt/notesMasters/notesMaster1.xml" Id="Rc18ec62b78e046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583cbb868b4f9d" /><Relationship Type="http://schemas.openxmlformats.org/officeDocument/2006/relationships/notesMaster" Target="/ppt/notesMasters/notesMaster1.xml" Id="Re83c3bbb16b94ed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042264581514644" /><Relationship Type="http://schemas.openxmlformats.org/officeDocument/2006/relationships/notesMaster" Target="/ppt/notesMasters/notesMaster1.xml" Id="Raa0ba5b0c9d04e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05cb92eda14426" /><Relationship Type="http://schemas.openxmlformats.org/officeDocument/2006/relationships/notesMaster" Target="/ppt/notesMasters/notesMaster1.xml" Id="Rbfe7dc00f64645e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200136c35347ef" /><Relationship Type="http://schemas.openxmlformats.org/officeDocument/2006/relationships/notesMaster" Target="/ppt/notesMasters/notesMaster1.xml" Id="Rc8f9459cb9fb489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217f8590f474b33" /><Relationship Type="http://schemas.openxmlformats.org/officeDocument/2006/relationships/notesMaster" Target="/ppt/notesMasters/notesMaster1.xml" Id="R0a42084430554f0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921fe9b33294115" /><Relationship Type="http://schemas.openxmlformats.org/officeDocument/2006/relationships/notesMaster" Target="/ppt/notesMasters/notesMaster1.xml" Id="Rcfdfc8a55d9344b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823e6df276f4f7b" /><Relationship Type="http://schemas.openxmlformats.org/officeDocument/2006/relationships/notesMaster" Target="/ppt/notesMasters/notesMaster1.xml" Id="Rdbfe84186c69465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a29920c56ba4694" /><Relationship Type="http://schemas.openxmlformats.org/officeDocument/2006/relationships/notesMaster" Target="/ppt/notesMasters/notesMaster1.xml" Id="Rd26006f57ebb478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e4d60dfb266454f" /><Relationship Type="http://schemas.openxmlformats.org/officeDocument/2006/relationships/notesMaster" Target="/ppt/notesMasters/notesMaster1.xml" Id="Rad18690ce7694a3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51d134c85f144af" /><Relationship Type="http://schemas.openxmlformats.org/officeDocument/2006/relationships/notesMaster" Target="/ppt/notesMasters/notesMaster1.xml" Id="R0ab89a558acd403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68caee12e4241dc" /><Relationship Type="http://schemas.openxmlformats.org/officeDocument/2006/relationships/notesMaster" Target="/ppt/notesMasters/notesMaster1.xml" Id="Re521a213a11444f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62c35c1ef7f4d20" /><Relationship Type="http://schemas.openxmlformats.org/officeDocument/2006/relationships/notesMaster" Target="/ppt/notesMasters/notesMaster1.xml" Id="R48e5f8cf48a0498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81dabf15204440c" /><Relationship Type="http://schemas.openxmlformats.org/officeDocument/2006/relationships/notesMaster" Target="/ppt/notesMasters/notesMaster1.xml" Id="Rde720a8cdd99482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7d6139d4b6c49ed" /><Relationship Type="http://schemas.openxmlformats.org/officeDocument/2006/relationships/notesMaster" Target="/ppt/notesMasters/notesMaster1.xml" Id="Rdb5d50011dc64c9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ee5f2db5ba24e07" /><Relationship Type="http://schemas.openxmlformats.org/officeDocument/2006/relationships/notesMaster" Target="/ppt/notesMasters/notesMaster1.xml" Id="Rac89262b870e40b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2c6708da2b94071" /><Relationship Type="http://schemas.openxmlformats.org/officeDocument/2006/relationships/notesMaster" Target="/ppt/notesMasters/notesMaster1.xml" Id="R8e29f77b4ab14ad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eca6a93c55844c4" /><Relationship Type="http://schemas.openxmlformats.org/officeDocument/2006/relationships/notesMaster" Target="/ppt/notesMasters/notesMaster1.xml" Id="R63a8696a5e65454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4fe704c51464c36" /><Relationship Type="http://schemas.openxmlformats.org/officeDocument/2006/relationships/notesMaster" Target="/ppt/notesMasters/notesMaster1.xml" Id="R77df88f140d54e2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f4a2a0e5a514358" /><Relationship Type="http://schemas.openxmlformats.org/officeDocument/2006/relationships/notesMaster" Target="/ppt/notesMasters/notesMaster1.xml" Id="Rc03724cb33e8471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7dbdee69d1a4aaa" /><Relationship Type="http://schemas.openxmlformats.org/officeDocument/2006/relationships/notesMaster" Target="/ppt/notesMasters/notesMaster1.xml" Id="Rd9cf4ce158f34b6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8bff86e7d18467b" /><Relationship Type="http://schemas.openxmlformats.org/officeDocument/2006/relationships/notesMaster" Target="/ppt/notesMasters/notesMaster1.xml" Id="Re873e28ab54541c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9b501e8ea0549cf" /><Relationship Type="http://schemas.openxmlformats.org/officeDocument/2006/relationships/notesMaster" Target="/ppt/notesMasters/notesMaster1.xml" Id="R1f2e2f6504214ed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c76b92b1bcf4e1d" /><Relationship Type="http://schemas.openxmlformats.org/officeDocument/2006/relationships/notesMaster" Target="/ppt/notesMasters/notesMaster1.xml" Id="Radd5c385c8f74da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c140bba473d4ca5" /><Relationship Type="http://schemas.openxmlformats.org/officeDocument/2006/relationships/notesMaster" Target="/ppt/notesMasters/notesMaster1.xml" Id="Rf285987ce0b240a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b34900336784ac8" /><Relationship Type="http://schemas.openxmlformats.org/officeDocument/2006/relationships/notesMaster" Target="/ppt/notesMasters/notesMaster1.xml" Id="Rebb173242dac4bb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2708a770fe14d28" /><Relationship Type="http://schemas.openxmlformats.org/officeDocument/2006/relationships/notesMaster" Target="/ppt/notesMasters/notesMaster1.xml" Id="Ra39496c9905a46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今日のテーマはGPT-6 Astraです。性能の数字だけでなく、実際に仕事をどう任せるかを一緒に考えます。調査から完成物までの流れを見て、明日使える依頼の仕方を持ち帰ってください。</a:t>
            </a:r>
          </a:p>
          <a:p xmlns:a="http://schemas.openxmlformats.org/drawingml/2006/main">
            <a:r>
              <a:t/>
            </a:r>
          </a:p>
          <a:p xmlns:a="http://schemas.openxmlformats.org/drawingml/2006/main">
            <a:r>
              <a:t>出典: https://developers.openai.com/api/docs/models/gpt-6-astra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今日はまずAstraの役割を押さえ、次にできる仕事の範囲を見ます。そのうえで依頼の書き方を練習し、Claude Fable 5.1との違いを確かめます。最後に、ご自身の業務で試す仕事を一つ選べる状態を目指します。</a:t>
            </a:r>
          </a:p>
          <a:p xmlns:a="http://schemas.openxmlformats.org/drawingml/2006/main">
            <a:r>
              <a:t/>
            </a:r>
          </a:p>
          <a:p xmlns:a="http://schemas.openxmlformats.org/drawingml/2006/main">
            <a:r>
              <a:t>出典: https://developers.openai.com/api/docs/guides/model-selection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従来のAIの使い方は、質問して答えを受け取り、その後の作業は人が行う形が中心でした。Astraは難しい仕事を複数の段階に分け、道具を使いながら進める用途に設計されています。何を完成させたいかを伝えることが出発点です。</a:t>
            </a:r>
          </a:p>
          <a:p xmlns:a="http://schemas.openxmlformats.org/drawingml/2006/main">
            <a:r>
              <a:t/>
            </a:r>
          </a:p>
          <a:p xmlns:a="http://schemas.openxmlformats.org/drawingml/2006/main">
            <a:r>
              <a:t>出典: https://developers.openai.com/api/docs/models/gpt-6-astra</a:t>
            </a:r>
          </a:p>
          <a:p xmlns:a="http://schemas.openxmlformats.org/drawingml/2006/main">
            <a:r>
              <a:t>出典: https://developers.openai.com/api/docs/guides/latest-model?model=gpt-6-astra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は2026年9月3日にAstraを公開しました。公式には、複雑な推論、コーディング、コンピューター操作、調査、文書作成など、要求の高い仕事を最後まで進めるモデルと位置づけています。名称の由来や内部構造は公開情報から断定できません。</a:t>
            </a:r>
          </a:p>
          <a:p xmlns:a="http://schemas.openxmlformats.org/drawingml/2006/main">
            <a:r>
              <a:t/>
            </a:r>
          </a:p>
          <a:p xmlns:a="http://schemas.openxmlformats.org/drawingml/2006/main">
            <a:r>
              <a:t>出典: https://developers.openai.com/api/docs/changelog</a:t>
            </a:r>
          </a:p>
          <a:p xmlns:a="http://schemas.openxmlformats.org/drawingml/2006/main">
            <a:r>
              <a:t>出典: https://developers.openai.com/api/docs/models/gpt-6-astra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たとえば競合調査を頼むとき、検索結果の要約だけでは経営判断に使いにくいですよね。必要な比較軸を決め、出典を確認し、表と提案にまとめるところまで進めるのがAstraの得意な使い方です。実際の操作には実行基盤とツールが必要です。</a:t>
            </a:r>
          </a:p>
          <a:p xmlns:a="http://schemas.openxmlformats.org/drawingml/2006/main">
            <a:r>
              <a:t/>
            </a:r>
          </a:p>
          <a:p xmlns:a="http://schemas.openxmlformats.org/drawingml/2006/main">
            <a:r>
              <a:t>出典: https://developers.openai.com/api/docs/guides/latest-model?model=gpt-6-astra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は頭脳に当たります。その頭脳をCodexやAPIの実行基盤に載せ、検索やファイルなどの道具を渡し、自社の資料やルールを読ませます。さらに何を自動でしてよく、何を人が承認するかを決めると、業務で使える仕組みになります。</a:t>
            </a:r>
          </a:p>
          <a:p xmlns:a="http://schemas.openxmlformats.org/drawingml/2006/main">
            <a:r>
              <a:t/>
            </a:r>
          </a:p>
          <a:p xmlns:a="http://schemas.openxmlformats.org/drawingml/2006/main">
            <a:r>
              <a:t>出典: https://developers.openai.com/api/docs/guides/latest-model?model=gpt-6-astra</a:t>
            </a:r>
          </a:p>
          <a:p xmlns:a="http://schemas.openxmlformats.org/drawingml/2006/main">
            <a:r>
              <a:t>出典: https://developers.openai.com/blog/codex-as-a-platform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の良さは、細かな操作順を全部指定しなくても、目的から次の作業を選べるところです。ただし、公開や支払いのような操作まで無制限に任せるわけではありません。事前に境界をはっきり書くと、安全な範囲で仕事を進めてもらいやすくなります。</a:t>
            </a:r>
          </a:p>
          <a:p xmlns:a="http://schemas.openxmlformats.org/drawingml/2006/main">
            <a:r>
              <a:t/>
            </a:r>
          </a:p>
          <a:p xmlns:a="http://schemas.openxmlformats.org/drawingml/2006/main">
            <a:r>
              <a:t>出典: https://developers.openai.com/api/docs/guides/latest-model?model=gpt-6-astra</a:t>
            </a:r>
          </a:p>
          <a:p xmlns:a="http://schemas.openxmlformats.org/drawingml/2006/main">
            <a:r>
              <a:t>出典: https://developers.openai.com/blog/rethinking-skills-and-prompts-for-gpt-6-astra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には複数のモデルがあります。Astraをすべての仕事に使うより、難しさと成果への影響で選ぶほうが実務的です。複雑な最終判断はAstra、通常の制作や分析はSol、分類や抽出の大量処理はLunaを試す、という分担を提案します。</a:t>
            </a:r>
          </a:p>
          <a:p xmlns:a="http://schemas.openxmlformats.org/drawingml/2006/main">
            <a:r>
              <a:t/>
            </a:r>
          </a:p>
          <a:p xmlns:a="http://schemas.openxmlformats.org/drawingml/2006/main">
            <a:r>
              <a:t>出典: https://developers.openai.com/api/docs/guides/model-selection</a:t>
            </a:r>
          </a:p>
          <a:p xmlns:a="http://schemas.openxmlformats.org/drawingml/2006/main">
            <a:r>
              <a:t>出典: https://developers.openai.com/api/docs/models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式仕様では文脈が105万トークン、最大出力が12万8千トークンです。画像は入力できますが、モデルの出力はテキストです。画像生成はツール経由で行います。音声や動画のネイティブ入出力には対応していないため、できることを道具込みで説明する必要があります。</a:t>
            </a:r>
          </a:p>
          <a:p xmlns:a="http://schemas.openxmlformats.org/drawingml/2006/main">
            <a:r>
              <a:t/>
            </a:r>
          </a:p>
          <a:p xmlns:a="http://schemas.openxmlformats.org/drawingml/2006/main">
            <a:r>
              <a:t>出典: https://developers.openai.com/api/docs/models/gpt-6-astra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文脈が長いからといって、手元の資料を全部入れれば良いわけではありません。関係ない資料は判断を難しくし、費用も増やします。仕事に必要な情報を選び、古いものと新しいものを分け、重要な数字の根拠を確認する運用が大切です。</a:t>
            </a:r>
          </a:p>
          <a:p xmlns:a="http://schemas.openxmlformats.org/drawingml/2006/main">
            <a:r>
              <a:t/>
            </a:r>
          </a:p>
          <a:p xmlns:a="http://schemas.openxmlformats.org/drawingml/2006/main">
            <a:r>
              <a:t>出典: https://developers.openai.com/api/docs/models/gpt-6-astra</a:t>
            </a:r>
          </a:p>
          <a:p xmlns:a="http://schemas.openxmlformats.org/drawingml/2006/main">
            <a:r>
              <a:t>出典: https://developers.openai.com/api/docs/pricing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は対応する実行環境で、Web検索、ファイル検索、コード実行、シェル、コードの修正、PC操作、MCPなどのツールを使えます。画像生成もツールの一つです。実際に使える道具は、その製品や接続設定、権限によって変わります。</a:t>
            </a:r>
          </a:p>
          <a:p xmlns:a="http://schemas.openxmlformats.org/drawingml/2006/main">
            <a:r>
              <a:t/>
            </a:r>
          </a:p>
          <a:p xmlns:a="http://schemas.openxmlformats.org/drawingml/2006/main">
            <a:r>
              <a:t>出典: https://developers.openai.com/api/docs/models/gpt-6-astra</a:t>
            </a:r>
          </a:p>
          <a:p xmlns:a="http://schemas.openxmlformats.org/drawingml/2006/main">
            <a:r>
              <a:t>出典: https://developers.openai.com/api/docs/guides/latest-model?model=gpt-6-astra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営業の仕事なら競合、相場、仕入先、制度などを調べる場面があります。Astraには調査対象、比較軸、対象期間を渡し、各項目の出典と未確認事項を残すよう頼めます。結果は単なる要約ではなく、次の判断に使える表と提案にします。</a:t>
            </a:r>
          </a:p>
          <a:p xmlns:a="http://schemas.openxmlformats.org/drawingml/2006/main">
            <a:r>
              <a:t/>
            </a:r>
          </a:p>
          <a:p xmlns:a="http://schemas.openxmlformats.org/drawingml/2006/main">
            <a:r>
              <a:t>出典: https://developers.openai.com/api/docs/guides/latest-model?model=gpt-6-astra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企画書や提案書、FAQ、マニュアルは、調べる作業と書く作業が分かれがちです。Astraには誰に読ませる文書か、長さ、必要な根拠を伝え、下書きだけでなく確認と修正まで依頼できます。対外文書なら重要な数字と固有名詞を最後に人が確認します。</a:t>
            </a:r>
          </a:p>
          <a:p xmlns:a="http://schemas.openxmlformats.org/drawingml/2006/main">
            <a:r>
              <a:t/>
            </a:r>
          </a:p>
          <a:p xmlns:a="http://schemas.openxmlformats.org/drawingml/2006/main">
            <a:r>
              <a:t>出典: https://developers.openai.com/api/docs/models/gpt-6-astra</a:t>
            </a:r>
          </a:p>
          <a:p xmlns:a="http://schemas.openxmlformats.org/drawingml/2006/main">
            <a:r>
              <a:t>出典: https://developers.openai.com/api/docs/guides/file-inputs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資料づくりも実例です。まずリサーチの根拠を確認し、38枚のストーリーに組み直し、各ページの文を短くします。その後に実際の画面を見て、文字のはみ出しや読みにくさを直します。仕事はファイルを作った時点ではなく、見られる形になって完了です。</a:t>
            </a:r>
          </a:p>
          <a:p xmlns:a="http://schemas.openxmlformats.org/drawingml/2006/main">
            <a:r>
              <a:t/>
            </a:r>
          </a:p>
          <a:p xmlns:a="http://schemas.openxmlformats.org/drawingml/2006/main">
            <a:r>
              <a:t>出典: https://developers.openai.com/api/docs/guides/latest-model?model=gpt-6-astra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売上表やアンケートを渡して、集計、分類、グラフ化、異常値の確認を頼めます。ただ、数字が間違っていると結論も変わります。計算式、対象期間、欠損の扱いを明示し、重要な集計は別の方法でも確かめるよう依頼するのが良い使い方です。</a:t>
            </a:r>
          </a:p>
          <a:p xmlns:a="http://schemas.openxmlformats.org/drawingml/2006/main">
            <a:r>
              <a:t/>
            </a:r>
          </a:p>
          <a:p xmlns:a="http://schemas.openxmlformats.org/drawingml/2006/main">
            <a:r>
              <a:t>出典: https://developers.openai.com/api/docs/models/gpt-6-astra</a:t>
            </a:r>
          </a:p>
          <a:p xmlns:a="http://schemas.openxmlformats.org/drawingml/2006/main">
            <a:r>
              <a:t>出典: https://developers.openai.com/api/docs/guides/file-inputs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を書けなくても、誰が使い、何を達成する画面かを説明できます。Astraは構成、実装、テスト、修正をつなげて進める用途に向いています。公開まで任せる場合は公開先や承認条件を別に決めます。まず社内で触れる試作品を作る依頼が取り組みやすいでしょう。</a:t>
            </a:r>
          </a:p>
          <a:p xmlns:a="http://schemas.openxmlformats.org/drawingml/2006/main">
            <a:r>
              <a:t/>
            </a:r>
          </a:p>
          <a:p xmlns:a="http://schemas.openxmlformats.org/drawingml/2006/main">
            <a:r>
              <a:t>出典: https://developers.openai.com/api/docs/guides/code-generation</a:t>
            </a:r>
          </a:p>
          <a:p xmlns:a="http://schemas.openxmlformats.org/drawingml/2006/main">
            <a:r>
              <a:t>出典: https://developers.openai.com/api/docs/models/gpt-6-astra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対応する環境と権限があれば、ブラウザやPC画面を見ながら操作できます。たとえば管理画面の内容を確認し、下書きを入力することが考えられます。送信、購入、削除、公開のような外部に影響する操作は、人の確認点として明示しましょう。</a:t>
            </a:r>
          </a:p>
          <a:p xmlns:a="http://schemas.openxmlformats.org/drawingml/2006/main">
            <a:r>
              <a:t/>
            </a:r>
          </a:p>
          <a:p xmlns:a="http://schemas.openxmlformats.org/drawingml/2006/main">
            <a:r>
              <a:t>出典: https://developers.openai.com/api/docs/models/gpt-6-astra</a:t>
            </a:r>
          </a:p>
          <a:p xmlns:a="http://schemas.openxmlformats.org/drawingml/2006/main">
            <a:r>
              <a:t>出典: https://developers.openai.com/blog/codex-as-a-platform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には画像や画面を見せて、文字の読みにくさや構成の問題を確認してもらえます。必要な素材は画像生成ツールを呼び出して作れます。ここは区別が大事です。Astra本体が画像を直接出力する仕様ではなく、接続されたツールを使って生成します。</a:t>
            </a:r>
          </a:p>
          <a:p xmlns:a="http://schemas.openxmlformats.org/drawingml/2006/main">
            <a:r>
              <a:t/>
            </a:r>
          </a:p>
          <a:p xmlns:a="http://schemas.openxmlformats.org/drawingml/2006/main">
            <a:r>
              <a:t>出典: https://developers.openai.com/api/docs/models/gpt-6-astra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アプリの不具合では、エラーが出た行だけ直しても原因が残ることがあります。Astraは複数のファイルや履歴を横断して原因を探し、修正後のテストまで進める仕事に向きます。どこを変えたか、何で確かめたかも一緒に報告させるとレビューしやすくなります。</a:t>
            </a:r>
          </a:p>
          <a:p xmlns:a="http://schemas.openxmlformats.org/drawingml/2006/main">
            <a:r>
              <a:t/>
            </a:r>
          </a:p>
          <a:p xmlns:a="http://schemas.openxmlformats.org/drawingml/2006/main">
            <a:r>
              <a:t>出典: https://developers.openai.com/api/docs/guides/code-generation</a:t>
            </a:r>
          </a:p>
          <a:p xmlns:a="http://schemas.openxmlformats.org/drawingml/2006/main">
            <a:r>
              <a:t>出典: https://developers.openai.com/blog/maintaining-software-with-the-gpt-6-family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たとえば5社の競合調査なら、会社ごとに担当を分けられます。その後で別の担当に重要な数字と出典を確認させ、最後に一つの比較表にします。一方、同じファイルを同時に編集するような分け方は衝突しやすいので、作業を独立させることが条件です。</a:t>
            </a:r>
          </a:p>
          <a:p xmlns:a="http://schemas.openxmlformats.org/drawingml/2006/main">
            <a:r>
              <a:t/>
            </a:r>
          </a:p>
          <a:p xmlns:a="http://schemas.openxmlformats.org/drawingml/2006/main">
            <a:r>
              <a:t>出典: https://developers.openai.com/api/docs/guides/latest-model?model=gpt-6-astra</a:t>
            </a:r>
          </a:p>
          <a:p xmlns:a="http://schemas.openxmlformats.org/drawingml/2006/main">
            <a:r>
              <a:t>出典: https://developers.openai.com/blog/codex-as-a-platform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営業での使い道は、見込み客の調査だけではありません。相手の状況に合わせた提案書の下書き、想定質問、商談後の整理、業務改善案まで広がります。顧客情報を扱う場合は、使ってよい範囲や保存先を会社のルールに合わせて決めてください。</a:t>
            </a:r>
          </a:p>
          <a:p xmlns:a="http://schemas.openxmlformats.org/drawingml/2006/main">
            <a:r>
              <a:t/>
            </a:r>
          </a:p>
          <a:p xmlns:a="http://schemas.openxmlformats.org/drawingml/2006/main">
            <a:r>
              <a:t>出典: https://developers.openai.com/api/docs/guides/model-selection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の能力は幅広いですが、接続していないアプリには入れず、渡されていない社内情報も知りません。また、決済や契約の最終判断は人の責任です。『何でもできる』と期待するより、使える道具と承認する場面を具体的に決めると成果が安定します。</a:t>
            </a:r>
          </a:p>
          <a:p xmlns:a="http://schemas.openxmlformats.org/drawingml/2006/main">
            <a:r>
              <a:t/>
            </a:r>
          </a:p>
          <a:p xmlns:a="http://schemas.openxmlformats.org/drawingml/2006/main">
            <a:r>
              <a:t>出典: https://developers.openai.com/api/docs/models/gpt-6-astra</a:t>
            </a:r>
          </a:p>
          <a:p xmlns:a="http://schemas.openxmlformats.org/drawingml/2006/main">
            <a:r>
              <a:t>出典: https://developers.openai.com/blog/codex-as-a-platform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モデル選びは名前から始めず、仕事から始めます。正解が見えず、複数の資料や道具を使い、見落としの損失が大きいならAstraを試す価値があります。入力と出力が明確な大量処理は、SolやLunaでも十分かを測りましょう。</a:t>
            </a:r>
          </a:p>
          <a:p xmlns:a="http://schemas.openxmlformats.org/drawingml/2006/main">
            <a:r>
              <a:t/>
            </a:r>
          </a:p>
          <a:p xmlns:a="http://schemas.openxmlformats.org/drawingml/2006/main">
            <a:r>
              <a:t>出典: https://developers.openai.com/api/docs/guides/model-selection</a:t>
            </a:r>
          </a:p>
          <a:p xmlns:a="http://schemas.openxmlformats.org/drawingml/2006/main">
            <a:r>
              <a:t>出典: https://developers.openai.com/blog/maintaining-software-with-the-gpt-6-family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依頼文に入れたいのは、目的、背景、成果物、制約、使える道具と権限、検証方法、完了条件です。すべてを長文で書く必要はありません。ただ、何のために何を作るかと、どこまで進めれば完成かは明確にしましょう。Astraが迷う場所を減らせます。</a:t>
            </a:r>
          </a:p>
          <a:p xmlns:a="http://schemas.openxmlformats.org/drawingml/2006/main">
            <a:r>
              <a:t/>
            </a:r>
          </a:p>
          <a:p xmlns:a="http://schemas.openxmlformats.org/drawingml/2006/main">
            <a:r>
              <a:t>出典: https://developers.openai.com/blog/rethinking-skills-and-prompts-for-gpt-6-astra</a:t>
            </a:r>
          </a:p>
          <a:p xmlns:a="http://schemas.openxmlformats.org/drawingml/2006/main">
            <a:r>
              <a:t>出典: https://developers.openai.com/api/docs/guides/latest-model?model=gpt-6-astra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競合を調べて』だけだと、検索結果のまとめで止まるかもしれません。『兵庫県の法人向けPC保守を対象に、価格帯と差別化案を経営判断に使える表にして』と伝えると、必要な調査の深さと出力が見えます。目的を書くことが、仕事の質を左右します。</a:t>
            </a:r>
          </a:p>
          <a:p xmlns:a="http://schemas.openxmlformats.org/drawingml/2006/main">
            <a:r>
              <a:t/>
            </a:r>
          </a:p>
          <a:p xmlns:a="http://schemas.openxmlformats.org/drawingml/2006/main">
            <a:r>
              <a:t>出典: https://developers.openai.com/blog/rethinking-skills-and-prompts-for-gpt-6-astra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たとえば『15社を六つの軸で比較し、重要な数字は一次情報で確かめ、30枚のスライド原稿にして、未確認事項は明記する』と書けます。終点が曖昧だと、早く返ってきたり、どこまでも広がったりします。成果物と検証の条件を一緒に決めます。</a:t>
            </a:r>
          </a:p>
          <a:p xmlns:a="http://schemas.openxmlformats.org/drawingml/2006/main">
            <a:r>
              <a:t/>
            </a:r>
          </a:p>
          <a:p xmlns:a="http://schemas.openxmlformats.org/drawingml/2006/main">
            <a:r>
              <a:t>出典: https://developers.openai.com/blog/rethinking-skills-and-prompts-for-gpt-6-astra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仕事を任せる際には、どこまで自動で進めてよいかを書きます。資料の閲覧、分析、下書き、やり直せる修正は任せやすい作業です。一方、メール送信や公開、支払い、削除は人の確認を入れます。この線引きがあると、AIは安全な範囲で進みやすくなります。</a:t>
            </a:r>
          </a:p>
          <a:p xmlns:a="http://schemas.openxmlformats.org/drawingml/2006/main">
            <a:r>
              <a:t/>
            </a:r>
          </a:p>
          <a:p xmlns:a="http://schemas.openxmlformats.org/drawingml/2006/main">
            <a:r>
              <a:t>出典: https://developers.openai.com/blog/codex-as-a-platform</a:t>
            </a:r>
          </a:p>
          <a:p xmlns:a="http://schemas.openxmlformats.org/drawingml/2006/main">
            <a:r>
              <a:t>出典: https://developers.openai.com/blog/rethinking-skills-and-prompts-for-gpt-6-astra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は指示に敏感なので、古いルールや重複する手順まで読ませると、止まり過ぎたり、不要な確認を増やしたりします。会社の共通ルールは短い入口に置き、詳細は必要になったときだけ参照する形が有効です。小さな修正に大規模テストを強制しないことも大切です。</a:t>
            </a:r>
          </a:p>
          <a:p xmlns:a="http://schemas.openxmlformats.org/drawingml/2006/main">
            <a:r>
              <a:t/>
            </a:r>
          </a:p>
          <a:p xmlns:a="http://schemas.openxmlformats.org/drawingml/2006/main">
            <a:r>
              <a:t>出典: https://developers.openai.com/blog/rethinking-skills-and-prompts-for-gpt-6-astra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調査なら重要な情報を別の資料で確かめ、アプリなら実際に操作し、スライドなら全ページを表示して読みやすさを見ます。『作って終わり』ではなく、確認して問題を直すところを完了条件に入れてください。これだけで成果物の使いやすさが変わります。</a:t>
            </a:r>
          </a:p>
          <a:p xmlns:a="http://schemas.openxmlformats.org/drawingml/2006/main">
            <a:r>
              <a:t/>
            </a:r>
          </a:p>
          <a:p xmlns:a="http://schemas.openxmlformats.org/drawingml/2006/main">
            <a:r>
              <a:t>出典: https://developers.openai.com/api/docs/guides/latest-model?model=gpt-6-astra</a:t>
            </a:r>
          </a:p>
          <a:p xmlns:a="http://schemas.openxmlformats.org/drawingml/2006/main">
            <a:r>
              <a:t>出典: https://developers.openai.com/blog/codex-as-a-platform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Astraにはlowからmaxまで五段階のreasoning effortがあります。小さく明確な作業は軽く、複数資料の判断や対外資料は高く、特に難しい案件だけ最上位を検討します。まず同じ仕事で品質と所要時間を比べ、必要な水準を満たす一番軽い設定を選ぶのが実務的です。</a:t>
            </a:r>
          </a:p>
          <a:p xmlns:a="http://schemas.openxmlformats.org/drawingml/2006/main">
            <a:r>
              <a:t/>
            </a:r>
          </a:p>
          <a:p xmlns:a="http://schemas.openxmlformats.org/drawingml/2006/main">
            <a:r>
              <a:t>出典: https://developers.openai.com/api/docs/models/gpt-6-astra</a:t>
            </a:r>
          </a:p>
          <a:p xmlns:a="http://schemas.openxmlformats.org/drawingml/2006/main">
            <a:r>
              <a:t>出典: https://developers.openai.com/api/docs/guides/model-selection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分担は公式仕様から組み立てた実務上の提案です。最初の難しい設計をAstraで行い、手順が固まった通常業務をSolで運用し、単純な分類や抽出はLunaで大量に処理します。成果が下がる仕事だけAstraに戻すと、品質と費用を両立しやすくなります。</a:t>
            </a:r>
          </a:p>
          <a:p xmlns:a="http://schemas.openxmlformats.org/drawingml/2006/main">
            <a:r>
              <a:t/>
            </a:r>
          </a:p>
          <a:p xmlns:a="http://schemas.openxmlformats.org/drawingml/2006/main">
            <a:r>
              <a:t>出典: https://developers.openai.com/api/docs/guides/model-selection</a:t>
            </a:r>
          </a:p>
          <a:p xmlns:a="http://schemas.openxmlformats.org/drawingml/2006/main">
            <a:r>
              <a:t>出典: https://developers.openai.com/blog/maintaining-software-with-the-gpt-6-family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が止まり過ぎるなら、安全に進めてよい範囲を書きます。話が広がり過ぎるなら対象外と分量を決めます。調査が浅ければ一次情報と確認条件を指定します。能力の問題と決めつける前に、目的、境界、完了条件が揃っているか見直してみてください。</a:t>
            </a:r>
          </a:p>
          <a:p xmlns:a="http://schemas.openxmlformats.org/drawingml/2006/main">
            <a:r>
              <a:t/>
            </a:r>
          </a:p>
          <a:p xmlns:a="http://schemas.openxmlformats.org/drawingml/2006/main">
            <a:r>
              <a:t>出典: https://developers.openai.com/blog/rethinking-skills-and-prompts-for-gpt-6-astra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AnthropicのFable 5.1も高い能力を持つモデルです。特に長い期間にわたるエージェント作業や難しい推論に重点があります。ただしAnthropicは多くの仕事をOpus 5.5から始め、高い設定でも不足したときにFableへ上げる方針を示しています。</a:t>
            </a:r>
          </a:p>
          <a:p xmlns:a="http://schemas.openxmlformats.org/drawingml/2006/main">
            <a:r>
              <a:t/>
            </a:r>
          </a:p>
          <a:p xmlns:a="http://schemas.openxmlformats.org/drawingml/2006/main">
            <a:r>
              <a:t>出典: https://platform.claude.com/docs/en/models/fable-5-1/overview</a:t>
            </a:r>
          </a:p>
          <a:p xmlns:a="http://schemas.openxmlformats.org/drawingml/2006/main">
            <a:r>
              <a:t>出典: https://platform.claude.com/docs/en/about-claude/models/choosing-a-model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は105万、Fableは100万トークンの文脈です。最大出力は両方とも12万8千トークン。APIの基本入力・出力単価も、100万トークン当たり10ドルと50ドルです。ただし実際の支払いは、長文やキャッシュ、ツールの使い方で変わります。月額プランの料金でもありません。</a:t>
            </a:r>
          </a:p>
          <a:p xmlns:a="http://schemas.openxmlformats.org/drawingml/2006/main">
            <a:r>
              <a:t/>
            </a:r>
          </a:p>
          <a:p xmlns:a="http://schemas.openxmlformats.org/drawingml/2006/main">
            <a:r>
              <a:t>出典: https://developers.openai.com/api/docs/models/gpt-6-astra</a:t>
            </a:r>
          </a:p>
          <a:p xmlns:a="http://schemas.openxmlformats.org/drawingml/2006/main">
            <a:r>
              <a:t>出典: https://platform.claude.com/docs/en/models/fable-5-1/overview</a:t>
            </a:r>
          </a:p>
          <a:p xmlns:a="http://schemas.openxmlformats.org/drawingml/2006/main">
            <a:r>
              <a:t>出典: https://developers.openai.com/api/docs/pricing</a:t>
            </a:r>
          </a:p>
          <a:p xmlns:a="http://schemas.openxmlformats.org/drawingml/2006/main">
            <a:r>
              <a:t>出典: https://platform.claude.com/docs/en/about-claude/pricing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AstraはCodexやOpenAIのツール群と組み合わせ、曖昧な仕事を完成物まで進める使い方が中心です。FableはClaude CodeやCoworkで、長い期間の難題に向けた位置づけです。これは公式の重点から見た使い分けで、片方だけにできるという意味ではありません。</a:t>
            </a:r>
          </a:p>
          <a:p xmlns:a="http://schemas.openxmlformats.org/drawingml/2006/main">
            <a:r>
              <a:t/>
            </a:r>
          </a:p>
          <a:p xmlns:a="http://schemas.openxmlformats.org/drawingml/2006/main">
            <a:r>
              <a:t>出典: https://developers.openai.com/api/docs/guides/model-selection</a:t>
            </a:r>
          </a:p>
          <a:p xmlns:a="http://schemas.openxmlformats.org/drawingml/2006/main">
            <a:r>
              <a:t>出典: https://platform.claude.com/docs/en/models/fable-5-1/overview</a:t>
            </a:r>
          </a:p>
          <a:p xmlns:a="http://schemas.openxmlformats.org/drawingml/2006/main">
            <a:r>
              <a:t>出典: https://platform.claude.com/docs/en/about-claude/models/choosing-a-model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raは入力が27万2千トークンを超えると、リクエスト全体の入力とキャッシュが2倍、出力が1.5倍になります。Fableは100万トークン全域で標準単価です。キャッシュ読込もFableの方が低い見出し価格です。実費はキャッシュ書込やツール利用も含めて見積もりましょう。</a:t>
            </a:r>
          </a:p>
          <a:p xmlns:a="http://schemas.openxmlformats.org/drawingml/2006/main">
            <a:r>
              <a:t/>
            </a:r>
          </a:p>
          <a:p xmlns:a="http://schemas.openxmlformats.org/drawingml/2006/main">
            <a:r>
              <a:t>出典: https://developers.openai.com/api/docs/pricing</a:t>
            </a:r>
          </a:p>
          <a:p xmlns:a="http://schemas.openxmlformats.org/drawingml/2006/main">
            <a:r>
              <a:t>出典: https://platform.claude.com/docs/en/about-claude/pricing</a:t>
            </a:r>
          </a:p>
          <a:p xmlns:a="http://schemas.openxmlformats.org/drawingml/2006/main">
            <a:r>
              <a:t>出典: https://platform.claude.com/docs/en/models/fable-5-1/overview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どちらが総合的に賢いかを一つの数字で決めるのは難しいです。使うツールや考える量、課金条件も違います。自社で重要な仕事を一つ選び、同じ資料と完成条件で試しましょう。成果の正確さ、かかった時間、成功一件当たりの費用を比較すると判断できます。</a:t>
            </a:r>
          </a:p>
          <a:p xmlns:a="http://schemas.openxmlformats.org/drawingml/2006/main">
            <a:r>
              <a:t/>
            </a:r>
          </a:p>
          <a:p xmlns:a="http://schemas.openxmlformats.org/drawingml/2006/main">
            <a:r>
              <a:t>出典: https://developers.openai.com/api/docs/guides/model-selection</a:t>
            </a:r>
          </a:p>
          <a:p xmlns:a="http://schemas.openxmlformats.org/drawingml/2006/main">
            <a:r>
              <a:t>出典: https://platform.claude.com/docs/en/about-claude/models/choosing-a-model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覚えてほしいのは三つです。Astraには答えより完成物を任せること。目的、権限、完了条件をはっきり伝えること。そして作ったものを確認し、直すところまで依頼することです。皆さんの仕事で、手順は複雑でも完成した姿なら言える仕事は何でしょうか。一つ選んで試してみてください。</a:t>
            </a:r>
          </a:p>
          <a:p xmlns:a="http://schemas.openxmlformats.org/drawingml/2006/main">
            <a:r>
              <a:t/>
            </a:r>
          </a:p>
          <a:p xmlns:a="http://schemas.openxmlformats.org/drawingml/2006/main">
            <a:r>
              <a:t>出典: https://developers.openai.com/api/docs/guides/model-selection</a:t>
            </a:r>
          </a:p>
          <a:p xmlns:a="http://schemas.openxmlformats.org/drawingml/2006/main">
            <a:r>
              <a:t>出典: https://developers.openai.com/blog/rethinking-skills-and-prompts-for-gpt-6-astra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fa21153f1c4f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7ad67a820744d4" /><Relationship Type="http://schemas.openxmlformats.org/officeDocument/2006/relationships/slideLayout" Target="/ppt/slideLayouts/slideLayout1.xml" Id="R276b66d95c704b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6b66d95c704b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b463b7deb2433a" /><Relationship Type="http://schemas.openxmlformats.org/officeDocument/2006/relationships/image" Target="/ppt/media/image.png" Id="R3057e54648824e6c" /><Relationship Type="http://schemas.openxmlformats.org/officeDocument/2006/relationships/notesSlide" Target="/ppt/notesSlides/notesSlide1.xml" Id="Ra19a4b6eeef240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3b9b0351e748b3" /><Relationship Type="http://schemas.openxmlformats.org/officeDocument/2006/relationships/notesSlide" Target="/ppt/notesSlides/notesSlide2.xml" Id="Rde0eb7377fe24d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47dd1ff45a42fb" /><Relationship Type="http://schemas.openxmlformats.org/officeDocument/2006/relationships/notesSlide" Target="/ppt/notesSlides/notesSlide3.xml" Id="Rc071c40de80341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9e0f98465b43b6" /><Relationship Type="http://schemas.openxmlformats.org/officeDocument/2006/relationships/notesSlide" Target="/ppt/notesSlides/notesSlide4.xml" Id="R24a52965878c4e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9ff765fc464c71" /><Relationship Type="http://schemas.openxmlformats.org/officeDocument/2006/relationships/notesSlide" Target="/ppt/notesSlides/notesSlide5.xml" Id="R5a16ac95651d4b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5526f058da49b9" /><Relationship Type="http://schemas.openxmlformats.org/officeDocument/2006/relationships/notesSlide" Target="/ppt/notesSlides/notesSlide6.xml" Id="R6509f2af2a9142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2b91969a534c73" /><Relationship Type="http://schemas.openxmlformats.org/officeDocument/2006/relationships/notesSlide" Target="/ppt/notesSlides/notesSlide7.xml" Id="Rb1db7d98406a48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5cad4ffa723470e" /><Relationship Type="http://schemas.openxmlformats.org/officeDocument/2006/relationships/notesSlide" Target="/ppt/notesSlides/notesSlide8.xml" Id="R11b1ebe4608449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958e291702348d7" /><Relationship Type="http://schemas.openxmlformats.org/officeDocument/2006/relationships/notesSlide" Target="/ppt/notesSlides/notesSlide9.xml" Id="R17d109447f8c4f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7226b55abe4b69" /><Relationship Type="http://schemas.openxmlformats.org/officeDocument/2006/relationships/notesSlide" Target="/ppt/notesSlides/notesSlide10.xml" Id="R3911d797b83840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04eb5bde18c490e" /><Relationship Type="http://schemas.openxmlformats.org/officeDocument/2006/relationships/notesSlide" Target="/ppt/notesSlides/notesSlide11.xml" Id="R2fc02b5c212549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b98f04b429d4ed3" /><Relationship Type="http://schemas.openxmlformats.org/officeDocument/2006/relationships/image" Target="/ppt/media/image2.png" Id="R1d87e169f8914792" /><Relationship Type="http://schemas.openxmlformats.org/officeDocument/2006/relationships/notesSlide" Target="/ppt/notesSlides/notesSlide12.xml" Id="Rb12304b84ebf427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c6962e2c9f740a6" /><Relationship Type="http://schemas.openxmlformats.org/officeDocument/2006/relationships/image" Target="/ppt/media/image3.png" Id="Raff56ea3e8324cdd" /><Relationship Type="http://schemas.openxmlformats.org/officeDocument/2006/relationships/notesSlide" Target="/ppt/notesSlides/notesSlide13.xml" Id="R58e61157e36f44b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51e0b2877ea41a6" /><Relationship Type="http://schemas.openxmlformats.org/officeDocument/2006/relationships/notesSlide" Target="/ppt/notesSlides/notesSlide14.xml" Id="R0fc77bdfcad3409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725203dec924633" /><Relationship Type="http://schemas.openxmlformats.org/officeDocument/2006/relationships/image" Target="/ppt/media/image4.png" Id="Ra97878a4171d488d" /><Relationship Type="http://schemas.openxmlformats.org/officeDocument/2006/relationships/notesSlide" Target="/ppt/notesSlides/notesSlide15.xml" Id="Rffc41476f62b4fc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690d16ef01844dd" /><Relationship Type="http://schemas.openxmlformats.org/officeDocument/2006/relationships/image" Target="/ppt/media/image5.png" Id="R3d5799c9320f4f37" /><Relationship Type="http://schemas.openxmlformats.org/officeDocument/2006/relationships/notesSlide" Target="/ppt/notesSlides/notesSlide16.xml" Id="Rb31f9a3df36c4a4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c4fa8b0c16b4228" /><Relationship Type="http://schemas.openxmlformats.org/officeDocument/2006/relationships/image" Target="/ppt/media/image6.png" Id="Rc7582db7b90141e3" /><Relationship Type="http://schemas.openxmlformats.org/officeDocument/2006/relationships/notesSlide" Target="/ppt/notesSlides/notesSlide17.xml" Id="Rbd182a510ec7491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2df38bf20724dca" /><Relationship Type="http://schemas.openxmlformats.org/officeDocument/2006/relationships/notesSlide" Target="/ppt/notesSlides/notesSlide18.xml" Id="Rb7c5e41bcac24e6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9a9c4eb46d04d8c" /><Relationship Type="http://schemas.openxmlformats.org/officeDocument/2006/relationships/notesSlide" Target="/ppt/notesSlides/notesSlide19.xml" Id="Ra0a7d328a09c452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718436616fe4699" /><Relationship Type="http://schemas.openxmlformats.org/officeDocument/2006/relationships/notesSlide" Target="/ppt/notesSlides/notesSlide20.xml" Id="Rddc656d00e92474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b378f9dc651432a" /><Relationship Type="http://schemas.openxmlformats.org/officeDocument/2006/relationships/image" Target="/ppt/media/image7.png" Id="Rcf16fe8715cb4c21" /><Relationship Type="http://schemas.openxmlformats.org/officeDocument/2006/relationships/notesSlide" Target="/ppt/notesSlides/notesSlide21.xml" Id="R7d710081a6ac468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d41b1a912614015" /><Relationship Type="http://schemas.openxmlformats.org/officeDocument/2006/relationships/notesSlide" Target="/ppt/notesSlides/notesSlide22.xml" Id="Rf5040b9c3cb94ae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4382821e066481a" /><Relationship Type="http://schemas.openxmlformats.org/officeDocument/2006/relationships/notesSlide" Target="/ppt/notesSlides/notesSlide23.xml" Id="R149a9af17889493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4a7e68a7da346f7" /><Relationship Type="http://schemas.openxmlformats.org/officeDocument/2006/relationships/notesSlide" Target="/ppt/notesSlides/notesSlide24.xml" Id="R6e0c1cc5f044447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1cceb259bd5402b" /><Relationship Type="http://schemas.openxmlformats.org/officeDocument/2006/relationships/notesSlide" Target="/ppt/notesSlides/notesSlide25.xml" Id="R31a1059cf4f74e2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1a3857f306c4988" /><Relationship Type="http://schemas.openxmlformats.org/officeDocument/2006/relationships/notesSlide" Target="/ppt/notesSlides/notesSlide26.xml" Id="Rd61d6513c720463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7ea33be6ffb4b4a" /><Relationship Type="http://schemas.openxmlformats.org/officeDocument/2006/relationships/notesSlide" Target="/ppt/notesSlides/notesSlide27.xml" Id="Ra22d2b2ead7c410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0eeda6c89a24fe4" /><Relationship Type="http://schemas.openxmlformats.org/officeDocument/2006/relationships/notesSlide" Target="/ppt/notesSlides/notesSlide28.xml" Id="Rd5f0165fc98d4ff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5dcfd130407405c" /><Relationship Type="http://schemas.openxmlformats.org/officeDocument/2006/relationships/notesSlide" Target="/ppt/notesSlides/notesSlide29.xml" Id="R63f9fe18ce77415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f13e555251f4f4c" /><Relationship Type="http://schemas.openxmlformats.org/officeDocument/2006/relationships/notesSlide" Target="/ppt/notesSlides/notesSlide30.xml" Id="R59f8b1772aa5479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b242ec50e254813" /><Relationship Type="http://schemas.openxmlformats.org/officeDocument/2006/relationships/notesSlide" Target="/ppt/notesSlides/notesSlide31.xml" Id="R9778756b8cfa463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9879594af114735" /><Relationship Type="http://schemas.openxmlformats.org/officeDocument/2006/relationships/notesSlide" Target="/ppt/notesSlides/notesSlide32.xml" Id="R9bf306f8c79a47c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9601c76996a4dc6" /><Relationship Type="http://schemas.openxmlformats.org/officeDocument/2006/relationships/notesSlide" Target="/ppt/notesSlides/notesSlide33.xml" Id="R26b21f9ace334dc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0f78328237840a9" /><Relationship Type="http://schemas.openxmlformats.org/officeDocument/2006/relationships/notesSlide" Target="/ppt/notesSlides/notesSlide34.xml" Id="R79c47104dbf0456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d25767a720b437c" /><Relationship Type="http://schemas.openxmlformats.org/officeDocument/2006/relationships/notesSlide" Target="/ppt/notesSlides/notesSlide35.xml" Id="R02ef9fbd9c40411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d589656a63f4abf" /><Relationship Type="http://schemas.openxmlformats.org/officeDocument/2006/relationships/notesSlide" Target="/ppt/notesSlides/notesSlide36.xml" Id="R438c24c4df364d4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01243a7adab4f6a" /><Relationship Type="http://schemas.openxmlformats.org/officeDocument/2006/relationships/notesSlide" Target="/ppt/notesSlides/notesSlide37.xml" Id="R11e8c91a2b7b428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2afe71d3b8245e5" /><Relationship Type="http://schemas.openxmlformats.org/officeDocument/2006/relationships/notesSlide" Target="/ppt/notesSlides/notesSlide38.xml" Id="R0707db0889c64f57" /></Relationships>
</file>

<file path=ppt/slides/slide1.xml><?xml version="1.0" encoding="utf-8"?>
<p:sld xmlns:p="http://schemas.openxmlformats.org/presentationml/2006/main">
  <p:cSld>
    <p:bg>
      <p:bgPr>
        <a:solidFill xmlns:a="http://schemas.openxmlformats.org/drawingml/2006/main">
          <a:srgbClr val="EDF7F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057e54648824e6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10CAE4-26DE-4279-8801-B0B12D424458}"/>
              </a:ext>
            </a:extLst>
          </p:cNvPr>
          <p:cNvSpPr>
            <a:spLocks xmlns:a="http://schemas.openxmlformats.org/drawingml/2006/main" noGrp="1"/>
          </p:cNvSpPr>
          <p:nvPr/>
        </p:nvSpPr>
        <p:spPr>
          <a:xfrm xmlns:a="http://schemas.openxmlformats.org/drawingml/2006/main">
            <a:off x="723900" y="685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2A77A3"/>
                </a:solidFill>
                <a:latin typeface="Yu Gothic"/>
                <a:ea typeface="Yu Gothic"/>
                <a:cs typeface="Yu Gothic"/>
              </a:defRPr>
            </a:pPr>
            <a:r>
              <a:rPr sz="1725" b="1">
                <a:solidFill>
                  <a:srgbClr val="2A77A3"/>
                </a:solidFill>
                <a:latin typeface="Yu Gothic"/>
                <a:ea typeface="Yu Gothic"/>
                <a:cs typeface="Yu Gothic"/>
              </a:rPr>
              <a:t>営業協会 AI勉強会 / 2026.10.21</a:t>
            </a:r>
          </a:p>
        </p:txBody>
      </p:sp>
      <p:sp>
        <p:nvSpPr>
          <p:cNvPr id="3" name="">
            <a:extLst xmlns:a="http://schemas.openxmlformats.org/drawingml/2006/main">
              <a:ext uri="{FF2B5EF4-FFF2-40B4-BE49-F238E27FC236}">
                <a16:creationId xmlns:a16="http://schemas.microsoft.com/office/drawing/2014/main" id="{FFCBF395-FF37-4944-9052-679E36B1DFA0}"/>
              </a:ext>
            </a:extLst>
          </p:cNvPr>
          <p:cNvSpPr>
            <a:spLocks xmlns:a="http://schemas.openxmlformats.org/drawingml/2006/main" noGrp="1"/>
          </p:cNvSpPr>
          <p:nvPr/>
        </p:nvSpPr>
        <p:spPr>
          <a:xfrm xmlns:a="http://schemas.openxmlformats.org/drawingml/2006/main">
            <a:off x="723900" y="1762125"/>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129"/>
          </a:bodyPr>
          <a:lstStyle xmlns:a="http://schemas.openxmlformats.org/drawingml/2006/main"/>
          <a:p xmlns:a="http://schemas.openxmlformats.org/drawingml/2006/main">
            <a:pPr>
              <a:defRPr sz="7350" b="1">
                <a:solidFill>
                  <a:srgbClr val="0D2A43"/>
                </a:solidFill>
                <a:latin typeface="Yu Gothic"/>
                <a:ea typeface="Yu Gothic"/>
                <a:cs typeface="Yu Gothic"/>
              </a:defRPr>
            </a:pPr>
            <a:r>
              <a:rPr sz="7350" b="1">
                <a:solidFill>
                  <a:srgbClr val="0D2A43"/>
                </a:solidFill>
                <a:latin typeface="Yu Gothic"/>
                <a:ea typeface="Yu Gothic"/>
                <a:cs typeface="Yu Gothic"/>
              </a:rPr>
              <a:t>GPT-6 ASTRA</a:t>
            </a:r>
          </a:p>
        </p:txBody>
      </p:sp>
      <p:sp>
        <p:nvSpPr>
          <p:cNvPr id="4" name="">
            <a:extLst xmlns:a="http://schemas.openxmlformats.org/drawingml/2006/main">
              <a:ext uri="{FF2B5EF4-FFF2-40B4-BE49-F238E27FC236}">
                <a16:creationId xmlns:a16="http://schemas.microsoft.com/office/drawing/2014/main" id="{C0D60AC9-15C2-41DD-8249-D96D5DF911E0}"/>
              </a:ext>
            </a:extLst>
          </p:cNvPr>
          <p:cNvSpPr>
            <a:spLocks xmlns:a="http://schemas.openxmlformats.org/drawingml/2006/main" noGrp="1"/>
          </p:cNvSpPr>
          <p:nvPr/>
        </p:nvSpPr>
        <p:spPr>
          <a:xfrm xmlns:a="http://schemas.openxmlformats.org/drawingml/2006/main">
            <a:off x="723900" y="31623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仕事の成果につなげる使い方</a:t>
            </a:r>
          </a:p>
        </p:txBody>
      </p:sp>
      <p:sp>
        <p:nvSpPr>
          <p:cNvPr id="5" name="">
            <a:extLst xmlns:a="http://schemas.openxmlformats.org/drawingml/2006/main">
              <a:ext uri="{FF2B5EF4-FFF2-40B4-BE49-F238E27FC236}">
                <a16:creationId xmlns:a16="http://schemas.microsoft.com/office/drawing/2014/main" id="{2BE671E9-94E2-4BCF-AAF7-117ECACAE1A0}"/>
              </a:ext>
            </a:extLst>
          </p:cNvPr>
          <p:cNvSpPr>
            <a:spLocks xmlns:a="http://schemas.openxmlformats.org/drawingml/2006/main" noGrp="1"/>
          </p:cNvSpPr>
          <p:nvPr/>
        </p:nvSpPr>
        <p:spPr>
          <a:xfrm xmlns:a="http://schemas.openxmlformats.org/drawingml/2006/main">
            <a:off x="723900" y="57150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1">
                <a:solidFill>
                  <a:srgbClr val="365C76"/>
                </a:solidFill>
                <a:latin typeface="Yu Gothic"/>
                <a:ea typeface="Yu Gothic"/>
                <a:cs typeface="Yu Gothic"/>
              </a:defRPr>
            </a:pPr>
            <a:r>
              <a:rPr sz="1950" b="1">
                <a:solidFill>
                  <a:srgbClr val="365C76"/>
                </a:solidFill>
                <a:latin typeface="Yu Gothic"/>
                <a:ea typeface="Yu Gothic"/>
                <a:cs typeface="Yu Gothic"/>
              </a:rPr>
              <a:t>活用法・実務例・Claude Fable 5.1との比較</a:t>
            </a:r>
          </a:p>
        </p:txBody>
      </p:sp>
      <p:sp>
        <p:nvSpPr>
          <p:cNvPr id="6" name="">
            <a:extLst xmlns:a="http://schemas.openxmlformats.org/drawingml/2006/main">
              <a:ext uri="{FF2B5EF4-FFF2-40B4-BE49-F238E27FC236}">
                <a16:creationId xmlns:a16="http://schemas.microsoft.com/office/drawing/2014/main" id="{3B7CF2F1-0560-4292-A6AB-3AC5C9F01663}"/>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01 / 38</a:t>
            </a:r>
          </a:p>
        </p:txBody>
      </p:sp>
    </p:spTree>
    <p:extLst>
      <p:ext uri="{BB962C8B-B14F-4D97-AF65-F5344CB8AC3E}">
        <p14:creationId xmlns:p14="http://schemas.microsoft.com/office/powerpoint/2010/main" val="1094468353"/>
      </p:ext>
    </p:extLst>
  </p:cSld>
</p:sld>
</file>

<file path=ppt/slides/slide2.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4E8EEF2-9D05-481E-B86D-29465922F579}"/>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Astraとは何か</a:t>
            </a:r>
          </a:p>
        </p:txBody>
      </p:sp>
      <p:sp>
        <p:nvSpPr>
          <p:cNvPr id="2" name="">
            <a:extLst xmlns:a="http://schemas.openxmlformats.org/drawingml/2006/main">
              <a:ext uri="{FF2B5EF4-FFF2-40B4-BE49-F238E27FC236}">
                <a16:creationId xmlns:a16="http://schemas.microsoft.com/office/drawing/2014/main" id="{4A5AFD8B-0924-4831-8692-74D32BF40D80}"/>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今日の持ち帰り</a:t>
            </a:r>
          </a:p>
        </p:txBody>
      </p:sp>
      <p:sp>
        <p:nvSpPr>
          <p:cNvPr id="3" name="">
            <a:extLst xmlns:a="http://schemas.openxmlformats.org/drawingml/2006/main">
              <a:ext uri="{FF2B5EF4-FFF2-40B4-BE49-F238E27FC236}">
                <a16:creationId xmlns:a16="http://schemas.microsoft.com/office/drawing/2014/main" id="{F91BB741-B8BE-4993-9F88-401798729D66}"/>
              </a:ext>
            </a:extLst>
          </p:cNvPr>
          <p:cNvSpPr>
            <a:spLocks xmlns:a="http://schemas.openxmlformats.org/drawingml/2006/main" noGrp="1"/>
          </p:cNvSpPr>
          <p:nvPr/>
        </p:nvSpPr>
        <p:spPr>
          <a:xfrm xmlns:a="http://schemas.openxmlformats.org/drawingml/2006/main">
            <a:off x="723900" y="2571750"/>
            <a:ext cx="1066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925" b="1">
                <a:solidFill>
                  <a:srgbClr val="0D2A43"/>
                </a:solidFill>
                <a:latin typeface="Yu Gothic"/>
                <a:ea typeface="Yu Gothic"/>
                <a:cs typeface="Yu Gothic"/>
              </a:defRPr>
            </a:pPr>
            <a:r>
              <a:rPr sz="2925" b="1">
                <a:solidFill>
                  <a:srgbClr val="0D2A43"/>
                </a:solidFill>
                <a:latin typeface="Yu Gothic"/>
                <a:ea typeface="Yu Gothic"/>
                <a:cs typeface="Yu Gothic"/>
              </a:rPr>
              <a:t>自分の仕事をAstraにどう任せるかを決める</a:t>
            </a:r>
          </a:p>
        </p:txBody>
      </p:sp>
      <p:sp>
        <p:nvSpPr>
          <p:cNvPr id="4" name="">
            <a:extLst xmlns:a="http://schemas.openxmlformats.org/drawingml/2006/main">
              <a:ext uri="{FF2B5EF4-FFF2-40B4-BE49-F238E27FC236}">
                <a16:creationId xmlns:a16="http://schemas.microsoft.com/office/drawing/2014/main" id="{0606B5B4-138C-492C-B73C-58AEA402C122}"/>
              </a:ext>
            </a:extLst>
          </p:cNvPr>
          <p:cNvSpPr>
            <a:spLocks xmlns:a="http://schemas.openxmlformats.org/drawingml/2006/main" noGrp="1"/>
          </p:cNvSpPr>
          <p:nvPr/>
        </p:nvSpPr>
        <p:spPr>
          <a:xfrm xmlns:a="http://schemas.openxmlformats.org/drawingml/2006/main">
            <a:off x="723900" y="4286250"/>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2A77A3"/>
                </a:solidFill>
                <a:latin typeface="Yu Gothic"/>
                <a:ea typeface="Yu Gothic"/>
                <a:cs typeface="Yu Gothic"/>
              </a:defRPr>
            </a:pPr>
            <a:r>
              <a:rPr sz="1800" b="1">
                <a:solidFill>
                  <a:srgbClr val="2A77A3"/>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DD6AD80D-9427-477B-A329-BDE66CC70F33}"/>
              </a:ext>
            </a:extLst>
          </p:cNvPr>
          <p:cNvSpPr>
            <a:spLocks xmlns:a="http://schemas.openxmlformats.org/drawingml/2006/main" noGrp="1"/>
          </p:cNvSpPr>
          <p:nvPr/>
        </p:nvSpPr>
        <p:spPr>
          <a:xfrm xmlns:a="http://schemas.openxmlformats.org/drawingml/2006/main">
            <a:off x="723900" y="4800600"/>
            <a:ext cx="33432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Astraの正体</a:t>
            </a:r>
          </a:p>
        </p:txBody>
      </p:sp>
      <p:sp>
        <p:nvSpPr>
          <p:cNvPr id="6" name="">
            <a:extLst xmlns:a="http://schemas.openxmlformats.org/drawingml/2006/main">
              <a:ext uri="{FF2B5EF4-FFF2-40B4-BE49-F238E27FC236}">
                <a16:creationId xmlns:a16="http://schemas.microsoft.com/office/drawing/2014/main" id="{96CDB5D7-1094-46E8-91A1-606F066472DA}"/>
              </a:ext>
            </a:extLst>
          </p:cNvPr>
          <p:cNvSpPr>
            <a:spLocks xmlns:a="http://schemas.openxmlformats.org/drawingml/2006/main" noGrp="1"/>
          </p:cNvSpPr>
          <p:nvPr/>
        </p:nvSpPr>
        <p:spPr>
          <a:xfrm xmlns:a="http://schemas.openxmlformats.org/drawingml/2006/main">
            <a:off x="4276725" y="4286250"/>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2A77A3"/>
                </a:solidFill>
                <a:latin typeface="Yu Gothic"/>
                <a:ea typeface="Yu Gothic"/>
                <a:cs typeface="Yu Gothic"/>
              </a:defRPr>
            </a:pPr>
            <a:r>
              <a:rPr sz="1800" b="1">
                <a:solidFill>
                  <a:srgbClr val="2A77A3"/>
                </a:solidFill>
                <a:latin typeface="Yu Gothic"/>
                <a:ea typeface="Yu Gothic"/>
                <a:cs typeface="Yu Gothic"/>
              </a:rPr>
              <a:t>02</a:t>
            </a:r>
          </a:p>
        </p:txBody>
      </p:sp>
      <p:sp>
        <p:nvSpPr>
          <p:cNvPr id="7" name="">
            <a:extLst xmlns:a="http://schemas.openxmlformats.org/drawingml/2006/main">
              <a:ext uri="{FF2B5EF4-FFF2-40B4-BE49-F238E27FC236}">
                <a16:creationId xmlns:a16="http://schemas.microsoft.com/office/drawing/2014/main" id="{E7997330-721A-46AF-889D-2D4A235E62FD}"/>
              </a:ext>
            </a:extLst>
          </p:cNvPr>
          <p:cNvSpPr>
            <a:spLocks xmlns:a="http://schemas.openxmlformats.org/drawingml/2006/main" noGrp="1"/>
          </p:cNvSpPr>
          <p:nvPr/>
        </p:nvSpPr>
        <p:spPr>
          <a:xfrm xmlns:a="http://schemas.openxmlformats.org/drawingml/2006/main">
            <a:off x="4276725" y="4800600"/>
            <a:ext cx="33432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できること</a:t>
            </a:r>
          </a:p>
        </p:txBody>
      </p:sp>
      <p:sp>
        <p:nvSpPr>
          <p:cNvPr id="8" name="">
            <a:extLst xmlns:a="http://schemas.openxmlformats.org/drawingml/2006/main">
              <a:ext uri="{FF2B5EF4-FFF2-40B4-BE49-F238E27FC236}">
                <a16:creationId xmlns:a16="http://schemas.microsoft.com/office/drawing/2014/main" id="{A961B6F0-09D3-4C7D-93BF-0C2A15ECB07E}"/>
              </a:ext>
            </a:extLst>
          </p:cNvPr>
          <p:cNvSpPr>
            <a:spLocks xmlns:a="http://schemas.openxmlformats.org/drawingml/2006/main" noGrp="1"/>
          </p:cNvSpPr>
          <p:nvPr/>
        </p:nvSpPr>
        <p:spPr>
          <a:xfrm xmlns:a="http://schemas.openxmlformats.org/drawingml/2006/main">
            <a:off x="7829550" y="4286250"/>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2A77A3"/>
                </a:solidFill>
                <a:latin typeface="Yu Gothic"/>
                <a:ea typeface="Yu Gothic"/>
                <a:cs typeface="Yu Gothic"/>
              </a:defRPr>
            </a:pPr>
            <a:r>
              <a:rPr sz="1800" b="1">
                <a:solidFill>
                  <a:srgbClr val="2A77A3"/>
                </a:solidFill>
                <a:latin typeface="Yu Gothic"/>
                <a:ea typeface="Yu Gothic"/>
                <a:cs typeface="Yu Gothic"/>
              </a:rPr>
              <a:t>03</a:t>
            </a:r>
          </a:p>
        </p:txBody>
      </p:sp>
      <p:sp>
        <p:nvSpPr>
          <p:cNvPr id="9" name="">
            <a:extLst xmlns:a="http://schemas.openxmlformats.org/drawingml/2006/main">
              <a:ext uri="{FF2B5EF4-FFF2-40B4-BE49-F238E27FC236}">
                <a16:creationId xmlns:a16="http://schemas.microsoft.com/office/drawing/2014/main" id="{E0B26E07-AF71-4603-9E41-12F66410DCEE}"/>
              </a:ext>
            </a:extLst>
          </p:cNvPr>
          <p:cNvSpPr>
            <a:spLocks xmlns:a="http://schemas.openxmlformats.org/drawingml/2006/main" noGrp="1"/>
          </p:cNvSpPr>
          <p:nvPr/>
        </p:nvSpPr>
        <p:spPr>
          <a:xfrm xmlns:a="http://schemas.openxmlformats.org/drawingml/2006/main">
            <a:off x="7829550" y="4800600"/>
            <a:ext cx="33432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任せ方とモデル比較</a:t>
            </a:r>
          </a:p>
        </p:txBody>
      </p:sp>
      <p:sp>
        <p:nvSpPr>
          <p:cNvPr id="10" name="">
            <a:extLst xmlns:a="http://schemas.openxmlformats.org/drawingml/2006/main">
              <a:ext uri="{FF2B5EF4-FFF2-40B4-BE49-F238E27FC236}">
                <a16:creationId xmlns:a16="http://schemas.microsoft.com/office/drawing/2014/main" id="{CC98A374-7796-4C91-8393-CC1C066E42AB}"/>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02 / 38</a:t>
            </a:r>
          </a:p>
        </p:txBody>
      </p:sp>
    </p:spTree>
    <p:extLst>
      <p:ext uri="{BB962C8B-B14F-4D97-AF65-F5344CB8AC3E}">
        <p14:creationId xmlns:p14="http://schemas.microsoft.com/office/powerpoint/2010/main" val="523354900"/>
      </p:ext>
    </p:extLst>
  </p:cSld>
</p:sld>
</file>

<file path=ppt/slides/slide3.xml><?xml version="1.0" encoding="utf-8"?>
<p:sld xmlns:p="http://schemas.openxmlformats.org/presentationml/2006/main">
  <p:cSld>
    <p:bg>
      <p:bgPr>
        <a:solidFill xmlns:a="http://schemas.openxmlformats.org/drawingml/2006/main">
          <a:srgbClr val="E1F2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4C8F467-9614-4878-AF69-B71C29152946}"/>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Astraとは何か</a:t>
            </a:r>
          </a:p>
        </p:txBody>
      </p:sp>
      <p:sp>
        <p:nvSpPr>
          <p:cNvPr id="2" name="">
            <a:extLst xmlns:a="http://schemas.openxmlformats.org/drawingml/2006/main">
              <a:ext uri="{FF2B5EF4-FFF2-40B4-BE49-F238E27FC236}">
                <a16:creationId xmlns:a16="http://schemas.microsoft.com/office/drawing/2014/main" id="{9B8A9F83-CC5D-490E-8DFF-9EC2CA8726B2}"/>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結論を先に</a:t>
            </a:r>
          </a:p>
        </p:txBody>
      </p:sp>
      <p:sp>
        <p:nvSpPr>
          <p:cNvPr id="3" name="">
            <a:extLst xmlns:a="http://schemas.openxmlformats.org/drawingml/2006/main">
              <a:ext uri="{FF2B5EF4-FFF2-40B4-BE49-F238E27FC236}">
                <a16:creationId xmlns:a16="http://schemas.microsoft.com/office/drawing/2014/main" id="{4348E963-17F5-4055-930B-C24B55072003}"/>
              </a:ext>
            </a:extLst>
          </p:cNvPr>
          <p:cNvSpPr>
            <a:spLocks xmlns:a="http://schemas.openxmlformats.org/drawingml/2006/main" noGrp="1"/>
          </p:cNvSpPr>
          <p:nvPr/>
        </p:nvSpPr>
        <p:spPr>
          <a:xfrm xmlns:a="http://schemas.openxmlformats.org/drawingml/2006/main">
            <a:off x="723900" y="292417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4275" b="1">
                <a:solidFill>
                  <a:srgbClr val="2A77A3"/>
                </a:solidFill>
                <a:latin typeface="Yu Gothic"/>
                <a:ea typeface="Yu Gothic"/>
                <a:cs typeface="Yu Gothic"/>
              </a:defRPr>
            </a:pPr>
            <a:r>
              <a:rPr sz="4275" b="1">
                <a:solidFill>
                  <a:srgbClr val="2A77A3"/>
                </a:solidFill>
                <a:latin typeface="Yu Gothic"/>
                <a:ea typeface="Yu Gothic"/>
                <a:cs typeface="Yu Gothic"/>
              </a:rPr>
              <a:t>Astraは『答え』より『完成物』を任せると生きる</a:t>
            </a:r>
          </a:p>
        </p:txBody>
      </p:sp>
      <p:sp>
        <p:nvSpPr>
          <p:cNvPr id="4" name="">
            <a:extLst xmlns:a="http://schemas.openxmlformats.org/drawingml/2006/main">
              <a:ext uri="{FF2B5EF4-FFF2-40B4-BE49-F238E27FC236}">
                <a16:creationId xmlns:a16="http://schemas.microsoft.com/office/drawing/2014/main" id="{7AC16BDD-F5F9-46C6-92C2-510D555A780C}"/>
              </a:ext>
            </a:extLst>
          </p:cNvPr>
          <p:cNvSpPr>
            <a:spLocks xmlns:a="http://schemas.openxmlformats.org/drawingml/2006/main" noGrp="1"/>
          </p:cNvSpPr>
          <p:nvPr/>
        </p:nvSpPr>
        <p:spPr>
          <a:xfrm xmlns:a="http://schemas.openxmlformats.org/drawingml/2006/main">
            <a:off x="723900" y="547687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a:solidFill>
                  <a:srgbClr val="365C76"/>
                </a:solidFill>
                <a:latin typeface="Yu Gothic"/>
                <a:ea typeface="Yu Gothic"/>
                <a:cs typeface="Yu Gothic"/>
              </a:defRPr>
            </a:pPr>
            <a:r>
              <a:rPr sz="1725" b="1">
                <a:solidFill>
                  <a:srgbClr val="365C76"/>
                </a:solidFill>
                <a:latin typeface="Yu Gothic"/>
                <a:ea typeface="Yu Gothic"/>
                <a:cs typeface="Yu Gothic"/>
              </a:rPr>
              <a:t>質問への回答　 / 　調査・判断・制作・確認　 / 　使える成果物</a:t>
            </a:r>
          </a:p>
        </p:txBody>
      </p:sp>
      <p:sp>
        <p:nvSpPr>
          <p:cNvPr id="5" name="">
            <a:extLst xmlns:a="http://schemas.openxmlformats.org/drawingml/2006/main">
              <a:ext uri="{FF2B5EF4-FFF2-40B4-BE49-F238E27FC236}">
                <a16:creationId xmlns:a16="http://schemas.microsoft.com/office/drawing/2014/main" id="{A674BFF6-F832-44D9-A3E7-044AF68E94A9}"/>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03 / 38</a:t>
            </a:r>
          </a:p>
        </p:txBody>
      </p:sp>
    </p:spTree>
    <p:extLst>
      <p:ext uri="{BB962C8B-B14F-4D97-AF65-F5344CB8AC3E}">
        <p14:creationId xmlns:p14="http://schemas.microsoft.com/office/powerpoint/2010/main" val="667307507"/>
      </p:ext>
    </p:extLst>
  </p:cSld>
</p:sld>
</file>

<file path=ppt/slides/slide4.xml><?xml version="1.0" encoding="utf-8"?>
<p:sld xmlns:p="http://schemas.openxmlformats.org/presentationml/2006/main">
  <p:cSld>
    <p:bg>
      <p:bgPr>
        <a:solidFill xmlns:a="http://schemas.openxmlformats.org/drawingml/2006/main">
          <a:srgbClr val="EDF7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993685-F96A-4021-A2FB-B2A7DE6AFA35}"/>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Astraとは何か</a:t>
            </a:r>
          </a:p>
        </p:txBody>
      </p:sp>
      <p:sp>
        <p:nvSpPr>
          <p:cNvPr id="2" name="">
            <a:extLst xmlns:a="http://schemas.openxmlformats.org/drawingml/2006/main">
              <a:ext uri="{FF2B5EF4-FFF2-40B4-BE49-F238E27FC236}">
                <a16:creationId xmlns:a16="http://schemas.microsoft.com/office/drawing/2014/main" id="{FA850C11-2968-4FCE-98D4-CCB3A2D77453}"/>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Astraの位置づけ</a:t>
            </a:r>
          </a:p>
        </p:txBody>
      </p:sp>
      <p:sp>
        <p:nvSpPr>
          <p:cNvPr id="3" name="">
            <a:extLst xmlns:a="http://schemas.openxmlformats.org/drawingml/2006/main">
              <a:ext uri="{FF2B5EF4-FFF2-40B4-BE49-F238E27FC236}">
                <a16:creationId xmlns:a16="http://schemas.microsoft.com/office/drawing/2014/main" id="{CB52197A-7D14-42F1-8E2B-8D517362C7EE}"/>
              </a:ext>
            </a:extLst>
          </p:cNvPr>
          <p:cNvSpPr>
            <a:spLocks xmlns:a="http://schemas.openxmlformats.org/drawingml/2006/main" noGrp="1"/>
          </p:cNvSpPr>
          <p:nvPr/>
        </p:nvSpPr>
        <p:spPr>
          <a:xfrm xmlns:a="http://schemas.openxmlformats.org/drawingml/2006/main">
            <a:off x="723900" y="2524125"/>
            <a:ext cx="10668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D2A43"/>
                </a:solidFill>
                <a:latin typeface="Yu Gothic"/>
                <a:ea typeface="Yu Gothic"/>
                <a:cs typeface="Yu Gothic"/>
              </a:defRPr>
            </a:pPr>
            <a:r>
              <a:rPr sz="3000" b="1">
                <a:solidFill>
                  <a:srgbClr val="0D2A43"/>
                </a:solidFill>
                <a:latin typeface="Yu Gothic"/>
                <a:ea typeface="Yu Gothic"/>
                <a:cs typeface="Yu Gothic"/>
              </a:rPr>
              <a:t>OpenAIの最難関業務向けモデル</a:t>
            </a:r>
          </a:p>
        </p:txBody>
      </p:sp>
      <p:sp>
        <p:nvSpPr>
          <p:cNvPr id="4" name="">
            <a:extLst xmlns:a="http://schemas.openxmlformats.org/drawingml/2006/main">
              <a:ext uri="{FF2B5EF4-FFF2-40B4-BE49-F238E27FC236}">
                <a16:creationId xmlns:a16="http://schemas.microsoft.com/office/drawing/2014/main" id="{7DB79608-7873-4BD4-81C8-02B09200BB67}"/>
              </a:ext>
            </a:extLst>
          </p:cNvPr>
          <p:cNvSpPr>
            <a:spLocks xmlns:a="http://schemas.openxmlformats.org/drawingml/2006/main" noGrp="1"/>
          </p:cNvSpPr>
          <p:nvPr/>
        </p:nvSpPr>
        <p:spPr>
          <a:xfrm xmlns:a="http://schemas.openxmlformats.org/drawingml/2006/main">
            <a:off x="723900" y="4286250"/>
            <a:ext cx="3571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2A77A3"/>
                </a:solidFill>
                <a:latin typeface="Yu Gothic"/>
                <a:ea typeface="Yu Gothic"/>
                <a:cs typeface="Yu Gothic"/>
              </a:defRPr>
            </a:pPr>
            <a:r>
              <a:rPr sz="2850" b="1">
                <a:solidFill>
                  <a:srgbClr val="2A77A3"/>
                </a:solidFill>
                <a:latin typeface="Yu Gothic"/>
                <a:ea typeface="Yu Gothic"/>
                <a:cs typeface="Yu Gothic"/>
              </a:rPr>
              <a:t>2026年9月3日公開</a:t>
            </a:r>
          </a:p>
        </p:txBody>
      </p:sp>
      <p:sp>
        <p:nvSpPr>
          <p:cNvPr id="5" name="">
            <a:extLst xmlns:a="http://schemas.openxmlformats.org/drawingml/2006/main">
              <a:ext uri="{FF2B5EF4-FFF2-40B4-BE49-F238E27FC236}">
                <a16:creationId xmlns:a16="http://schemas.microsoft.com/office/drawing/2014/main" id="{25A50F5B-9533-4BF5-9E55-59E7CC372271}"/>
              </a:ext>
            </a:extLst>
          </p:cNvPr>
          <p:cNvSpPr>
            <a:spLocks xmlns:a="http://schemas.openxmlformats.org/drawingml/2006/main" noGrp="1"/>
          </p:cNvSpPr>
          <p:nvPr/>
        </p:nvSpPr>
        <p:spPr>
          <a:xfrm xmlns:a="http://schemas.openxmlformats.org/drawingml/2006/main">
            <a:off x="4486275" y="4286250"/>
            <a:ext cx="3571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579"/>
          </a:bodyPr>
          <a:lstStyle xmlns:a="http://schemas.openxmlformats.org/drawingml/2006/main"/>
          <a:p xmlns:a="http://schemas.openxmlformats.org/drawingml/2006/main">
            <a:pPr>
              <a:defRPr sz="2850" b="1">
                <a:solidFill>
                  <a:srgbClr val="2A77A3"/>
                </a:solidFill>
                <a:latin typeface="Yu Gothic"/>
                <a:ea typeface="Yu Gothic"/>
                <a:cs typeface="Yu Gothic"/>
              </a:defRPr>
            </a:pPr>
            <a:r>
              <a:rPr sz="2850" b="1">
                <a:solidFill>
                  <a:srgbClr val="2A77A3"/>
                </a:solidFill>
                <a:latin typeface="Yu Gothic"/>
                <a:ea typeface="Yu Gothic"/>
                <a:cs typeface="Yu Gothic"/>
              </a:rPr>
              <a:t>推論・コード・PC操作・調査・文書</a:t>
            </a:r>
          </a:p>
        </p:txBody>
      </p:sp>
      <p:sp>
        <p:nvSpPr>
          <p:cNvPr id="6" name="">
            <a:extLst xmlns:a="http://schemas.openxmlformats.org/drawingml/2006/main">
              <a:ext uri="{FF2B5EF4-FFF2-40B4-BE49-F238E27FC236}">
                <a16:creationId xmlns:a16="http://schemas.microsoft.com/office/drawing/2014/main" id="{1E605C2E-F9DC-4A88-8D78-282CDF6A760A}"/>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04 / 38</a:t>
            </a:r>
          </a:p>
        </p:txBody>
      </p:sp>
    </p:spTree>
    <p:extLst>
      <p:ext uri="{BB962C8B-B14F-4D97-AF65-F5344CB8AC3E}">
        <p14:creationId xmlns:p14="http://schemas.microsoft.com/office/powerpoint/2010/main" val="519119179"/>
      </p:ext>
    </p:extLst>
  </p:cSld>
</p:sld>
</file>

<file path=ppt/slides/slide5.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75548CC-3554-4D63-B704-E87D60834226}"/>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Astraとは何か</a:t>
            </a:r>
          </a:p>
        </p:txBody>
      </p:sp>
      <p:sp>
        <p:nvSpPr>
          <p:cNvPr id="2" name="">
            <a:extLst xmlns:a="http://schemas.openxmlformats.org/drawingml/2006/main">
              <a:ext uri="{FF2B5EF4-FFF2-40B4-BE49-F238E27FC236}">
                <a16:creationId xmlns:a16="http://schemas.microsoft.com/office/drawing/2014/main" id="{4F254BBF-379E-4C75-8310-B3FAD672A752}"/>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AIの役割が広がった</a:t>
            </a:r>
          </a:p>
        </p:txBody>
      </p:sp>
      <p:sp>
        <p:nvSpPr>
          <p:cNvPr id="3" name="">
            <a:extLst xmlns:a="http://schemas.openxmlformats.org/drawingml/2006/main">
              <a:ext uri="{FF2B5EF4-FFF2-40B4-BE49-F238E27FC236}">
                <a16:creationId xmlns:a16="http://schemas.microsoft.com/office/drawing/2014/main" id="{D5722727-7CB0-41B7-9E6A-3B5D53687E33}"/>
              </a:ext>
            </a:extLst>
          </p:cNvPr>
          <p:cNvSpPr>
            <a:spLocks xmlns:a="http://schemas.openxmlformats.org/drawingml/2006/main" noGrp="1"/>
          </p:cNvSpPr>
          <p:nvPr/>
        </p:nvSpPr>
        <p:spPr>
          <a:xfrm xmlns:a="http://schemas.openxmlformats.org/drawingml/2006/main">
            <a:off x="723900" y="2571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925" b="1">
                <a:solidFill>
                  <a:srgbClr val="0D2A43"/>
                </a:solidFill>
                <a:latin typeface="Yu Gothic"/>
                <a:ea typeface="Yu Gothic"/>
                <a:cs typeface="Yu Gothic"/>
              </a:defRPr>
            </a:pPr>
            <a:r>
              <a:rPr sz="2925" b="1">
                <a:solidFill>
                  <a:srgbClr val="0D2A43"/>
                </a:solidFill>
                <a:latin typeface="Yu Gothic"/>
                <a:ea typeface="Yu Gothic"/>
                <a:cs typeface="Yu Gothic"/>
              </a:rPr>
              <a:t>返答するだけでなく、道具を使って進める</a:t>
            </a:r>
          </a:p>
        </p:txBody>
      </p:sp>
      <p:sp>
        <p:nvSpPr>
          <p:cNvPr id="4" name="">
            <a:extLst xmlns:a="http://schemas.openxmlformats.org/drawingml/2006/main">
              <a:ext uri="{FF2B5EF4-FFF2-40B4-BE49-F238E27FC236}">
                <a16:creationId xmlns:a16="http://schemas.microsoft.com/office/drawing/2014/main" id="{6B1BD4C6-9898-4004-9323-0457EF6046B1}"/>
              </a:ext>
            </a:extLst>
          </p:cNvPr>
          <p:cNvSpPr>
            <a:spLocks xmlns:a="http://schemas.openxmlformats.org/drawingml/2006/main" noGrp="1"/>
          </p:cNvSpPr>
          <p:nvPr/>
        </p:nvSpPr>
        <p:spPr>
          <a:xfrm xmlns:a="http://schemas.openxmlformats.org/drawingml/2006/main">
            <a:off x="723900" y="4000500"/>
            <a:ext cx="4953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2A77A3"/>
                </a:solidFill>
                <a:latin typeface="Yu Gothic"/>
                <a:ea typeface="Yu Gothic"/>
                <a:cs typeface="Yu Gothic"/>
              </a:defRPr>
            </a:pPr>
            <a:r>
              <a:rPr sz="2700" b="1">
                <a:solidFill>
                  <a:srgbClr val="2A77A3"/>
                </a:solidFill>
                <a:latin typeface="Yu Gothic"/>
                <a:ea typeface="Yu Gothic"/>
                <a:cs typeface="Yu Gothic"/>
              </a:rPr>
              <a:t>質問への回答</a:t>
            </a:r>
          </a:p>
        </p:txBody>
      </p:sp>
      <p:sp>
        <p:nvSpPr>
          <p:cNvPr id="5" name="">
            <a:extLst xmlns:a="http://schemas.openxmlformats.org/drawingml/2006/main">
              <a:ext uri="{FF2B5EF4-FFF2-40B4-BE49-F238E27FC236}">
                <a16:creationId xmlns:a16="http://schemas.microsoft.com/office/drawing/2014/main" id="{F5C610AE-58F6-45F2-8BC5-40EC791463BC}"/>
              </a:ext>
            </a:extLst>
          </p:cNvPr>
          <p:cNvSpPr>
            <a:spLocks xmlns:a="http://schemas.openxmlformats.org/drawingml/2006/main" noGrp="1"/>
          </p:cNvSpPr>
          <p:nvPr/>
        </p:nvSpPr>
        <p:spPr>
          <a:xfrm xmlns:a="http://schemas.openxmlformats.org/drawingml/2006/main">
            <a:off x="6324600" y="4000500"/>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2A77A3"/>
                </a:solidFill>
                <a:latin typeface="Yu Gothic"/>
                <a:ea typeface="Yu Gothic"/>
                <a:cs typeface="Yu Gothic"/>
              </a:defRPr>
            </a:pPr>
            <a:r>
              <a:rPr sz="2700" b="1">
                <a:solidFill>
                  <a:srgbClr val="2A77A3"/>
                </a:solidFill>
                <a:latin typeface="Yu Gothic"/>
                <a:ea typeface="Yu Gothic"/>
                <a:cs typeface="Yu Gothic"/>
              </a:rPr>
              <a:t>道具を使う仕事</a:t>
            </a:r>
          </a:p>
        </p:txBody>
      </p:sp>
      <p:sp>
        <p:nvSpPr>
          <p:cNvPr id="6" name="">
            <a:extLst xmlns:a="http://schemas.openxmlformats.org/drawingml/2006/main">
              <a:ext uri="{FF2B5EF4-FFF2-40B4-BE49-F238E27FC236}">
                <a16:creationId xmlns:a16="http://schemas.microsoft.com/office/drawing/2014/main" id="{ACF13AA2-A730-41D4-9D06-AB916367CDB9}"/>
              </a:ext>
            </a:extLst>
          </p:cNvPr>
          <p:cNvSpPr>
            <a:spLocks xmlns:a="http://schemas.openxmlformats.org/drawingml/2006/main" noGrp="1"/>
          </p:cNvSpPr>
          <p:nvPr/>
        </p:nvSpPr>
        <p:spPr>
          <a:xfrm xmlns:a="http://schemas.openxmlformats.org/drawingml/2006/main">
            <a:off x="723900" y="4762500"/>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人が次の作業を考える</a:t>
            </a:r>
          </a:p>
        </p:txBody>
      </p:sp>
      <p:sp>
        <p:nvSpPr>
          <p:cNvPr id="7" name="">
            <a:extLst xmlns:a="http://schemas.openxmlformats.org/drawingml/2006/main">
              <a:ext uri="{FF2B5EF4-FFF2-40B4-BE49-F238E27FC236}">
                <a16:creationId xmlns:a16="http://schemas.microsoft.com/office/drawing/2014/main" id="{7F884147-AC35-4E43-B3A8-B7667811D6FB}"/>
              </a:ext>
            </a:extLst>
          </p:cNvPr>
          <p:cNvSpPr>
            <a:spLocks xmlns:a="http://schemas.openxmlformats.org/drawingml/2006/main" noGrp="1"/>
          </p:cNvSpPr>
          <p:nvPr/>
        </p:nvSpPr>
        <p:spPr>
          <a:xfrm xmlns:a="http://schemas.openxmlformats.org/drawingml/2006/main">
            <a:off x="6324600" y="476250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調査・制作・確認まで進める</a:t>
            </a:r>
          </a:p>
        </p:txBody>
      </p:sp>
      <p:sp>
        <p:nvSpPr>
          <p:cNvPr id="8" name="">
            <a:extLst xmlns:a="http://schemas.openxmlformats.org/drawingml/2006/main">
              <a:ext uri="{FF2B5EF4-FFF2-40B4-BE49-F238E27FC236}">
                <a16:creationId xmlns:a16="http://schemas.microsoft.com/office/drawing/2014/main" id="{E0809BF8-5A61-4B7A-B52B-998E753B6FAB}"/>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05 / 38</a:t>
            </a:r>
          </a:p>
        </p:txBody>
      </p:sp>
    </p:spTree>
    <p:extLst>
      <p:ext uri="{BB962C8B-B14F-4D97-AF65-F5344CB8AC3E}">
        <p14:creationId xmlns:p14="http://schemas.microsoft.com/office/powerpoint/2010/main" val="1354116562"/>
      </p:ext>
    </p:extLst>
  </p:cSld>
</p:sld>
</file>

<file path=ppt/slides/slide6.xml><?xml version="1.0" encoding="utf-8"?>
<p:sld xmlns:p="http://schemas.openxmlformats.org/presentationml/2006/main">
  <p:cSld>
    <p:bg>
      <p:bgPr>
        <a:solidFill xmlns:a="http://schemas.openxmlformats.org/drawingml/2006/main">
          <a:srgbClr val="E1F2F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07552B5-71A1-4C6C-ADB1-0DC4F8024122}"/>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Astraとは何か</a:t>
            </a:r>
          </a:p>
        </p:txBody>
      </p:sp>
      <p:sp>
        <p:nvSpPr>
          <p:cNvPr id="2" name="">
            <a:extLst xmlns:a="http://schemas.openxmlformats.org/drawingml/2006/main">
              <a:ext uri="{FF2B5EF4-FFF2-40B4-BE49-F238E27FC236}">
                <a16:creationId xmlns:a16="http://schemas.microsoft.com/office/drawing/2014/main" id="{6D443616-40E2-4E09-8A32-0D0683C8D467}"/>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仕事を動かす5つの層</a:t>
            </a:r>
          </a:p>
        </p:txBody>
      </p:sp>
      <p:sp>
        <p:nvSpPr>
          <p:cNvPr id="3" name="">
            <a:extLst xmlns:a="http://schemas.openxmlformats.org/drawingml/2006/main">
              <a:ext uri="{FF2B5EF4-FFF2-40B4-BE49-F238E27FC236}">
                <a16:creationId xmlns:a16="http://schemas.microsoft.com/office/drawing/2014/main" id="{3D52E7C6-FCB0-47CE-B138-829C75E1406F}"/>
              </a:ext>
            </a:extLst>
          </p:cNvPr>
          <p:cNvSpPr>
            <a:spLocks xmlns:a="http://schemas.openxmlformats.org/drawingml/2006/main" noGrp="1"/>
          </p:cNvSpPr>
          <p:nvPr/>
        </p:nvSpPr>
        <p:spPr>
          <a:xfrm xmlns:a="http://schemas.openxmlformats.org/drawingml/2006/main">
            <a:off x="723900" y="25908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0D2A43"/>
                </a:solidFill>
                <a:latin typeface="Yu Gothic"/>
                <a:ea typeface="Yu Gothic"/>
                <a:cs typeface="Yu Gothic"/>
              </a:defRPr>
            </a:pPr>
            <a:r>
              <a:rPr sz="2850" b="1">
                <a:solidFill>
                  <a:srgbClr val="0D2A43"/>
                </a:solidFill>
                <a:latin typeface="Yu Gothic"/>
                <a:ea typeface="Yu Gothic"/>
                <a:cs typeface="Yu Gothic"/>
              </a:rPr>
              <a:t>モデルだけでなく、道具と仕事の文脈が要る</a:t>
            </a:r>
          </a:p>
        </p:txBody>
      </p:sp>
      <p:sp>
        <p:nvSpPr>
          <p:cNvPr id="4" name="">
            <a:extLst xmlns:a="http://schemas.openxmlformats.org/drawingml/2006/main">
              <a:ext uri="{FF2B5EF4-FFF2-40B4-BE49-F238E27FC236}">
                <a16:creationId xmlns:a16="http://schemas.microsoft.com/office/drawing/2014/main" id="{D6341E05-FD4B-454F-ABE3-1885A61351D9}"/>
              </a:ext>
            </a:extLst>
          </p:cNvPr>
          <p:cNvSpPr>
            <a:spLocks xmlns:a="http://schemas.openxmlformats.org/drawingml/2006/main" noGrp="1"/>
          </p:cNvSpPr>
          <p:nvPr/>
        </p:nvSpPr>
        <p:spPr>
          <a:xfrm xmlns:a="http://schemas.openxmlformats.org/drawingml/2006/main">
            <a:off x="723900" y="3371850"/>
            <a:ext cx="9715500" cy="4667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5" name="">
            <a:extLst xmlns:a="http://schemas.openxmlformats.org/drawingml/2006/main">
              <a:ext uri="{FF2B5EF4-FFF2-40B4-BE49-F238E27FC236}">
                <a16:creationId xmlns:a16="http://schemas.microsoft.com/office/drawing/2014/main" id="{D29525C9-83E5-49A3-BEC6-F08E3140B245}"/>
              </a:ext>
            </a:extLst>
          </p:cNvPr>
          <p:cNvSpPr>
            <a:spLocks xmlns:a="http://schemas.openxmlformats.org/drawingml/2006/main" noGrp="1"/>
          </p:cNvSpPr>
          <p:nvPr/>
        </p:nvSpPr>
        <p:spPr>
          <a:xfrm xmlns:a="http://schemas.openxmlformats.org/drawingml/2006/main">
            <a:off x="933450" y="34575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7DAB526B-F1CD-41E1-8389-5F267C5651C2}"/>
              </a:ext>
            </a:extLst>
          </p:cNvPr>
          <p:cNvSpPr>
            <a:spLocks xmlns:a="http://schemas.openxmlformats.org/drawingml/2006/main" noGrp="1"/>
          </p:cNvSpPr>
          <p:nvPr/>
        </p:nvSpPr>
        <p:spPr>
          <a:xfrm xmlns:a="http://schemas.openxmlformats.org/drawingml/2006/main">
            <a:off x="1628775" y="3419475"/>
            <a:ext cx="857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741"/>
          </a:bodyPr>
          <a:lstStyle xmlns:a="http://schemas.openxmlformats.org/drawingml/2006/main"/>
          <a:p xmlns:a="http://schemas.openxmlformats.org/drawingml/2006/main">
            <a:pPr>
              <a:defRPr sz="2025" b="1">
                <a:solidFill>
                  <a:srgbClr val="0D2A43"/>
                </a:solidFill>
                <a:latin typeface="Yu Gothic"/>
                <a:ea typeface="Yu Gothic"/>
                <a:cs typeface="Yu Gothic"/>
              </a:defRPr>
            </a:pPr>
            <a:r>
              <a:rPr sz="2025" b="1">
                <a:solidFill>
                  <a:srgbClr val="0D2A43"/>
                </a:solidFill>
                <a:latin typeface="Yu Gothic"/>
                <a:ea typeface="Yu Gothic"/>
                <a:cs typeface="Yu Gothic"/>
              </a:rPr>
              <a:t>モデル</a:t>
            </a:r>
          </a:p>
        </p:txBody>
      </p:sp>
      <p:sp>
        <p:nvSpPr>
          <p:cNvPr id="7" name="">
            <a:extLst xmlns:a="http://schemas.openxmlformats.org/drawingml/2006/main">
              <a:ext uri="{FF2B5EF4-FFF2-40B4-BE49-F238E27FC236}">
                <a16:creationId xmlns:a16="http://schemas.microsoft.com/office/drawing/2014/main" id="{D62661B5-6E72-4BF7-83D7-700A57B05D4B}"/>
              </a:ext>
            </a:extLst>
          </p:cNvPr>
          <p:cNvSpPr>
            <a:spLocks xmlns:a="http://schemas.openxmlformats.org/drawingml/2006/main" noGrp="1"/>
          </p:cNvSpPr>
          <p:nvPr/>
        </p:nvSpPr>
        <p:spPr>
          <a:xfrm xmlns:a="http://schemas.openxmlformats.org/drawingml/2006/main">
            <a:off x="1028700" y="3914775"/>
            <a:ext cx="9391650" cy="4667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8" name="">
            <a:extLst xmlns:a="http://schemas.openxmlformats.org/drawingml/2006/main">
              <a:ext uri="{FF2B5EF4-FFF2-40B4-BE49-F238E27FC236}">
                <a16:creationId xmlns:a16="http://schemas.microsoft.com/office/drawing/2014/main" id="{416CF7C4-62EA-4AD3-B0E6-E59A04A9EF8C}"/>
              </a:ext>
            </a:extLst>
          </p:cNvPr>
          <p:cNvSpPr>
            <a:spLocks xmlns:a="http://schemas.openxmlformats.org/drawingml/2006/main" noGrp="1"/>
          </p:cNvSpPr>
          <p:nvPr/>
        </p:nvSpPr>
        <p:spPr>
          <a:xfrm xmlns:a="http://schemas.openxmlformats.org/drawingml/2006/main">
            <a:off x="1238250" y="40005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02</a:t>
            </a:r>
          </a:p>
        </p:txBody>
      </p:sp>
      <p:sp>
        <p:nvSpPr>
          <p:cNvPr id="9" name="">
            <a:extLst xmlns:a="http://schemas.openxmlformats.org/drawingml/2006/main">
              <a:ext uri="{FF2B5EF4-FFF2-40B4-BE49-F238E27FC236}">
                <a16:creationId xmlns:a16="http://schemas.microsoft.com/office/drawing/2014/main" id="{FF9B39E5-B456-4529-9305-D9ED42E3576D}"/>
              </a:ext>
            </a:extLst>
          </p:cNvPr>
          <p:cNvSpPr>
            <a:spLocks xmlns:a="http://schemas.openxmlformats.org/drawingml/2006/main" noGrp="1"/>
          </p:cNvSpPr>
          <p:nvPr/>
        </p:nvSpPr>
        <p:spPr>
          <a:xfrm xmlns:a="http://schemas.openxmlformats.org/drawingml/2006/main">
            <a:off x="1933575" y="3962400"/>
            <a:ext cx="8248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741"/>
          </a:bodyPr>
          <a:lstStyle xmlns:a="http://schemas.openxmlformats.org/drawingml/2006/main"/>
          <a:p xmlns:a="http://schemas.openxmlformats.org/drawingml/2006/main">
            <a:pPr>
              <a:defRPr sz="2025" b="1">
                <a:solidFill>
                  <a:srgbClr val="0D2A43"/>
                </a:solidFill>
                <a:latin typeface="Yu Gothic"/>
                <a:ea typeface="Yu Gothic"/>
                <a:cs typeface="Yu Gothic"/>
              </a:defRPr>
            </a:pPr>
            <a:r>
              <a:rPr sz="2025" b="1">
                <a:solidFill>
                  <a:srgbClr val="0D2A43"/>
                </a:solidFill>
                <a:latin typeface="Yu Gothic"/>
                <a:ea typeface="Yu Gothic"/>
                <a:cs typeface="Yu Gothic"/>
              </a:rPr>
              <a:t>実行基盤</a:t>
            </a:r>
          </a:p>
        </p:txBody>
      </p:sp>
      <p:sp>
        <p:nvSpPr>
          <p:cNvPr id="10" name="">
            <a:extLst xmlns:a="http://schemas.openxmlformats.org/drawingml/2006/main">
              <a:ext uri="{FF2B5EF4-FFF2-40B4-BE49-F238E27FC236}">
                <a16:creationId xmlns:a16="http://schemas.microsoft.com/office/drawing/2014/main" id="{814064EC-8C54-4E19-9709-CDA65872241F}"/>
              </a:ext>
            </a:extLst>
          </p:cNvPr>
          <p:cNvSpPr>
            <a:spLocks xmlns:a="http://schemas.openxmlformats.org/drawingml/2006/main" noGrp="1"/>
          </p:cNvSpPr>
          <p:nvPr/>
        </p:nvSpPr>
        <p:spPr>
          <a:xfrm xmlns:a="http://schemas.openxmlformats.org/drawingml/2006/main">
            <a:off x="1333500" y="4457700"/>
            <a:ext cx="9067800" cy="4667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11" name="">
            <a:extLst xmlns:a="http://schemas.openxmlformats.org/drawingml/2006/main">
              <a:ext uri="{FF2B5EF4-FFF2-40B4-BE49-F238E27FC236}">
                <a16:creationId xmlns:a16="http://schemas.microsoft.com/office/drawing/2014/main" id="{BE8D2323-480C-4299-B9A8-B81CCB185F36}"/>
              </a:ext>
            </a:extLst>
          </p:cNvPr>
          <p:cNvSpPr>
            <a:spLocks xmlns:a="http://schemas.openxmlformats.org/drawingml/2006/main" noGrp="1"/>
          </p:cNvSpPr>
          <p:nvPr/>
        </p:nvSpPr>
        <p:spPr>
          <a:xfrm xmlns:a="http://schemas.openxmlformats.org/drawingml/2006/main">
            <a:off x="1543050" y="45434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03</a:t>
            </a:r>
          </a:p>
        </p:txBody>
      </p:sp>
      <p:sp>
        <p:nvSpPr>
          <p:cNvPr id="12" name="">
            <a:extLst xmlns:a="http://schemas.openxmlformats.org/drawingml/2006/main">
              <a:ext uri="{FF2B5EF4-FFF2-40B4-BE49-F238E27FC236}">
                <a16:creationId xmlns:a16="http://schemas.microsoft.com/office/drawing/2014/main" id="{AAA79A9A-2FAB-4236-975C-BF3E01D42E88}"/>
              </a:ext>
            </a:extLst>
          </p:cNvPr>
          <p:cNvSpPr>
            <a:spLocks xmlns:a="http://schemas.openxmlformats.org/drawingml/2006/main" noGrp="1"/>
          </p:cNvSpPr>
          <p:nvPr/>
        </p:nvSpPr>
        <p:spPr>
          <a:xfrm xmlns:a="http://schemas.openxmlformats.org/drawingml/2006/main">
            <a:off x="2238375" y="4505325"/>
            <a:ext cx="7924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741"/>
          </a:bodyPr>
          <a:lstStyle xmlns:a="http://schemas.openxmlformats.org/drawingml/2006/main"/>
          <a:p xmlns:a="http://schemas.openxmlformats.org/drawingml/2006/main">
            <a:pPr>
              <a:defRPr sz="2025" b="1">
                <a:solidFill>
                  <a:srgbClr val="0D2A43"/>
                </a:solidFill>
                <a:latin typeface="Yu Gothic"/>
                <a:ea typeface="Yu Gothic"/>
                <a:cs typeface="Yu Gothic"/>
              </a:defRPr>
            </a:pPr>
            <a:r>
              <a:rPr sz="2025" b="1">
                <a:solidFill>
                  <a:srgbClr val="0D2A43"/>
                </a:solidFill>
                <a:latin typeface="Yu Gothic"/>
                <a:ea typeface="Yu Gothic"/>
                <a:cs typeface="Yu Gothic"/>
              </a:rPr>
              <a:t>ツール</a:t>
            </a:r>
          </a:p>
        </p:txBody>
      </p:sp>
      <p:sp>
        <p:nvSpPr>
          <p:cNvPr id="13" name="">
            <a:extLst xmlns:a="http://schemas.openxmlformats.org/drawingml/2006/main">
              <a:ext uri="{FF2B5EF4-FFF2-40B4-BE49-F238E27FC236}">
                <a16:creationId xmlns:a16="http://schemas.microsoft.com/office/drawing/2014/main" id="{98402B6C-9421-4C6A-8BD5-4DC662B80FC5}"/>
              </a:ext>
            </a:extLst>
          </p:cNvPr>
          <p:cNvSpPr>
            <a:spLocks xmlns:a="http://schemas.openxmlformats.org/drawingml/2006/main" noGrp="1"/>
          </p:cNvSpPr>
          <p:nvPr/>
        </p:nvSpPr>
        <p:spPr>
          <a:xfrm xmlns:a="http://schemas.openxmlformats.org/drawingml/2006/main">
            <a:off x="1638300" y="5000625"/>
            <a:ext cx="8743950" cy="4667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14" name="">
            <a:extLst xmlns:a="http://schemas.openxmlformats.org/drawingml/2006/main">
              <a:ext uri="{FF2B5EF4-FFF2-40B4-BE49-F238E27FC236}">
                <a16:creationId xmlns:a16="http://schemas.microsoft.com/office/drawing/2014/main" id="{654F6626-4451-4A77-8EC1-78F36E691F54}"/>
              </a:ext>
            </a:extLst>
          </p:cNvPr>
          <p:cNvSpPr>
            <a:spLocks xmlns:a="http://schemas.openxmlformats.org/drawingml/2006/main" noGrp="1"/>
          </p:cNvSpPr>
          <p:nvPr/>
        </p:nvSpPr>
        <p:spPr>
          <a:xfrm xmlns:a="http://schemas.openxmlformats.org/drawingml/2006/main">
            <a:off x="1847850" y="50863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04</a:t>
            </a:r>
          </a:p>
        </p:txBody>
      </p:sp>
      <p:sp>
        <p:nvSpPr>
          <p:cNvPr id="15" name="">
            <a:extLst xmlns:a="http://schemas.openxmlformats.org/drawingml/2006/main">
              <a:ext uri="{FF2B5EF4-FFF2-40B4-BE49-F238E27FC236}">
                <a16:creationId xmlns:a16="http://schemas.microsoft.com/office/drawing/2014/main" id="{62F362D9-64CE-4C09-B270-0750C688404A}"/>
              </a:ext>
            </a:extLst>
          </p:cNvPr>
          <p:cNvSpPr>
            <a:spLocks xmlns:a="http://schemas.openxmlformats.org/drawingml/2006/main" noGrp="1"/>
          </p:cNvSpPr>
          <p:nvPr/>
        </p:nvSpPr>
        <p:spPr>
          <a:xfrm xmlns:a="http://schemas.openxmlformats.org/drawingml/2006/main">
            <a:off x="2543175" y="5048250"/>
            <a:ext cx="7600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741"/>
          </a:bodyPr>
          <a:lstStyle xmlns:a="http://schemas.openxmlformats.org/drawingml/2006/main"/>
          <a:p xmlns:a="http://schemas.openxmlformats.org/drawingml/2006/main">
            <a:pPr>
              <a:defRPr sz="2025" b="1">
                <a:solidFill>
                  <a:srgbClr val="0D2A43"/>
                </a:solidFill>
                <a:latin typeface="Yu Gothic"/>
                <a:ea typeface="Yu Gothic"/>
                <a:cs typeface="Yu Gothic"/>
              </a:defRPr>
            </a:pPr>
            <a:r>
              <a:rPr sz="2025" b="1">
                <a:solidFill>
                  <a:srgbClr val="0D2A43"/>
                </a:solidFill>
                <a:latin typeface="Yu Gothic"/>
                <a:ea typeface="Yu Gothic"/>
                <a:cs typeface="Yu Gothic"/>
              </a:rPr>
              <a:t>資料・ルール</a:t>
            </a:r>
          </a:p>
        </p:txBody>
      </p:sp>
      <p:sp>
        <p:nvSpPr>
          <p:cNvPr id="16" name="">
            <a:extLst xmlns:a="http://schemas.openxmlformats.org/drawingml/2006/main">
              <a:ext uri="{FF2B5EF4-FFF2-40B4-BE49-F238E27FC236}">
                <a16:creationId xmlns:a16="http://schemas.microsoft.com/office/drawing/2014/main" id="{6D9656CA-F874-4A86-B1C6-62D73B39ACDB}"/>
              </a:ext>
            </a:extLst>
          </p:cNvPr>
          <p:cNvSpPr>
            <a:spLocks xmlns:a="http://schemas.openxmlformats.org/drawingml/2006/main" noGrp="1"/>
          </p:cNvSpPr>
          <p:nvPr/>
        </p:nvSpPr>
        <p:spPr>
          <a:xfrm xmlns:a="http://schemas.openxmlformats.org/drawingml/2006/main">
            <a:off x="1943100" y="5543550"/>
            <a:ext cx="8420100" cy="466725"/>
          </a:xfrm>
          <a:prstGeom xmlns:a="http://schemas.openxmlformats.org/drawingml/2006/main" prst="rect">
            <a:avLst/>
          </a:prstGeom>
          <a:solidFill xmlns:a="http://schemas.openxmlformats.org/drawingml/2006/main">
            <a:srgbClr val="D7EEF8"/>
          </a:solidFill>
          <a:ln xmlns:a="http://schemas.openxmlformats.org/drawingml/2006/main" w="19050">
            <a:solidFill>
              <a:srgbClr val="2A77A3"/>
            </a:solidFill>
          </a:ln>
        </p:spPr>
      </p:sp>
      <p:sp>
        <p:nvSpPr>
          <p:cNvPr id="17" name="">
            <a:extLst xmlns:a="http://schemas.openxmlformats.org/drawingml/2006/main">
              <a:ext uri="{FF2B5EF4-FFF2-40B4-BE49-F238E27FC236}">
                <a16:creationId xmlns:a16="http://schemas.microsoft.com/office/drawing/2014/main" id="{4A7B1D4D-3891-48C6-A4FB-E89520236A2B}"/>
              </a:ext>
            </a:extLst>
          </p:cNvPr>
          <p:cNvSpPr>
            <a:spLocks xmlns:a="http://schemas.openxmlformats.org/drawingml/2006/main" noGrp="1"/>
          </p:cNvSpPr>
          <p:nvPr/>
        </p:nvSpPr>
        <p:spPr>
          <a:xfrm xmlns:a="http://schemas.openxmlformats.org/drawingml/2006/main">
            <a:off x="2152650" y="56292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05</a:t>
            </a:r>
          </a:p>
        </p:txBody>
      </p:sp>
      <p:sp>
        <p:nvSpPr>
          <p:cNvPr id="18" name="">
            <a:extLst xmlns:a="http://schemas.openxmlformats.org/drawingml/2006/main">
              <a:ext uri="{FF2B5EF4-FFF2-40B4-BE49-F238E27FC236}">
                <a16:creationId xmlns:a16="http://schemas.microsoft.com/office/drawing/2014/main" id="{97294D71-DD45-448E-B8B9-2D4ACDFB4E74}"/>
              </a:ext>
            </a:extLst>
          </p:cNvPr>
          <p:cNvSpPr>
            <a:spLocks xmlns:a="http://schemas.openxmlformats.org/drawingml/2006/main" noGrp="1"/>
          </p:cNvSpPr>
          <p:nvPr/>
        </p:nvSpPr>
        <p:spPr>
          <a:xfrm xmlns:a="http://schemas.openxmlformats.org/drawingml/2006/main">
            <a:off x="2847975" y="5591175"/>
            <a:ext cx="7277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741"/>
          </a:bodyPr>
          <a:lstStyle xmlns:a="http://schemas.openxmlformats.org/drawingml/2006/main"/>
          <a:p xmlns:a="http://schemas.openxmlformats.org/drawingml/2006/main">
            <a:pPr>
              <a:defRPr sz="2025" b="1">
                <a:solidFill>
                  <a:srgbClr val="0D2A43"/>
                </a:solidFill>
                <a:latin typeface="Yu Gothic"/>
                <a:ea typeface="Yu Gothic"/>
                <a:cs typeface="Yu Gothic"/>
              </a:defRPr>
            </a:pPr>
            <a:r>
              <a:rPr sz="2025" b="1">
                <a:solidFill>
                  <a:srgbClr val="0D2A43"/>
                </a:solidFill>
                <a:latin typeface="Yu Gothic"/>
                <a:ea typeface="Yu Gothic"/>
                <a:cs typeface="Yu Gothic"/>
              </a:rPr>
              <a:t>権限・承認</a:t>
            </a:r>
          </a:p>
        </p:txBody>
      </p:sp>
      <p:sp>
        <p:nvSpPr>
          <p:cNvPr id="19" name="">
            <a:extLst xmlns:a="http://schemas.openxmlformats.org/drawingml/2006/main">
              <a:ext uri="{FF2B5EF4-FFF2-40B4-BE49-F238E27FC236}">
                <a16:creationId xmlns:a16="http://schemas.microsoft.com/office/drawing/2014/main" id="{90A38E9D-2AC1-41E6-AD79-C1475BB86D18}"/>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06 / 38</a:t>
            </a:r>
          </a:p>
        </p:txBody>
      </p:sp>
    </p:spTree>
    <p:extLst>
      <p:ext uri="{BB962C8B-B14F-4D97-AF65-F5344CB8AC3E}">
        <p14:creationId xmlns:p14="http://schemas.microsoft.com/office/powerpoint/2010/main" val="1161202198"/>
      </p:ext>
    </p:extLst>
  </p:cSld>
</p:sld>
</file>

<file path=ppt/slides/slide7.xml><?xml version="1.0" encoding="utf-8"?>
<p:sld xmlns:p="http://schemas.openxmlformats.org/presentationml/2006/main">
  <p:cSld>
    <p:bg>
      <p:bgPr>
        <a:solidFill xmlns:a="http://schemas.openxmlformats.org/drawingml/2006/main">
          <a:srgbClr val="EDF7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466788-CDE8-4B99-A374-C4D3C3AEF410}"/>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Astraとは何か</a:t>
            </a:r>
          </a:p>
        </p:txBody>
      </p:sp>
      <p:sp>
        <p:nvSpPr>
          <p:cNvPr id="2" name="">
            <a:extLst xmlns:a="http://schemas.openxmlformats.org/drawingml/2006/main">
              <a:ext uri="{FF2B5EF4-FFF2-40B4-BE49-F238E27FC236}">
                <a16:creationId xmlns:a16="http://schemas.microsoft.com/office/drawing/2014/main" id="{0F19676A-E799-4C3B-BD6B-09E692973421}"/>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任せた範囲で判断する</a:t>
            </a:r>
          </a:p>
        </p:txBody>
      </p:sp>
      <p:sp>
        <p:nvSpPr>
          <p:cNvPr id="3" name="">
            <a:extLst xmlns:a="http://schemas.openxmlformats.org/drawingml/2006/main">
              <a:ext uri="{FF2B5EF4-FFF2-40B4-BE49-F238E27FC236}">
                <a16:creationId xmlns:a16="http://schemas.microsoft.com/office/drawing/2014/main" id="{C2077343-483E-4A82-B208-C703C7AD748A}"/>
              </a:ext>
            </a:extLst>
          </p:cNvPr>
          <p:cNvSpPr>
            <a:spLocks xmlns:a="http://schemas.openxmlformats.org/drawingml/2006/main" noGrp="1"/>
          </p:cNvSpPr>
          <p:nvPr/>
        </p:nvSpPr>
        <p:spPr>
          <a:xfrm xmlns:a="http://schemas.openxmlformats.org/drawingml/2006/main">
            <a:off x="723900" y="2905125"/>
            <a:ext cx="5619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450" b="1">
                <a:solidFill>
                  <a:srgbClr val="0D2A43"/>
                </a:solidFill>
                <a:latin typeface="Yu Gothic"/>
                <a:ea typeface="Yu Gothic"/>
                <a:cs typeface="Yu Gothic"/>
              </a:defRPr>
            </a:pPr>
            <a:r>
              <a:rPr sz="3450" b="1">
                <a:solidFill>
                  <a:srgbClr val="0D2A43"/>
                </a:solidFill>
                <a:latin typeface="Yu Gothic"/>
                <a:ea typeface="Yu Gothic"/>
                <a:cs typeface="Yu Gothic"/>
              </a:rPr>
              <a:t>境界を決めるほど、自律的に進めやすい</a:t>
            </a:r>
          </a:p>
        </p:txBody>
      </p:sp>
      <p:sp>
        <p:nvSpPr>
          <p:cNvPr id="4" name="">
            <a:extLst xmlns:a="http://schemas.openxmlformats.org/drawingml/2006/main">
              <a:ext uri="{FF2B5EF4-FFF2-40B4-BE49-F238E27FC236}">
                <a16:creationId xmlns:a16="http://schemas.microsoft.com/office/drawing/2014/main" id="{DE61D061-9EF8-4333-9A84-D0384B244B6E}"/>
              </a:ext>
            </a:extLst>
          </p:cNvPr>
          <p:cNvSpPr>
            <a:spLocks xmlns:a="http://schemas.openxmlformats.org/drawingml/2006/main" noGrp="1"/>
          </p:cNvSpPr>
          <p:nvPr/>
        </p:nvSpPr>
        <p:spPr>
          <a:xfrm xmlns:a="http://schemas.openxmlformats.org/drawingml/2006/main">
            <a:off x="7000875" y="301942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365C76"/>
                </a:solidFill>
                <a:latin typeface="Yu Gothic"/>
                <a:ea typeface="Yu Gothic"/>
                <a:cs typeface="Yu Gothic"/>
              </a:defRPr>
            </a:pPr>
            <a:r>
              <a:rPr sz="2175" b="1">
                <a:solidFill>
                  <a:srgbClr val="365C76"/>
                </a:solidFill>
                <a:latin typeface="Yu Gothic"/>
                <a:ea typeface="Yu Gothic"/>
                <a:cs typeface="Yu Gothic"/>
              </a:rPr>
              <a:t>目的を理解</a:t>
            </a:r>
          </a:p>
        </p:txBody>
      </p:sp>
      <p:sp>
        <p:nvSpPr>
          <p:cNvPr id="5" name="">
            <a:extLst xmlns:a="http://schemas.openxmlformats.org/drawingml/2006/main">
              <a:ext uri="{FF2B5EF4-FFF2-40B4-BE49-F238E27FC236}">
                <a16:creationId xmlns:a16="http://schemas.microsoft.com/office/drawing/2014/main" id="{DD2E0C02-E8E4-4BC2-A0CC-961B86F8F400}"/>
              </a:ext>
            </a:extLst>
          </p:cNvPr>
          <p:cNvSpPr>
            <a:spLocks xmlns:a="http://schemas.openxmlformats.org/drawingml/2006/main" noGrp="1"/>
          </p:cNvSpPr>
          <p:nvPr/>
        </p:nvSpPr>
        <p:spPr>
          <a:xfrm xmlns:a="http://schemas.openxmlformats.org/drawingml/2006/main">
            <a:off x="7000875" y="383857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365C76"/>
                </a:solidFill>
                <a:latin typeface="Yu Gothic"/>
                <a:ea typeface="Yu Gothic"/>
                <a:cs typeface="Yu Gothic"/>
              </a:defRPr>
            </a:pPr>
            <a:r>
              <a:rPr sz="2175" b="1">
                <a:solidFill>
                  <a:srgbClr val="365C76"/>
                </a:solidFill>
                <a:latin typeface="Yu Gothic"/>
                <a:ea typeface="Yu Gothic"/>
                <a:cs typeface="Yu Gothic"/>
              </a:rPr>
              <a:t>必要な道具を選択</a:t>
            </a:r>
          </a:p>
        </p:txBody>
      </p:sp>
      <p:sp>
        <p:nvSpPr>
          <p:cNvPr id="6" name="">
            <a:extLst xmlns:a="http://schemas.openxmlformats.org/drawingml/2006/main">
              <a:ext uri="{FF2B5EF4-FFF2-40B4-BE49-F238E27FC236}">
                <a16:creationId xmlns:a16="http://schemas.microsoft.com/office/drawing/2014/main" id="{259314EE-84A7-4C93-BAC0-6DF83F9A1BCB}"/>
              </a:ext>
            </a:extLst>
          </p:cNvPr>
          <p:cNvSpPr>
            <a:spLocks xmlns:a="http://schemas.openxmlformats.org/drawingml/2006/main" noGrp="1"/>
          </p:cNvSpPr>
          <p:nvPr/>
        </p:nvSpPr>
        <p:spPr>
          <a:xfrm xmlns:a="http://schemas.openxmlformats.org/drawingml/2006/main">
            <a:off x="7000875" y="465772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365C76"/>
                </a:solidFill>
                <a:latin typeface="Yu Gothic"/>
                <a:ea typeface="Yu Gothic"/>
                <a:cs typeface="Yu Gothic"/>
              </a:defRPr>
            </a:pPr>
            <a:r>
              <a:rPr sz="2175" b="1">
                <a:solidFill>
                  <a:srgbClr val="365C76"/>
                </a:solidFill>
                <a:latin typeface="Yu Gothic"/>
                <a:ea typeface="Yu Gothic"/>
                <a:cs typeface="Yu Gothic"/>
              </a:rPr>
              <a:t>重要な曖昧さだけ確認</a:t>
            </a:r>
          </a:p>
        </p:txBody>
      </p:sp>
      <p:sp>
        <p:nvSpPr>
          <p:cNvPr id="7" name="">
            <a:extLst xmlns:a="http://schemas.openxmlformats.org/drawingml/2006/main">
              <a:ext uri="{FF2B5EF4-FFF2-40B4-BE49-F238E27FC236}">
                <a16:creationId xmlns:a16="http://schemas.microsoft.com/office/drawing/2014/main" id="{1A3B3CE6-FA0A-4E70-B4E7-2BAC71F1C081}"/>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07 / 38</a:t>
            </a:r>
          </a:p>
        </p:txBody>
      </p:sp>
    </p:spTree>
    <p:extLst>
      <p:ext uri="{BB962C8B-B14F-4D97-AF65-F5344CB8AC3E}">
        <p14:creationId xmlns:p14="http://schemas.microsoft.com/office/powerpoint/2010/main" val="112043302"/>
      </p:ext>
    </p:extLst>
  </p:cSld>
</p:sld>
</file>

<file path=ppt/slides/slide8.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E877D72-65FC-4B00-98FF-810E415AF185}"/>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Astraとは何か</a:t>
            </a:r>
          </a:p>
        </p:txBody>
      </p:sp>
      <p:sp>
        <p:nvSpPr>
          <p:cNvPr id="2" name="">
            <a:extLst xmlns:a="http://schemas.openxmlformats.org/drawingml/2006/main">
              <a:ext uri="{FF2B5EF4-FFF2-40B4-BE49-F238E27FC236}">
                <a16:creationId xmlns:a16="http://schemas.microsoft.com/office/drawing/2014/main" id="{1B78799D-8844-47A4-9E13-E29D23B97CB0}"/>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GPT-6の役割分担</a:t>
            </a:r>
          </a:p>
        </p:txBody>
      </p:sp>
      <p:sp>
        <p:nvSpPr>
          <p:cNvPr id="3" name="">
            <a:extLst xmlns:a="http://schemas.openxmlformats.org/drawingml/2006/main">
              <a:ext uri="{FF2B5EF4-FFF2-40B4-BE49-F238E27FC236}">
                <a16:creationId xmlns:a16="http://schemas.microsoft.com/office/drawing/2014/main" id="{0860EE38-BA83-4A8E-A792-38ABEFEA1562}"/>
              </a:ext>
            </a:extLst>
          </p:cNvPr>
          <p:cNvSpPr>
            <a:spLocks xmlns:a="http://schemas.openxmlformats.org/drawingml/2006/main" noGrp="1"/>
          </p:cNvSpPr>
          <p:nvPr/>
        </p:nvSpPr>
        <p:spPr>
          <a:xfrm xmlns:a="http://schemas.openxmlformats.org/drawingml/2006/main">
            <a:off x="723900" y="25908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0D2A43"/>
                </a:solidFill>
                <a:latin typeface="Yu Gothic"/>
                <a:ea typeface="Yu Gothic"/>
                <a:cs typeface="Yu Gothic"/>
              </a:defRPr>
            </a:pPr>
            <a:r>
              <a:rPr sz="2850" b="1">
                <a:solidFill>
                  <a:srgbClr val="0D2A43"/>
                </a:solidFill>
                <a:latin typeface="Yu Gothic"/>
                <a:ea typeface="Yu Gothic"/>
                <a:cs typeface="Yu Gothic"/>
              </a:rPr>
              <a:t>難題はAstra、普段はSol、大量処理はLuna</a:t>
            </a:r>
          </a:p>
        </p:txBody>
      </p:sp>
      <p:sp>
        <p:nvSpPr>
          <p:cNvPr id="4" name="">
            <a:extLst xmlns:a="http://schemas.openxmlformats.org/drawingml/2006/main">
              <a:ext uri="{FF2B5EF4-FFF2-40B4-BE49-F238E27FC236}">
                <a16:creationId xmlns:a16="http://schemas.microsoft.com/office/drawing/2014/main" id="{74439E11-8B5C-424E-952F-4418D9016144}"/>
              </a:ext>
            </a:extLst>
          </p:cNvPr>
          <p:cNvSpPr>
            <a:spLocks xmlns:a="http://schemas.openxmlformats.org/drawingml/2006/main" noGrp="1"/>
          </p:cNvSpPr>
          <p:nvPr/>
        </p:nvSpPr>
        <p:spPr>
          <a:xfrm xmlns:a="http://schemas.openxmlformats.org/drawingml/2006/main">
            <a:off x="723900" y="3876675"/>
            <a:ext cx="3105150" cy="18764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5" name="">
            <a:extLst xmlns:a="http://schemas.openxmlformats.org/drawingml/2006/main">
              <a:ext uri="{FF2B5EF4-FFF2-40B4-BE49-F238E27FC236}">
                <a16:creationId xmlns:a16="http://schemas.microsoft.com/office/drawing/2014/main" id="{55EC2310-559B-477C-BFBA-ADB197C66363}"/>
              </a:ext>
            </a:extLst>
          </p:cNvPr>
          <p:cNvSpPr>
            <a:spLocks xmlns:a="http://schemas.openxmlformats.org/drawingml/2006/main" noGrp="1"/>
          </p:cNvSpPr>
          <p:nvPr/>
        </p:nvSpPr>
        <p:spPr>
          <a:xfrm xmlns:a="http://schemas.openxmlformats.org/drawingml/2006/main">
            <a:off x="904875"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7537F837-B2CB-4351-9659-C82E7B797780}"/>
              </a:ext>
            </a:extLst>
          </p:cNvPr>
          <p:cNvSpPr>
            <a:spLocks xmlns:a="http://schemas.openxmlformats.org/drawingml/2006/main" noGrp="1"/>
          </p:cNvSpPr>
          <p:nvPr/>
        </p:nvSpPr>
        <p:spPr>
          <a:xfrm xmlns:a="http://schemas.openxmlformats.org/drawingml/2006/main">
            <a:off x="923925" y="4429125"/>
            <a:ext cx="2705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Astra</a:t>
            </a:r>
          </a:p>
        </p:txBody>
      </p:sp>
      <p:sp>
        <p:nvSpPr>
          <p:cNvPr id="7" name="">
            <a:extLst xmlns:a="http://schemas.openxmlformats.org/drawingml/2006/main">
              <a:ext uri="{FF2B5EF4-FFF2-40B4-BE49-F238E27FC236}">
                <a16:creationId xmlns:a16="http://schemas.microsoft.com/office/drawing/2014/main" id="{C7206DBD-1849-4441-AA50-4F9FF013ACF2}"/>
              </a:ext>
            </a:extLst>
          </p:cNvPr>
          <p:cNvSpPr>
            <a:spLocks xmlns:a="http://schemas.openxmlformats.org/drawingml/2006/main" noGrp="1"/>
          </p:cNvSpPr>
          <p:nvPr/>
        </p:nvSpPr>
        <p:spPr>
          <a:xfrm xmlns:a="http://schemas.openxmlformats.org/drawingml/2006/main">
            <a:off x="923925" y="5000625"/>
            <a:ext cx="270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365C76"/>
                </a:solidFill>
                <a:latin typeface="Yu Gothic"/>
                <a:ea typeface="Yu Gothic"/>
                <a:cs typeface="Yu Gothic"/>
              </a:defRPr>
            </a:pPr>
            <a:r>
              <a:rPr sz="1650" b="1">
                <a:solidFill>
                  <a:srgbClr val="365C76"/>
                </a:solidFill>
                <a:latin typeface="Yu Gothic"/>
                <a:ea typeface="Yu Gothic"/>
                <a:cs typeface="Yu Gothic"/>
              </a:rPr>
              <a:t>難題の設計</a:t>
            </a:r>
          </a:p>
        </p:txBody>
      </p:sp>
      <p:sp>
        <p:nvSpPr>
          <p:cNvPr id="8" name="">
            <a:extLst xmlns:a="http://schemas.openxmlformats.org/drawingml/2006/main">
              <a:ext uri="{FF2B5EF4-FFF2-40B4-BE49-F238E27FC236}">
                <a16:creationId xmlns:a16="http://schemas.microsoft.com/office/drawing/2014/main" id="{5C284DFD-AD2A-4ED1-91A3-5F0C0B17894D}"/>
              </a:ext>
            </a:extLst>
          </p:cNvPr>
          <p:cNvSpPr>
            <a:spLocks xmlns:a="http://schemas.openxmlformats.org/drawingml/2006/main" noGrp="1"/>
          </p:cNvSpPr>
          <p:nvPr/>
        </p:nvSpPr>
        <p:spPr>
          <a:xfrm xmlns:a="http://schemas.openxmlformats.org/drawingml/2006/main">
            <a:off x="3924300" y="4514850"/>
            <a:ext cx="52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129"/>
          </a:bodyPr>
          <a:lstStyle xmlns:a="http://schemas.openxmlformats.org/drawingml/2006/main"/>
          <a:p xmlns:a="http://schemas.openxmlformats.org/drawingml/2006/main">
            <a:pPr>
              <a:defRPr sz="3225" b="1">
                <a:solidFill>
                  <a:srgbClr val="2A77A3"/>
                </a:solidFill>
                <a:latin typeface="Yu Gothic"/>
                <a:ea typeface="Yu Gothic"/>
                <a:cs typeface="Yu Gothic"/>
              </a:defRPr>
            </a:pPr>
            <a:r>
              <a:rPr sz="3225" b="1">
                <a:solidFill>
                  <a:srgbClr val="2A77A3"/>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FD2BC843-D2E1-4625-9924-A115004F03B0}"/>
              </a:ext>
            </a:extLst>
          </p:cNvPr>
          <p:cNvSpPr>
            <a:spLocks xmlns:a="http://schemas.openxmlformats.org/drawingml/2006/main" noGrp="1"/>
          </p:cNvSpPr>
          <p:nvPr/>
        </p:nvSpPr>
        <p:spPr>
          <a:xfrm xmlns:a="http://schemas.openxmlformats.org/drawingml/2006/main">
            <a:off x="4448175" y="3876675"/>
            <a:ext cx="3105150" cy="18764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10" name="">
            <a:extLst xmlns:a="http://schemas.openxmlformats.org/drawingml/2006/main">
              <a:ext uri="{FF2B5EF4-FFF2-40B4-BE49-F238E27FC236}">
                <a16:creationId xmlns:a16="http://schemas.microsoft.com/office/drawing/2014/main" id="{4D0032D2-E144-4861-8AC2-CBB7ED2FC774}"/>
              </a:ext>
            </a:extLst>
          </p:cNvPr>
          <p:cNvSpPr>
            <a:spLocks xmlns:a="http://schemas.openxmlformats.org/drawingml/2006/main" noGrp="1"/>
          </p:cNvSpPr>
          <p:nvPr/>
        </p:nvSpPr>
        <p:spPr>
          <a:xfrm xmlns:a="http://schemas.openxmlformats.org/drawingml/2006/main">
            <a:off x="4629150"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02</a:t>
            </a:r>
          </a:p>
        </p:txBody>
      </p:sp>
      <p:sp>
        <p:nvSpPr>
          <p:cNvPr id="11" name="">
            <a:extLst xmlns:a="http://schemas.openxmlformats.org/drawingml/2006/main">
              <a:ext uri="{FF2B5EF4-FFF2-40B4-BE49-F238E27FC236}">
                <a16:creationId xmlns:a16="http://schemas.microsoft.com/office/drawing/2014/main" id="{FBD81FEE-8947-4413-833B-9EC3F0D1E619}"/>
              </a:ext>
            </a:extLst>
          </p:cNvPr>
          <p:cNvSpPr>
            <a:spLocks xmlns:a="http://schemas.openxmlformats.org/drawingml/2006/main" noGrp="1"/>
          </p:cNvSpPr>
          <p:nvPr/>
        </p:nvSpPr>
        <p:spPr>
          <a:xfrm xmlns:a="http://schemas.openxmlformats.org/drawingml/2006/main">
            <a:off x="4648200" y="4429125"/>
            <a:ext cx="2705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Sol</a:t>
            </a:r>
          </a:p>
        </p:txBody>
      </p:sp>
      <p:sp>
        <p:nvSpPr>
          <p:cNvPr id="12" name="">
            <a:extLst xmlns:a="http://schemas.openxmlformats.org/drawingml/2006/main">
              <a:ext uri="{FF2B5EF4-FFF2-40B4-BE49-F238E27FC236}">
                <a16:creationId xmlns:a16="http://schemas.microsoft.com/office/drawing/2014/main" id="{470AA976-FA69-4DB4-B2CC-57C4A238D5B0}"/>
              </a:ext>
            </a:extLst>
          </p:cNvPr>
          <p:cNvSpPr>
            <a:spLocks xmlns:a="http://schemas.openxmlformats.org/drawingml/2006/main" noGrp="1"/>
          </p:cNvSpPr>
          <p:nvPr/>
        </p:nvSpPr>
        <p:spPr>
          <a:xfrm xmlns:a="http://schemas.openxmlformats.org/drawingml/2006/main">
            <a:off x="4648200" y="5000625"/>
            <a:ext cx="270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365C76"/>
                </a:solidFill>
                <a:latin typeface="Yu Gothic"/>
                <a:ea typeface="Yu Gothic"/>
                <a:cs typeface="Yu Gothic"/>
              </a:defRPr>
            </a:pPr>
            <a:r>
              <a:rPr sz="1650" b="1">
                <a:solidFill>
                  <a:srgbClr val="365C76"/>
                </a:solidFill>
                <a:latin typeface="Yu Gothic"/>
                <a:ea typeface="Yu Gothic"/>
                <a:cs typeface="Yu Gothic"/>
              </a:rPr>
              <a:t>日々の実務</a:t>
            </a:r>
          </a:p>
        </p:txBody>
      </p:sp>
      <p:sp>
        <p:nvSpPr>
          <p:cNvPr id="13" name="">
            <a:extLst xmlns:a="http://schemas.openxmlformats.org/drawingml/2006/main">
              <a:ext uri="{FF2B5EF4-FFF2-40B4-BE49-F238E27FC236}">
                <a16:creationId xmlns:a16="http://schemas.microsoft.com/office/drawing/2014/main" id="{46F7722D-60F9-4AEB-99F3-B8F1289065BF}"/>
              </a:ext>
            </a:extLst>
          </p:cNvPr>
          <p:cNvSpPr>
            <a:spLocks xmlns:a="http://schemas.openxmlformats.org/drawingml/2006/main" noGrp="1"/>
          </p:cNvSpPr>
          <p:nvPr/>
        </p:nvSpPr>
        <p:spPr>
          <a:xfrm xmlns:a="http://schemas.openxmlformats.org/drawingml/2006/main">
            <a:off x="7648575" y="4514850"/>
            <a:ext cx="52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129"/>
          </a:bodyPr>
          <a:lstStyle xmlns:a="http://schemas.openxmlformats.org/drawingml/2006/main"/>
          <a:p xmlns:a="http://schemas.openxmlformats.org/drawingml/2006/main">
            <a:pPr>
              <a:defRPr sz="3225" b="1">
                <a:solidFill>
                  <a:srgbClr val="2A77A3"/>
                </a:solidFill>
                <a:latin typeface="Yu Gothic"/>
                <a:ea typeface="Yu Gothic"/>
                <a:cs typeface="Yu Gothic"/>
              </a:defRPr>
            </a:pPr>
            <a:r>
              <a:rPr sz="3225" b="1">
                <a:solidFill>
                  <a:srgbClr val="2A77A3"/>
                </a:solidFill>
                <a:latin typeface="Yu Gothic"/>
                <a:ea typeface="Yu Gothic"/>
                <a:cs typeface="Yu Gothic"/>
              </a:rPr>
              <a:t>→</a:t>
            </a:r>
          </a:p>
        </p:txBody>
      </p:sp>
      <p:sp>
        <p:nvSpPr>
          <p:cNvPr id="14" name="">
            <a:extLst xmlns:a="http://schemas.openxmlformats.org/drawingml/2006/main">
              <a:ext uri="{FF2B5EF4-FFF2-40B4-BE49-F238E27FC236}">
                <a16:creationId xmlns:a16="http://schemas.microsoft.com/office/drawing/2014/main" id="{6026F400-6060-4DAF-90DD-DFF45425FE26}"/>
              </a:ext>
            </a:extLst>
          </p:cNvPr>
          <p:cNvSpPr>
            <a:spLocks xmlns:a="http://schemas.openxmlformats.org/drawingml/2006/main" noGrp="1"/>
          </p:cNvSpPr>
          <p:nvPr/>
        </p:nvSpPr>
        <p:spPr>
          <a:xfrm xmlns:a="http://schemas.openxmlformats.org/drawingml/2006/main">
            <a:off x="8172450" y="3876675"/>
            <a:ext cx="3105150" cy="1876425"/>
          </a:xfrm>
          <a:prstGeom xmlns:a="http://schemas.openxmlformats.org/drawingml/2006/main" prst="rect">
            <a:avLst/>
          </a:prstGeom>
          <a:solidFill xmlns:a="http://schemas.openxmlformats.org/drawingml/2006/main">
            <a:srgbClr val="D7EEF8"/>
          </a:solidFill>
          <a:ln xmlns:a="http://schemas.openxmlformats.org/drawingml/2006/main" w="19050">
            <a:solidFill>
              <a:srgbClr val="2A77A3"/>
            </a:solidFill>
          </a:ln>
        </p:spPr>
      </p:sp>
      <p:sp>
        <p:nvSpPr>
          <p:cNvPr id="15" name="">
            <a:extLst xmlns:a="http://schemas.openxmlformats.org/drawingml/2006/main">
              <a:ext uri="{FF2B5EF4-FFF2-40B4-BE49-F238E27FC236}">
                <a16:creationId xmlns:a16="http://schemas.microsoft.com/office/drawing/2014/main" id="{60D850C6-8A3B-443F-9288-97BA7E366AAB}"/>
              </a:ext>
            </a:extLst>
          </p:cNvPr>
          <p:cNvSpPr>
            <a:spLocks xmlns:a="http://schemas.openxmlformats.org/drawingml/2006/main" noGrp="1"/>
          </p:cNvSpPr>
          <p:nvPr/>
        </p:nvSpPr>
        <p:spPr>
          <a:xfrm xmlns:a="http://schemas.openxmlformats.org/drawingml/2006/main">
            <a:off x="8353425"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03</a:t>
            </a:r>
          </a:p>
        </p:txBody>
      </p:sp>
      <p:sp>
        <p:nvSpPr>
          <p:cNvPr id="16" name="">
            <a:extLst xmlns:a="http://schemas.openxmlformats.org/drawingml/2006/main">
              <a:ext uri="{FF2B5EF4-FFF2-40B4-BE49-F238E27FC236}">
                <a16:creationId xmlns:a16="http://schemas.microsoft.com/office/drawing/2014/main" id="{ADA44B48-B183-4AD0-91D7-3B5747CF9131}"/>
              </a:ext>
            </a:extLst>
          </p:cNvPr>
          <p:cNvSpPr>
            <a:spLocks xmlns:a="http://schemas.openxmlformats.org/drawingml/2006/main" noGrp="1"/>
          </p:cNvSpPr>
          <p:nvPr/>
        </p:nvSpPr>
        <p:spPr>
          <a:xfrm xmlns:a="http://schemas.openxmlformats.org/drawingml/2006/main">
            <a:off x="8372475" y="4429125"/>
            <a:ext cx="2705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Luna</a:t>
            </a:r>
          </a:p>
        </p:txBody>
      </p:sp>
      <p:sp>
        <p:nvSpPr>
          <p:cNvPr id="17" name="">
            <a:extLst xmlns:a="http://schemas.openxmlformats.org/drawingml/2006/main">
              <a:ext uri="{FF2B5EF4-FFF2-40B4-BE49-F238E27FC236}">
                <a16:creationId xmlns:a16="http://schemas.microsoft.com/office/drawing/2014/main" id="{6B906D5D-9650-41CA-8CD7-327003748F4C}"/>
              </a:ext>
            </a:extLst>
          </p:cNvPr>
          <p:cNvSpPr>
            <a:spLocks xmlns:a="http://schemas.openxmlformats.org/drawingml/2006/main" noGrp="1"/>
          </p:cNvSpPr>
          <p:nvPr/>
        </p:nvSpPr>
        <p:spPr>
          <a:xfrm xmlns:a="http://schemas.openxmlformats.org/drawingml/2006/main">
            <a:off x="8372475" y="5000625"/>
            <a:ext cx="270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365C76"/>
                </a:solidFill>
                <a:latin typeface="Yu Gothic"/>
                <a:ea typeface="Yu Gothic"/>
                <a:cs typeface="Yu Gothic"/>
              </a:defRPr>
            </a:pPr>
            <a:r>
              <a:rPr sz="1650" b="1">
                <a:solidFill>
                  <a:srgbClr val="365C76"/>
                </a:solidFill>
                <a:latin typeface="Yu Gothic"/>
                <a:ea typeface="Yu Gothic"/>
                <a:cs typeface="Yu Gothic"/>
              </a:rPr>
              <a:t>定型の大量処理</a:t>
            </a:r>
          </a:p>
        </p:txBody>
      </p:sp>
      <p:sp>
        <p:nvSpPr>
          <p:cNvPr id="18" name="">
            <a:extLst xmlns:a="http://schemas.openxmlformats.org/drawingml/2006/main">
              <a:ext uri="{FF2B5EF4-FFF2-40B4-BE49-F238E27FC236}">
                <a16:creationId xmlns:a16="http://schemas.microsoft.com/office/drawing/2014/main" id="{C8668D0F-D128-4216-B49E-5091E283729A}"/>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08 / 38</a:t>
            </a:r>
          </a:p>
        </p:txBody>
      </p:sp>
    </p:spTree>
    <p:extLst>
      <p:ext uri="{BB962C8B-B14F-4D97-AF65-F5344CB8AC3E}">
        <p14:creationId xmlns:p14="http://schemas.microsoft.com/office/powerpoint/2010/main" val="996576497"/>
      </p:ext>
    </p:extLst>
  </p:cSld>
</p:sld>
</file>

<file path=ppt/slides/slide9.xml><?xml version="1.0" encoding="utf-8"?>
<p:sld xmlns:p="http://schemas.openxmlformats.org/presentationml/2006/main">
  <p:cSld>
    <p:bg>
      <p:bgPr>
        <a:solidFill xmlns:a="http://schemas.openxmlformats.org/drawingml/2006/main">
          <a:srgbClr val="E1F2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22CE3E-BA91-4BCA-AD1B-7AFE769C89B1}"/>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Astraとは何か</a:t>
            </a:r>
          </a:p>
        </p:txBody>
      </p:sp>
      <p:sp>
        <p:nvSpPr>
          <p:cNvPr id="2" name="">
            <a:extLst xmlns:a="http://schemas.openxmlformats.org/drawingml/2006/main">
              <a:ext uri="{FF2B5EF4-FFF2-40B4-BE49-F238E27FC236}">
                <a16:creationId xmlns:a16="http://schemas.microsoft.com/office/drawing/2014/main" id="{C8698AC6-D43F-413D-9C39-02D7D1D46940}"/>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Astraの基本仕様</a:t>
            </a:r>
          </a:p>
        </p:txBody>
      </p:sp>
      <p:sp>
        <p:nvSpPr>
          <p:cNvPr id="3" name="">
            <a:extLst xmlns:a="http://schemas.openxmlformats.org/drawingml/2006/main">
              <a:ext uri="{FF2B5EF4-FFF2-40B4-BE49-F238E27FC236}">
                <a16:creationId xmlns:a16="http://schemas.microsoft.com/office/drawing/2014/main" id="{0B0C417C-2A28-4831-8794-9E3993080139}"/>
              </a:ext>
            </a:extLst>
          </p:cNvPr>
          <p:cNvSpPr>
            <a:spLocks xmlns:a="http://schemas.openxmlformats.org/drawingml/2006/main" noGrp="1"/>
          </p:cNvSpPr>
          <p:nvPr/>
        </p:nvSpPr>
        <p:spPr>
          <a:xfrm xmlns:a="http://schemas.openxmlformats.org/drawingml/2006/main">
            <a:off x="723900" y="2524125"/>
            <a:ext cx="10668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D2A43"/>
                </a:solidFill>
                <a:latin typeface="Yu Gothic"/>
                <a:ea typeface="Yu Gothic"/>
                <a:cs typeface="Yu Gothic"/>
              </a:defRPr>
            </a:pPr>
            <a:r>
              <a:rPr sz="3000" b="1">
                <a:solidFill>
                  <a:srgbClr val="0D2A43"/>
                </a:solidFill>
                <a:latin typeface="Yu Gothic"/>
                <a:ea typeface="Yu Gothic"/>
                <a:cs typeface="Yu Gothic"/>
              </a:rPr>
              <a:t>長い文脈と大きな出力を扱える</a:t>
            </a:r>
          </a:p>
        </p:txBody>
      </p:sp>
      <p:sp>
        <p:nvSpPr>
          <p:cNvPr id="4" name="">
            <a:extLst xmlns:a="http://schemas.openxmlformats.org/drawingml/2006/main">
              <a:ext uri="{FF2B5EF4-FFF2-40B4-BE49-F238E27FC236}">
                <a16:creationId xmlns:a16="http://schemas.microsoft.com/office/drawing/2014/main" id="{ED7A1E0B-505A-4E88-BF54-BBB4F63D09F6}"/>
              </a:ext>
            </a:extLst>
          </p:cNvPr>
          <p:cNvSpPr>
            <a:spLocks xmlns:a="http://schemas.openxmlformats.org/drawingml/2006/main" noGrp="1"/>
          </p:cNvSpPr>
          <p:nvPr/>
        </p:nvSpPr>
        <p:spPr>
          <a:xfrm xmlns:a="http://schemas.openxmlformats.org/drawingml/2006/main">
            <a:off x="723900" y="4286250"/>
            <a:ext cx="3571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6"/>
          </a:bodyPr>
          <a:lstStyle xmlns:a="http://schemas.openxmlformats.org/drawingml/2006/main"/>
          <a:p xmlns:a="http://schemas.openxmlformats.org/drawingml/2006/main">
            <a:pPr>
              <a:defRPr sz="2850" b="1">
                <a:solidFill>
                  <a:srgbClr val="2A77A3"/>
                </a:solidFill>
                <a:latin typeface="Yu Gothic"/>
                <a:ea typeface="Yu Gothic"/>
                <a:cs typeface="Yu Gothic"/>
              </a:defRPr>
            </a:pPr>
            <a:r>
              <a:rPr sz="2850" b="1">
                <a:solidFill>
                  <a:srgbClr val="2A77A3"/>
                </a:solidFill>
                <a:latin typeface="Yu Gothic"/>
                <a:ea typeface="Yu Gothic"/>
                <a:cs typeface="Yu Gothic"/>
              </a:rPr>
              <a:t>入力文脈 105万トークン</a:t>
            </a:r>
          </a:p>
        </p:txBody>
      </p:sp>
      <p:sp>
        <p:nvSpPr>
          <p:cNvPr id="5" name="">
            <a:extLst xmlns:a="http://schemas.openxmlformats.org/drawingml/2006/main">
              <a:ext uri="{FF2B5EF4-FFF2-40B4-BE49-F238E27FC236}">
                <a16:creationId xmlns:a16="http://schemas.microsoft.com/office/drawing/2014/main" id="{2142439F-0440-4E04-953C-49449732D9B9}"/>
              </a:ext>
            </a:extLst>
          </p:cNvPr>
          <p:cNvSpPr>
            <a:spLocks xmlns:a="http://schemas.openxmlformats.org/drawingml/2006/main" noGrp="1"/>
          </p:cNvSpPr>
          <p:nvPr/>
        </p:nvSpPr>
        <p:spPr>
          <a:xfrm xmlns:a="http://schemas.openxmlformats.org/drawingml/2006/main">
            <a:off x="4486275" y="4286250"/>
            <a:ext cx="3571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579"/>
          </a:bodyPr>
          <a:lstStyle xmlns:a="http://schemas.openxmlformats.org/drawingml/2006/main"/>
          <a:p xmlns:a="http://schemas.openxmlformats.org/drawingml/2006/main">
            <a:pPr>
              <a:defRPr sz="2850" b="1">
                <a:solidFill>
                  <a:srgbClr val="2A77A3"/>
                </a:solidFill>
                <a:latin typeface="Yu Gothic"/>
                <a:ea typeface="Yu Gothic"/>
                <a:cs typeface="Yu Gothic"/>
              </a:defRPr>
            </a:pPr>
            <a:r>
              <a:rPr sz="2850" b="1">
                <a:solidFill>
                  <a:srgbClr val="2A77A3"/>
                </a:solidFill>
                <a:latin typeface="Yu Gothic"/>
                <a:ea typeface="Yu Gothic"/>
                <a:cs typeface="Yu Gothic"/>
              </a:rPr>
              <a:t>最大出力 12万8千トークン</a:t>
            </a:r>
          </a:p>
        </p:txBody>
      </p:sp>
      <p:sp>
        <p:nvSpPr>
          <p:cNvPr id="6" name="">
            <a:extLst xmlns:a="http://schemas.openxmlformats.org/drawingml/2006/main">
              <a:ext uri="{FF2B5EF4-FFF2-40B4-BE49-F238E27FC236}">
                <a16:creationId xmlns:a16="http://schemas.microsoft.com/office/drawing/2014/main" id="{559009A4-D8BB-42E9-87E7-725F3701249B}"/>
              </a:ext>
            </a:extLst>
          </p:cNvPr>
          <p:cNvSpPr>
            <a:spLocks xmlns:a="http://schemas.openxmlformats.org/drawingml/2006/main" noGrp="1"/>
          </p:cNvSpPr>
          <p:nvPr/>
        </p:nvSpPr>
        <p:spPr>
          <a:xfrm xmlns:a="http://schemas.openxmlformats.org/drawingml/2006/main">
            <a:off x="8248650" y="4286250"/>
            <a:ext cx="3571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6"/>
          </a:bodyPr>
          <a:lstStyle xmlns:a="http://schemas.openxmlformats.org/drawingml/2006/main"/>
          <a:p xmlns:a="http://schemas.openxmlformats.org/drawingml/2006/main">
            <a:pPr>
              <a:defRPr sz="2850" b="1">
                <a:solidFill>
                  <a:srgbClr val="2A77A3"/>
                </a:solidFill>
                <a:latin typeface="Yu Gothic"/>
                <a:ea typeface="Yu Gothic"/>
                <a:cs typeface="Yu Gothic"/>
              </a:defRPr>
            </a:pPr>
            <a:r>
              <a:rPr sz="2850" b="1">
                <a:solidFill>
                  <a:srgbClr val="2A77A3"/>
                </a:solidFill>
                <a:latin typeface="Yu Gothic"/>
                <a:ea typeface="Yu Gothic"/>
                <a:cs typeface="Yu Gothic"/>
              </a:rPr>
              <a:t>画像入力・テキスト出力</a:t>
            </a:r>
          </a:p>
        </p:txBody>
      </p:sp>
      <p:sp>
        <p:nvSpPr>
          <p:cNvPr id="7" name="">
            <a:extLst xmlns:a="http://schemas.openxmlformats.org/drawingml/2006/main">
              <a:ext uri="{FF2B5EF4-FFF2-40B4-BE49-F238E27FC236}">
                <a16:creationId xmlns:a16="http://schemas.microsoft.com/office/drawing/2014/main" id="{52E2EB5C-315B-4AC6-B787-3C6CF1711480}"/>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09 / 38</a:t>
            </a:r>
          </a:p>
        </p:txBody>
      </p:sp>
    </p:spTree>
    <p:extLst>
      <p:ext uri="{BB962C8B-B14F-4D97-AF65-F5344CB8AC3E}">
        <p14:creationId xmlns:p14="http://schemas.microsoft.com/office/powerpoint/2010/main" val="1864852388"/>
      </p:ext>
    </p:extLst>
  </p:cSld>
</p:sld>
</file>

<file path=ppt/slides/slide10.xml><?xml version="1.0" encoding="utf-8"?>
<p:sld xmlns:p="http://schemas.openxmlformats.org/presentationml/2006/main">
  <p:cSld>
    <p:bg>
      <p:bgPr>
        <a:solidFill xmlns:a="http://schemas.openxmlformats.org/drawingml/2006/main">
          <a:srgbClr val="EDF7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ECDEA4-1443-40EB-A70B-AE3AC7ED9D6D}"/>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Astraとは何か</a:t>
            </a:r>
          </a:p>
        </p:txBody>
      </p:sp>
      <p:sp>
        <p:nvSpPr>
          <p:cNvPr id="2" name="">
            <a:extLst xmlns:a="http://schemas.openxmlformats.org/drawingml/2006/main">
              <a:ext uri="{FF2B5EF4-FFF2-40B4-BE49-F238E27FC236}">
                <a16:creationId xmlns:a16="http://schemas.microsoft.com/office/drawing/2014/main" id="{8B553BE9-3136-453B-92B1-8D9EE22C0D55}"/>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100万トークンの考え方</a:t>
            </a:r>
          </a:p>
        </p:txBody>
      </p:sp>
      <p:sp>
        <p:nvSpPr>
          <p:cNvPr id="3" name="">
            <a:extLst xmlns:a="http://schemas.openxmlformats.org/drawingml/2006/main">
              <a:ext uri="{FF2B5EF4-FFF2-40B4-BE49-F238E27FC236}">
                <a16:creationId xmlns:a16="http://schemas.microsoft.com/office/drawing/2014/main" id="{63A56326-012E-49D0-907C-4C2E44C4FB0B}"/>
              </a:ext>
            </a:extLst>
          </p:cNvPr>
          <p:cNvSpPr>
            <a:spLocks xmlns:a="http://schemas.openxmlformats.org/drawingml/2006/main" noGrp="1"/>
          </p:cNvSpPr>
          <p:nvPr/>
        </p:nvSpPr>
        <p:spPr>
          <a:xfrm xmlns:a="http://schemas.openxmlformats.org/drawingml/2006/main">
            <a:off x="723900" y="292417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4275" b="1">
                <a:solidFill>
                  <a:srgbClr val="2A77A3"/>
                </a:solidFill>
                <a:latin typeface="Yu Gothic"/>
                <a:ea typeface="Yu Gothic"/>
                <a:cs typeface="Yu Gothic"/>
              </a:defRPr>
            </a:pPr>
            <a:r>
              <a:rPr sz="4275" b="1">
                <a:solidFill>
                  <a:srgbClr val="2A77A3"/>
                </a:solidFill>
                <a:latin typeface="Yu Gothic"/>
                <a:ea typeface="Yu Gothic"/>
                <a:cs typeface="Yu Gothic"/>
              </a:rPr>
              <a:t>入る量より、渡す資料の選び方が大切</a:t>
            </a:r>
          </a:p>
        </p:txBody>
      </p:sp>
      <p:sp>
        <p:nvSpPr>
          <p:cNvPr id="4" name="">
            <a:extLst xmlns:a="http://schemas.openxmlformats.org/drawingml/2006/main">
              <a:ext uri="{FF2B5EF4-FFF2-40B4-BE49-F238E27FC236}">
                <a16:creationId xmlns:a16="http://schemas.microsoft.com/office/drawing/2014/main" id="{FA4F3B14-F810-4092-A0BF-FD7EF192E93D}"/>
              </a:ext>
            </a:extLst>
          </p:cNvPr>
          <p:cNvSpPr>
            <a:spLocks xmlns:a="http://schemas.openxmlformats.org/drawingml/2006/main" noGrp="1"/>
          </p:cNvSpPr>
          <p:nvPr/>
        </p:nvSpPr>
        <p:spPr>
          <a:xfrm xmlns:a="http://schemas.openxmlformats.org/drawingml/2006/main">
            <a:off x="723900" y="547687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a:solidFill>
                  <a:srgbClr val="365C76"/>
                </a:solidFill>
                <a:latin typeface="Yu Gothic"/>
                <a:ea typeface="Yu Gothic"/>
                <a:cs typeface="Yu Gothic"/>
              </a:defRPr>
            </a:pPr>
            <a:r>
              <a:rPr sz="1725" b="1">
                <a:solidFill>
                  <a:srgbClr val="365C76"/>
                </a:solidFill>
                <a:latin typeface="Yu Gothic"/>
                <a:ea typeface="Yu Gothic"/>
                <a:cs typeface="Yu Gothic"/>
              </a:rPr>
              <a:t>大量に入れられる　 / 　必要な情報を選ぶ　 / 　根拠を確かめる</a:t>
            </a:r>
          </a:p>
        </p:txBody>
      </p:sp>
      <p:sp>
        <p:nvSpPr>
          <p:cNvPr id="5" name="">
            <a:extLst xmlns:a="http://schemas.openxmlformats.org/drawingml/2006/main">
              <a:ext uri="{FF2B5EF4-FFF2-40B4-BE49-F238E27FC236}">
                <a16:creationId xmlns:a16="http://schemas.microsoft.com/office/drawing/2014/main" id="{26D4F38A-B0BF-4502-9C7B-1D696FD35050}"/>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10 / 38</a:t>
            </a:r>
          </a:p>
        </p:txBody>
      </p:sp>
    </p:spTree>
    <p:extLst>
      <p:ext uri="{BB962C8B-B14F-4D97-AF65-F5344CB8AC3E}">
        <p14:creationId xmlns:p14="http://schemas.microsoft.com/office/powerpoint/2010/main" val="1923777612"/>
      </p:ext>
    </p:extLst>
  </p:cSld>
</p:sld>
</file>

<file path=ppt/slides/slide11.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6389F84-F7A6-4D38-A5EB-3C46E7086501}"/>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Astraに何ができるか</a:t>
            </a:r>
          </a:p>
        </p:txBody>
      </p:sp>
      <p:sp>
        <p:nvSpPr>
          <p:cNvPr id="2" name="">
            <a:extLst xmlns:a="http://schemas.openxmlformats.org/drawingml/2006/main">
              <a:ext uri="{FF2B5EF4-FFF2-40B4-BE49-F238E27FC236}">
                <a16:creationId xmlns:a16="http://schemas.microsoft.com/office/drawing/2014/main" id="{9D32EA83-BD24-4F5A-AEDF-087F558A2FD0}"/>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Astraの道具箱</a:t>
            </a:r>
          </a:p>
        </p:txBody>
      </p:sp>
      <p:sp>
        <p:nvSpPr>
          <p:cNvPr id="3" name="">
            <a:extLst xmlns:a="http://schemas.openxmlformats.org/drawingml/2006/main">
              <a:ext uri="{FF2B5EF4-FFF2-40B4-BE49-F238E27FC236}">
                <a16:creationId xmlns:a16="http://schemas.microsoft.com/office/drawing/2014/main" id="{0E776B6E-396D-47B5-8422-2A19052A73AA}"/>
              </a:ext>
            </a:extLst>
          </p:cNvPr>
          <p:cNvSpPr>
            <a:spLocks xmlns:a="http://schemas.openxmlformats.org/drawingml/2006/main" noGrp="1"/>
          </p:cNvSpPr>
          <p:nvPr/>
        </p:nvSpPr>
        <p:spPr>
          <a:xfrm xmlns:a="http://schemas.openxmlformats.org/drawingml/2006/main">
            <a:off x="723900" y="25908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0D2A43"/>
                </a:solidFill>
                <a:latin typeface="Yu Gothic"/>
                <a:ea typeface="Yu Gothic"/>
                <a:cs typeface="Yu Gothic"/>
              </a:defRPr>
            </a:pPr>
            <a:r>
              <a:rPr sz="2850" b="1">
                <a:solidFill>
                  <a:srgbClr val="0D2A43"/>
                </a:solidFill>
                <a:latin typeface="Yu Gothic"/>
                <a:ea typeface="Yu Gothic"/>
                <a:cs typeface="Yu Gothic"/>
              </a:rPr>
              <a:t>検索・ファイル・コード・PC操作を組み合わせる</a:t>
            </a:r>
          </a:p>
        </p:txBody>
      </p:sp>
      <p:sp>
        <p:nvSpPr>
          <p:cNvPr id="4" name="">
            <a:extLst xmlns:a="http://schemas.openxmlformats.org/drawingml/2006/main">
              <a:ext uri="{FF2B5EF4-FFF2-40B4-BE49-F238E27FC236}">
                <a16:creationId xmlns:a16="http://schemas.microsoft.com/office/drawing/2014/main" id="{BB5FC8EE-B92D-4D3E-AF78-4F4628E82A74}"/>
              </a:ext>
            </a:extLst>
          </p:cNvPr>
          <p:cNvSpPr>
            <a:spLocks xmlns:a="http://schemas.openxmlformats.org/drawingml/2006/main" noGrp="1"/>
          </p:cNvSpPr>
          <p:nvPr/>
        </p:nvSpPr>
        <p:spPr>
          <a:xfrm xmlns:a="http://schemas.openxmlformats.org/drawingml/2006/main">
            <a:off x="723900" y="3600450"/>
            <a:ext cx="4762500" cy="1104900"/>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5" name="">
            <a:extLst xmlns:a="http://schemas.openxmlformats.org/drawingml/2006/main">
              <a:ext uri="{FF2B5EF4-FFF2-40B4-BE49-F238E27FC236}">
                <a16:creationId xmlns:a16="http://schemas.microsoft.com/office/drawing/2014/main" id="{37A06709-34A9-48B2-9403-A6814B8CFB0F}"/>
              </a:ext>
            </a:extLst>
          </p:cNvPr>
          <p:cNvSpPr>
            <a:spLocks xmlns:a="http://schemas.openxmlformats.org/drawingml/2006/main" noGrp="1"/>
          </p:cNvSpPr>
          <p:nvPr/>
        </p:nvSpPr>
        <p:spPr>
          <a:xfrm xmlns:a="http://schemas.openxmlformats.org/drawingml/2006/main">
            <a:off x="904875" y="375285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81F3C48B-6F80-426E-A6E0-D5827911C738}"/>
              </a:ext>
            </a:extLst>
          </p:cNvPr>
          <p:cNvSpPr>
            <a:spLocks xmlns:a="http://schemas.openxmlformats.org/drawingml/2006/main" noGrp="1"/>
          </p:cNvSpPr>
          <p:nvPr/>
        </p:nvSpPr>
        <p:spPr>
          <a:xfrm xmlns:a="http://schemas.openxmlformats.org/drawingml/2006/main">
            <a:off x="923925" y="4029075"/>
            <a:ext cx="4362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Web・ファイル検索</a:t>
            </a:r>
          </a:p>
        </p:txBody>
      </p:sp>
      <p:sp>
        <p:nvSpPr>
          <p:cNvPr id="7" name="">
            <a:extLst xmlns:a="http://schemas.openxmlformats.org/drawingml/2006/main">
              <a:ext uri="{FF2B5EF4-FFF2-40B4-BE49-F238E27FC236}">
                <a16:creationId xmlns:a16="http://schemas.microsoft.com/office/drawing/2014/main" id="{8676F792-1C6A-4A0D-8192-CABD7B8F8F1D}"/>
              </a:ext>
            </a:extLst>
          </p:cNvPr>
          <p:cNvSpPr>
            <a:spLocks xmlns:a="http://schemas.openxmlformats.org/drawingml/2006/main" noGrp="1"/>
          </p:cNvSpPr>
          <p:nvPr/>
        </p:nvSpPr>
        <p:spPr>
          <a:xfrm xmlns:a="http://schemas.openxmlformats.org/drawingml/2006/main">
            <a:off x="6724650" y="3600450"/>
            <a:ext cx="4762500" cy="1104900"/>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8" name="">
            <a:extLst xmlns:a="http://schemas.openxmlformats.org/drawingml/2006/main">
              <a:ext uri="{FF2B5EF4-FFF2-40B4-BE49-F238E27FC236}">
                <a16:creationId xmlns:a16="http://schemas.microsoft.com/office/drawing/2014/main" id="{D8F20644-925C-4E67-9BAB-FA5110601119}"/>
              </a:ext>
            </a:extLst>
          </p:cNvPr>
          <p:cNvSpPr>
            <a:spLocks xmlns:a="http://schemas.openxmlformats.org/drawingml/2006/main" noGrp="1"/>
          </p:cNvSpPr>
          <p:nvPr/>
        </p:nvSpPr>
        <p:spPr>
          <a:xfrm xmlns:a="http://schemas.openxmlformats.org/drawingml/2006/main">
            <a:off x="6905625" y="375285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02</a:t>
            </a:r>
          </a:p>
        </p:txBody>
      </p:sp>
      <p:sp>
        <p:nvSpPr>
          <p:cNvPr id="9" name="">
            <a:extLst xmlns:a="http://schemas.openxmlformats.org/drawingml/2006/main">
              <a:ext uri="{FF2B5EF4-FFF2-40B4-BE49-F238E27FC236}">
                <a16:creationId xmlns:a16="http://schemas.microsoft.com/office/drawing/2014/main" id="{22F464EF-C489-4823-931C-7BC16FC874B8}"/>
              </a:ext>
            </a:extLst>
          </p:cNvPr>
          <p:cNvSpPr>
            <a:spLocks xmlns:a="http://schemas.openxmlformats.org/drawingml/2006/main" noGrp="1"/>
          </p:cNvSpPr>
          <p:nvPr/>
        </p:nvSpPr>
        <p:spPr>
          <a:xfrm xmlns:a="http://schemas.openxmlformats.org/drawingml/2006/main">
            <a:off x="6924675" y="4029075"/>
            <a:ext cx="4362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コード実行・修正</a:t>
            </a:r>
          </a:p>
        </p:txBody>
      </p:sp>
      <p:sp>
        <p:nvSpPr>
          <p:cNvPr id="10" name="">
            <a:extLst xmlns:a="http://schemas.openxmlformats.org/drawingml/2006/main">
              <a:ext uri="{FF2B5EF4-FFF2-40B4-BE49-F238E27FC236}">
                <a16:creationId xmlns:a16="http://schemas.microsoft.com/office/drawing/2014/main" id="{861A1D7B-281E-4893-8627-237C71234D00}"/>
              </a:ext>
            </a:extLst>
          </p:cNvPr>
          <p:cNvSpPr>
            <a:spLocks xmlns:a="http://schemas.openxmlformats.org/drawingml/2006/main" noGrp="1"/>
          </p:cNvSpPr>
          <p:nvPr/>
        </p:nvSpPr>
        <p:spPr>
          <a:xfrm xmlns:a="http://schemas.openxmlformats.org/drawingml/2006/main">
            <a:off x="723900" y="5067300"/>
            <a:ext cx="4762500" cy="1104900"/>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11" name="">
            <a:extLst xmlns:a="http://schemas.openxmlformats.org/drawingml/2006/main">
              <a:ext uri="{FF2B5EF4-FFF2-40B4-BE49-F238E27FC236}">
                <a16:creationId xmlns:a16="http://schemas.microsoft.com/office/drawing/2014/main" id="{3E1D99B5-EB47-43B1-AE36-78ED77D62598}"/>
              </a:ext>
            </a:extLst>
          </p:cNvPr>
          <p:cNvSpPr>
            <a:spLocks xmlns:a="http://schemas.openxmlformats.org/drawingml/2006/main" noGrp="1"/>
          </p:cNvSpPr>
          <p:nvPr/>
        </p:nvSpPr>
        <p:spPr>
          <a:xfrm xmlns:a="http://schemas.openxmlformats.org/drawingml/2006/main">
            <a:off x="904875" y="52197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03</a:t>
            </a:r>
          </a:p>
        </p:txBody>
      </p:sp>
      <p:sp>
        <p:nvSpPr>
          <p:cNvPr id="12" name="">
            <a:extLst xmlns:a="http://schemas.openxmlformats.org/drawingml/2006/main">
              <a:ext uri="{FF2B5EF4-FFF2-40B4-BE49-F238E27FC236}">
                <a16:creationId xmlns:a16="http://schemas.microsoft.com/office/drawing/2014/main" id="{E9C10BC9-9D68-40F1-AE4C-06BADC277D1C}"/>
              </a:ext>
            </a:extLst>
          </p:cNvPr>
          <p:cNvSpPr>
            <a:spLocks xmlns:a="http://schemas.openxmlformats.org/drawingml/2006/main" noGrp="1"/>
          </p:cNvSpPr>
          <p:nvPr/>
        </p:nvSpPr>
        <p:spPr>
          <a:xfrm xmlns:a="http://schemas.openxmlformats.org/drawingml/2006/main">
            <a:off x="923925" y="5495925"/>
            <a:ext cx="4362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画像生成・PC操作</a:t>
            </a:r>
          </a:p>
        </p:txBody>
      </p:sp>
      <p:sp>
        <p:nvSpPr>
          <p:cNvPr id="13" name="">
            <a:extLst xmlns:a="http://schemas.openxmlformats.org/drawingml/2006/main">
              <a:ext uri="{FF2B5EF4-FFF2-40B4-BE49-F238E27FC236}">
                <a16:creationId xmlns:a16="http://schemas.microsoft.com/office/drawing/2014/main" id="{23886E92-BFAD-4D7C-89BD-0845D2ED8E2C}"/>
              </a:ext>
            </a:extLst>
          </p:cNvPr>
          <p:cNvSpPr>
            <a:spLocks xmlns:a="http://schemas.openxmlformats.org/drawingml/2006/main" noGrp="1"/>
          </p:cNvSpPr>
          <p:nvPr/>
        </p:nvSpPr>
        <p:spPr>
          <a:xfrm xmlns:a="http://schemas.openxmlformats.org/drawingml/2006/main">
            <a:off x="6724650" y="5067300"/>
            <a:ext cx="4762500" cy="1104900"/>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14" name="">
            <a:extLst xmlns:a="http://schemas.openxmlformats.org/drawingml/2006/main">
              <a:ext uri="{FF2B5EF4-FFF2-40B4-BE49-F238E27FC236}">
                <a16:creationId xmlns:a16="http://schemas.microsoft.com/office/drawing/2014/main" id="{F5FA29D2-AF63-47AF-945E-C344F1EF2B37}"/>
              </a:ext>
            </a:extLst>
          </p:cNvPr>
          <p:cNvSpPr>
            <a:spLocks xmlns:a="http://schemas.openxmlformats.org/drawingml/2006/main" noGrp="1"/>
          </p:cNvSpPr>
          <p:nvPr/>
        </p:nvSpPr>
        <p:spPr>
          <a:xfrm xmlns:a="http://schemas.openxmlformats.org/drawingml/2006/main">
            <a:off x="6905625" y="52197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04</a:t>
            </a:r>
          </a:p>
        </p:txBody>
      </p:sp>
      <p:sp>
        <p:nvSpPr>
          <p:cNvPr id="15" name="">
            <a:extLst xmlns:a="http://schemas.openxmlformats.org/drawingml/2006/main">
              <a:ext uri="{FF2B5EF4-FFF2-40B4-BE49-F238E27FC236}">
                <a16:creationId xmlns:a16="http://schemas.microsoft.com/office/drawing/2014/main" id="{C3CC6DDB-4658-425D-BE61-92DC666856B4}"/>
              </a:ext>
            </a:extLst>
          </p:cNvPr>
          <p:cNvSpPr>
            <a:spLocks xmlns:a="http://schemas.openxmlformats.org/drawingml/2006/main" noGrp="1"/>
          </p:cNvSpPr>
          <p:nvPr/>
        </p:nvSpPr>
        <p:spPr>
          <a:xfrm xmlns:a="http://schemas.openxmlformats.org/drawingml/2006/main">
            <a:off x="6924675" y="5495925"/>
            <a:ext cx="4362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外部連携（MCP）</a:t>
            </a:r>
          </a:p>
        </p:txBody>
      </p:sp>
      <p:sp>
        <p:nvSpPr>
          <p:cNvPr id="16" name="">
            <a:extLst xmlns:a="http://schemas.openxmlformats.org/drawingml/2006/main">
              <a:ext uri="{FF2B5EF4-FFF2-40B4-BE49-F238E27FC236}">
                <a16:creationId xmlns:a16="http://schemas.microsoft.com/office/drawing/2014/main" id="{F2F67B39-C1B1-4DA7-9E02-20684DF09B8E}"/>
              </a:ext>
            </a:extLst>
          </p:cNvPr>
          <p:cNvSpPr>
            <a:spLocks xmlns:a="http://schemas.openxmlformats.org/drawingml/2006/main" noGrp="1"/>
          </p:cNvSpPr>
          <p:nvPr/>
        </p:nvSpPr>
        <p:spPr>
          <a:xfrm xmlns:a="http://schemas.openxmlformats.org/drawingml/2006/main">
            <a:off x="5276850" y="4400550"/>
            <a:ext cx="1619250" cy="857250"/>
          </a:xfrm>
          <a:prstGeom xmlns:a="http://schemas.openxmlformats.org/drawingml/2006/main" prst="rect">
            <a:avLst/>
          </a:prstGeom>
          <a:solidFill xmlns:a="http://schemas.openxmlformats.org/drawingml/2006/main">
            <a:srgbClr val="D7EEF8"/>
          </a:solidFill>
          <a:ln xmlns:a="http://schemas.openxmlformats.org/drawingml/2006/main" w="19050">
            <a:solidFill>
              <a:srgbClr val="2A77A3"/>
            </a:solidFill>
          </a:ln>
        </p:spPr>
      </p:sp>
      <p:sp>
        <p:nvSpPr>
          <p:cNvPr id="17" name="">
            <a:extLst xmlns:a="http://schemas.openxmlformats.org/drawingml/2006/main">
              <a:ext uri="{FF2B5EF4-FFF2-40B4-BE49-F238E27FC236}">
                <a16:creationId xmlns:a16="http://schemas.microsoft.com/office/drawing/2014/main" id="{0FB9A009-3BB3-4AA7-9777-31366FC92C79}"/>
              </a:ext>
            </a:extLst>
          </p:cNvPr>
          <p:cNvSpPr>
            <a:spLocks xmlns:a="http://schemas.openxmlformats.org/drawingml/2006/main" noGrp="1"/>
          </p:cNvSpPr>
          <p:nvPr/>
        </p:nvSpPr>
        <p:spPr>
          <a:xfrm xmlns:a="http://schemas.openxmlformats.org/drawingml/2006/main">
            <a:off x="5476875" y="4829175"/>
            <a:ext cx="1219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0D2A43"/>
                </a:solidFill>
                <a:latin typeface="Yu Gothic"/>
                <a:ea typeface="Yu Gothic"/>
                <a:cs typeface="Yu Gothic"/>
              </a:defRPr>
            </a:pPr>
            <a:r>
              <a:rPr sz="1875" b="1">
                <a:solidFill>
                  <a:srgbClr val="0D2A43"/>
                </a:solidFill>
                <a:latin typeface="Yu Gothic"/>
                <a:ea typeface="Yu Gothic"/>
                <a:cs typeface="Yu Gothic"/>
              </a:rPr>
              <a:t>ASTRA</a:t>
            </a:r>
          </a:p>
        </p:txBody>
      </p:sp>
      <p:sp>
        <p:nvSpPr>
          <p:cNvPr id="18" name="">
            <a:extLst xmlns:a="http://schemas.openxmlformats.org/drawingml/2006/main">
              <a:ext uri="{FF2B5EF4-FFF2-40B4-BE49-F238E27FC236}">
                <a16:creationId xmlns:a16="http://schemas.microsoft.com/office/drawing/2014/main" id="{98FB946C-8AC6-4E95-88B2-436E74398C43}"/>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11 / 38</a:t>
            </a:r>
          </a:p>
        </p:txBody>
      </p:sp>
    </p:spTree>
    <p:extLst>
      <p:ext uri="{BB962C8B-B14F-4D97-AF65-F5344CB8AC3E}">
        <p14:creationId xmlns:p14="http://schemas.microsoft.com/office/powerpoint/2010/main" val="1468530835"/>
      </p:ext>
    </p:extLst>
  </p:cSld>
</p:sld>
</file>

<file path=ppt/slides/slide12.xml><?xml version="1.0" encoding="utf-8"?>
<p:sld xmlns:p="http://schemas.openxmlformats.org/presentationml/2006/main">
  <p:cSld>
    <p:bg>
      <p:bgPr>
        <a:solidFill xmlns:a="http://schemas.openxmlformats.org/drawingml/2006/main">
          <a:srgbClr val="E1F2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7F71BF4-CF08-43B3-947C-5CB256F41EA0}"/>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Astraに何ができるか</a:t>
            </a:r>
          </a:p>
        </p:txBody>
      </p:sp>
      <p:sp>
        <p:nvSpPr>
          <p:cNvPr id="2" name="">
            <a:extLst xmlns:a="http://schemas.openxmlformats.org/drawingml/2006/main">
              <a:ext uri="{FF2B5EF4-FFF2-40B4-BE49-F238E27FC236}">
                <a16:creationId xmlns:a16="http://schemas.microsoft.com/office/drawing/2014/main" id="{99A0F355-25B9-4727-96C5-A93E8DC1C8B8}"/>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調査を成果物にする</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d87e169f8914792"/>
          <a:srcRect xmlns:a="http://schemas.openxmlformats.org/drawingml/2006/main" l="7983" t="0" r="7983" b="0"/>
          <a:stretch xmlns:a="http://schemas.openxmlformats.org/drawingml/2006/main">
            <a:fillRect l="0" t="0" r="0" b="0"/>
          </a:stretch>
        </p:blipFill>
        <p:spPr>
          <a:xfrm xmlns:a="http://schemas.openxmlformats.org/drawingml/2006/main">
            <a:off x="6238875" y="2600325"/>
            <a:ext cx="5191125" cy="3476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DDA028E-8B00-4CF9-A176-158E575C36B9}"/>
              </a:ext>
            </a:extLst>
          </p:cNvPr>
          <p:cNvSpPr>
            <a:spLocks xmlns:a="http://schemas.openxmlformats.org/drawingml/2006/main" noGrp="1"/>
          </p:cNvSpPr>
          <p:nvPr/>
        </p:nvSpPr>
        <p:spPr>
          <a:xfrm xmlns:a="http://schemas.openxmlformats.org/drawingml/2006/main">
            <a:off x="723900" y="2695575"/>
            <a:ext cx="5000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0D2A43"/>
                </a:solidFill>
                <a:latin typeface="Yu Gothic"/>
                <a:ea typeface="Yu Gothic"/>
                <a:cs typeface="Yu Gothic"/>
              </a:defRPr>
            </a:pPr>
            <a:r>
              <a:rPr sz="3300" b="1">
                <a:solidFill>
                  <a:srgbClr val="0D2A43"/>
                </a:solidFill>
                <a:latin typeface="Yu Gothic"/>
                <a:ea typeface="Yu Gothic"/>
                <a:cs typeface="Yu Gothic"/>
              </a:rPr>
              <a:t>調べた結果を、判断できる比較表へ</a:t>
            </a:r>
          </a:p>
        </p:txBody>
      </p:sp>
      <p:sp>
        <p:nvSpPr>
          <p:cNvPr id="5" name="">
            <a:extLst xmlns:a="http://schemas.openxmlformats.org/drawingml/2006/main">
              <a:ext uri="{FF2B5EF4-FFF2-40B4-BE49-F238E27FC236}">
                <a16:creationId xmlns:a16="http://schemas.microsoft.com/office/drawing/2014/main" id="{8759AE8F-3924-4FAD-B803-EA4D5A501277}"/>
              </a:ext>
            </a:extLst>
          </p:cNvPr>
          <p:cNvSpPr>
            <a:spLocks xmlns:a="http://schemas.openxmlformats.org/drawingml/2006/main" noGrp="1"/>
          </p:cNvSpPr>
          <p:nvPr/>
        </p:nvSpPr>
        <p:spPr>
          <a:xfrm xmlns:a="http://schemas.openxmlformats.org/drawingml/2006/main">
            <a:off x="723900" y="4591050"/>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2500BB66-B444-44A8-8F4B-A399FA5DF8EA}"/>
              </a:ext>
            </a:extLst>
          </p:cNvPr>
          <p:cNvSpPr>
            <a:spLocks xmlns:a="http://schemas.openxmlformats.org/drawingml/2006/main" noGrp="1"/>
          </p:cNvSpPr>
          <p:nvPr/>
        </p:nvSpPr>
        <p:spPr>
          <a:xfrm xmlns:a="http://schemas.openxmlformats.org/drawingml/2006/main">
            <a:off x="1200150" y="457200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365C76"/>
                </a:solidFill>
                <a:latin typeface="Yu Gothic"/>
                <a:ea typeface="Yu Gothic"/>
                <a:cs typeface="Yu Gothic"/>
              </a:defRPr>
            </a:pPr>
            <a:r>
              <a:rPr sz="2025" b="1">
                <a:solidFill>
                  <a:srgbClr val="365C76"/>
                </a:solidFill>
                <a:latin typeface="Yu Gothic"/>
                <a:ea typeface="Yu Gothic"/>
                <a:cs typeface="Yu Gothic"/>
              </a:rPr>
              <a:t>競合・相場・制度</a:t>
            </a:r>
          </a:p>
        </p:txBody>
      </p:sp>
      <p:sp>
        <p:nvSpPr>
          <p:cNvPr id="7" name="">
            <a:extLst xmlns:a="http://schemas.openxmlformats.org/drawingml/2006/main">
              <a:ext uri="{FF2B5EF4-FFF2-40B4-BE49-F238E27FC236}">
                <a16:creationId xmlns:a16="http://schemas.microsoft.com/office/drawing/2014/main" id="{8548DA40-33E5-41EB-B7FA-C6C733D73D19}"/>
              </a:ext>
            </a:extLst>
          </p:cNvPr>
          <p:cNvSpPr>
            <a:spLocks xmlns:a="http://schemas.openxmlformats.org/drawingml/2006/main" noGrp="1"/>
          </p:cNvSpPr>
          <p:nvPr/>
        </p:nvSpPr>
        <p:spPr>
          <a:xfrm xmlns:a="http://schemas.openxmlformats.org/drawingml/2006/main">
            <a:off x="723900" y="5114925"/>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02</a:t>
            </a:r>
          </a:p>
        </p:txBody>
      </p:sp>
      <p:sp>
        <p:nvSpPr>
          <p:cNvPr id="8" name="">
            <a:extLst xmlns:a="http://schemas.openxmlformats.org/drawingml/2006/main">
              <a:ext uri="{FF2B5EF4-FFF2-40B4-BE49-F238E27FC236}">
                <a16:creationId xmlns:a16="http://schemas.microsoft.com/office/drawing/2014/main" id="{4F27CFB5-D1D0-4B6D-BF5D-AC43A9B1F703}"/>
              </a:ext>
            </a:extLst>
          </p:cNvPr>
          <p:cNvSpPr>
            <a:spLocks xmlns:a="http://schemas.openxmlformats.org/drawingml/2006/main" noGrp="1"/>
          </p:cNvSpPr>
          <p:nvPr/>
        </p:nvSpPr>
        <p:spPr>
          <a:xfrm xmlns:a="http://schemas.openxmlformats.org/drawingml/2006/main">
            <a:off x="1200150" y="5095875"/>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365C76"/>
                </a:solidFill>
                <a:latin typeface="Yu Gothic"/>
                <a:ea typeface="Yu Gothic"/>
                <a:cs typeface="Yu Gothic"/>
              </a:defRPr>
            </a:pPr>
            <a:r>
              <a:rPr sz="2025" b="1">
                <a:solidFill>
                  <a:srgbClr val="365C76"/>
                </a:solidFill>
                <a:latin typeface="Yu Gothic"/>
                <a:ea typeface="Yu Gothic"/>
                <a:cs typeface="Yu Gothic"/>
              </a:rPr>
              <a:t>一次情報で確認</a:t>
            </a:r>
          </a:p>
        </p:txBody>
      </p:sp>
      <p:sp>
        <p:nvSpPr>
          <p:cNvPr id="9" name="">
            <a:extLst xmlns:a="http://schemas.openxmlformats.org/drawingml/2006/main">
              <a:ext uri="{FF2B5EF4-FFF2-40B4-BE49-F238E27FC236}">
                <a16:creationId xmlns:a16="http://schemas.microsoft.com/office/drawing/2014/main" id="{8FC61126-9CBD-49D6-9B8D-068470E43424}"/>
              </a:ext>
            </a:extLst>
          </p:cNvPr>
          <p:cNvSpPr>
            <a:spLocks xmlns:a="http://schemas.openxmlformats.org/drawingml/2006/main" noGrp="1"/>
          </p:cNvSpPr>
          <p:nvPr/>
        </p:nvSpPr>
        <p:spPr>
          <a:xfrm xmlns:a="http://schemas.openxmlformats.org/drawingml/2006/main">
            <a:off x="723900" y="5638800"/>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03</a:t>
            </a:r>
          </a:p>
        </p:txBody>
      </p:sp>
      <p:sp>
        <p:nvSpPr>
          <p:cNvPr id="10" name="">
            <a:extLst xmlns:a="http://schemas.openxmlformats.org/drawingml/2006/main">
              <a:ext uri="{FF2B5EF4-FFF2-40B4-BE49-F238E27FC236}">
                <a16:creationId xmlns:a16="http://schemas.microsoft.com/office/drawing/2014/main" id="{DFC605EA-F959-4F3B-9508-485CFD44C5EC}"/>
              </a:ext>
            </a:extLst>
          </p:cNvPr>
          <p:cNvSpPr>
            <a:spLocks xmlns:a="http://schemas.openxmlformats.org/drawingml/2006/main" noGrp="1"/>
          </p:cNvSpPr>
          <p:nvPr/>
        </p:nvSpPr>
        <p:spPr>
          <a:xfrm xmlns:a="http://schemas.openxmlformats.org/drawingml/2006/main">
            <a:off x="1200150" y="561975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365C76"/>
                </a:solidFill>
                <a:latin typeface="Yu Gothic"/>
                <a:ea typeface="Yu Gothic"/>
                <a:cs typeface="Yu Gothic"/>
              </a:defRPr>
            </a:pPr>
            <a:r>
              <a:rPr sz="2025" b="1">
                <a:solidFill>
                  <a:srgbClr val="365C76"/>
                </a:solidFill>
                <a:latin typeface="Yu Gothic"/>
                <a:ea typeface="Yu Gothic"/>
                <a:cs typeface="Yu Gothic"/>
              </a:rPr>
              <a:t>比較表＋提案</a:t>
            </a:r>
          </a:p>
        </p:txBody>
      </p:sp>
      <p:sp>
        <p:nvSpPr>
          <p:cNvPr id="11" name="">
            <a:extLst xmlns:a="http://schemas.openxmlformats.org/drawingml/2006/main">
              <a:ext uri="{FF2B5EF4-FFF2-40B4-BE49-F238E27FC236}">
                <a16:creationId xmlns:a16="http://schemas.microsoft.com/office/drawing/2014/main" id="{2268B85A-E19C-4F2D-A0BF-C606CEF2A2F2}"/>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12 / 38</a:t>
            </a:r>
          </a:p>
        </p:txBody>
      </p:sp>
    </p:spTree>
    <p:extLst>
      <p:ext uri="{BB962C8B-B14F-4D97-AF65-F5344CB8AC3E}">
        <p14:creationId xmlns:p14="http://schemas.microsoft.com/office/powerpoint/2010/main" val="1846880661"/>
      </p:ext>
    </p:extLst>
  </p:cSld>
</p:sld>
</file>

<file path=ppt/slides/slide13.xml><?xml version="1.0" encoding="utf-8"?>
<p:sld xmlns:p="http://schemas.openxmlformats.org/presentationml/2006/main">
  <p:cSld>
    <p:bg>
      <p:bgPr>
        <a:solidFill xmlns:a="http://schemas.openxmlformats.org/drawingml/2006/main">
          <a:srgbClr val="EDF7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4266D7E-84D8-4DAF-AEBC-39211113D1B2}"/>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Astraに何ができるか</a:t>
            </a:r>
          </a:p>
        </p:txBody>
      </p:sp>
      <p:sp>
        <p:nvSpPr>
          <p:cNvPr id="2" name="">
            <a:extLst xmlns:a="http://schemas.openxmlformats.org/drawingml/2006/main">
              <a:ext uri="{FF2B5EF4-FFF2-40B4-BE49-F238E27FC236}">
                <a16:creationId xmlns:a16="http://schemas.microsoft.com/office/drawing/2014/main" id="{356E7F34-20D1-47C7-89AB-3CF3CF93FD23}"/>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文書を最後まで作る</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ff56ea3e8324cdd"/>
          <a:stretch xmlns:a="http://schemas.openxmlformats.org/drawingml/2006/main"/>
        </p:blipFill>
        <p:spPr>
          <a:xfrm xmlns:a="http://schemas.openxmlformats.org/drawingml/2006/main">
            <a:off x="5715000" y="2901889"/>
            <a:ext cx="5715000" cy="321639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7F11441-0F57-44F0-86E9-DD108D3CEF9F}"/>
              </a:ext>
            </a:extLst>
          </p:cNvPr>
          <p:cNvSpPr>
            <a:spLocks xmlns:a="http://schemas.openxmlformats.org/drawingml/2006/main" noGrp="1"/>
          </p:cNvSpPr>
          <p:nvPr/>
        </p:nvSpPr>
        <p:spPr>
          <a:xfrm xmlns:a="http://schemas.openxmlformats.org/drawingml/2006/main">
            <a:off x="723900" y="26765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150" b="1">
                <a:solidFill>
                  <a:srgbClr val="0D2A43"/>
                </a:solidFill>
                <a:latin typeface="Yu Gothic"/>
                <a:ea typeface="Yu Gothic"/>
                <a:cs typeface="Yu Gothic"/>
              </a:defRPr>
            </a:pPr>
            <a:r>
              <a:rPr sz="3150" b="1">
                <a:solidFill>
                  <a:srgbClr val="0D2A43"/>
                </a:solidFill>
                <a:latin typeface="Yu Gothic"/>
                <a:ea typeface="Yu Gothic"/>
                <a:cs typeface="Yu Gothic"/>
              </a:rPr>
              <a:t>調査から報告書・企画書まで一続きで進める</a:t>
            </a:r>
          </a:p>
        </p:txBody>
      </p:sp>
      <p:sp>
        <p:nvSpPr>
          <p:cNvPr id="5" name="">
            <a:extLst xmlns:a="http://schemas.openxmlformats.org/drawingml/2006/main">
              <a:ext uri="{FF2B5EF4-FFF2-40B4-BE49-F238E27FC236}">
                <a16:creationId xmlns:a16="http://schemas.microsoft.com/office/drawing/2014/main" id="{6688CC40-8789-4059-A98A-E2DFEC7B4714}"/>
              </a:ext>
            </a:extLst>
          </p:cNvPr>
          <p:cNvSpPr>
            <a:spLocks xmlns:a="http://schemas.openxmlformats.org/drawingml/2006/main" noGrp="1"/>
          </p:cNvSpPr>
          <p:nvPr/>
        </p:nvSpPr>
        <p:spPr>
          <a:xfrm xmlns:a="http://schemas.openxmlformats.org/drawingml/2006/main">
            <a:off x="723900" y="4381500"/>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01629A8C-0826-4AC6-A9C0-5D63BD06C85D}"/>
              </a:ext>
            </a:extLst>
          </p:cNvPr>
          <p:cNvSpPr>
            <a:spLocks xmlns:a="http://schemas.openxmlformats.org/drawingml/2006/main" noGrp="1"/>
          </p:cNvSpPr>
          <p:nvPr/>
        </p:nvSpPr>
        <p:spPr>
          <a:xfrm xmlns:a="http://schemas.openxmlformats.org/drawingml/2006/main">
            <a:off x="1200150" y="435292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材料を読む</a:t>
            </a:r>
          </a:p>
        </p:txBody>
      </p:sp>
      <p:sp>
        <p:nvSpPr>
          <p:cNvPr id="7" name="">
            <a:extLst xmlns:a="http://schemas.openxmlformats.org/drawingml/2006/main">
              <a:ext uri="{FF2B5EF4-FFF2-40B4-BE49-F238E27FC236}">
                <a16:creationId xmlns:a16="http://schemas.microsoft.com/office/drawing/2014/main" id="{FD5DA8FF-A75F-43BC-BAB0-FA672F3E2D80}"/>
              </a:ext>
            </a:extLst>
          </p:cNvPr>
          <p:cNvSpPr>
            <a:spLocks xmlns:a="http://schemas.openxmlformats.org/drawingml/2006/main" noGrp="1"/>
          </p:cNvSpPr>
          <p:nvPr/>
        </p:nvSpPr>
        <p:spPr>
          <a:xfrm xmlns:a="http://schemas.openxmlformats.org/drawingml/2006/main">
            <a:off x="723900" y="4943475"/>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02</a:t>
            </a:r>
          </a:p>
        </p:txBody>
      </p:sp>
      <p:sp>
        <p:nvSpPr>
          <p:cNvPr id="8" name="">
            <a:extLst xmlns:a="http://schemas.openxmlformats.org/drawingml/2006/main">
              <a:ext uri="{FF2B5EF4-FFF2-40B4-BE49-F238E27FC236}">
                <a16:creationId xmlns:a16="http://schemas.microsoft.com/office/drawing/2014/main" id="{CA14EA2C-D910-4CE5-A785-246731717889}"/>
              </a:ext>
            </a:extLst>
          </p:cNvPr>
          <p:cNvSpPr>
            <a:spLocks xmlns:a="http://schemas.openxmlformats.org/drawingml/2006/main" noGrp="1"/>
          </p:cNvSpPr>
          <p:nvPr/>
        </p:nvSpPr>
        <p:spPr>
          <a:xfrm xmlns:a="http://schemas.openxmlformats.org/drawingml/2006/main">
            <a:off x="1200150" y="4914900"/>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構成を決める</a:t>
            </a:r>
          </a:p>
        </p:txBody>
      </p:sp>
      <p:sp>
        <p:nvSpPr>
          <p:cNvPr id="9" name="">
            <a:extLst xmlns:a="http://schemas.openxmlformats.org/drawingml/2006/main">
              <a:ext uri="{FF2B5EF4-FFF2-40B4-BE49-F238E27FC236}">
                <a16:creationId xmlns:a16="http://schemas.microsoft.com/office/drawing/2014/main" id="{50493667-BFE7-419C-A7AA-D089D59274C7}"/>
              </a:ext>
            </a:extLst>
          </p:cNvPr>
          <p:cNvSpPr>
            <a:spLocks xmlns:a="http://schemas.openxmlformats.org/drawingml/2006/main" noGrp="1"/>
          </p:cNvSpPr>
          <p:nvPr/>
        </p:nvSpPr>
        <p:spPr>
          <a:xfrm xmlns:a="http://schemas.openxmlformats.org/drawingml/2006/main">
            <a:off x="723900" y="5505450"/>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03</a:t>
            </a:r>
          </a:p>
        </p:txBody>
      </p:sp>
      <p:sp>
        <p:nvSpPr>
          <p:cNvPr id="10" name="">
            <a:extLst xmlns:a="http://schemas.openxmlformats.org/drawingml/2006/main">
              <a:ext uri="{FF2B5EF4-FFF2-40B4-BE49-F238E27FC236}">
                <a16:creationId xmlns:a16="http://schemas.microsoft.com/office/drawing/2014/main" id="{0195C1BF-33F7-4513-9DB7-A6D3376A8A7E}"/>
              </a:ext>
            </a:extLst>
          </p:cNvPr>
          <p:cNvSpPr>
            <a:spLocks xmlns:a="http://schemas.openxmlformats.org/drawingml/2006/main" noGrp="1"/>
          </p:cNvSpPr>
          <p:nvPr/>
        </p:nvSpPr>
        <p:spPr>
          <a:xfrm xmlns:a="http://schemas.openxmlformats.org/drawingml/2006/main">
            <a:off x="1200150" y="547687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作成→確認→修正</a:t>
            </a:r>
          </a:p>
        </p:txBody>
      </p:sp>
      <p:sp>
        <p:nvSpPr>
          <p:cNvPr id="11" name="">
            <a:extLst xmlns:a="http://schemas.openxmlformats.org/drawingml/2006/main">
              <a:ext uri="{FF2B5EF4-FFF2-40B4-BE49-F238E27FC236}">
                <a16:creationId xmlns:a16="http://schemas.microsoft.com/office/drawing/2014/main" id="{8BB91F22-8BA7-463C-A730-C833D5642FA3}"/>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13 / 38</a:t>
            </a:r>
          </a:p>
        </p:txBody>
      </p:sp>
    </p:spTree>
    <p:extLst>
      <p:ext uri="{BB962C8B-B14F-4D97-AF65-F5344CB8AC3E}">
        <p14:creationId xmlns:p14="http://schemas.microsoft.com/office/powerpoint/2010/main" val="310874966"/>
      </p:ext>
    </p:extLst>
  </p:cSld>
</p:sld>
</file>

<file path=ppt/slides/slide14.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E135E7F-2B64-469B-B166-AB48AFAAF0F8}"/>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Astraに何ができるか</a:t>
            </a:r>
          </a:p>
        </p:txBody>
      </p:sp>
      <p:sp>
        <p:nvSpPr>
          <p:cNvPr id="2" name="">
            <a:extLst xmlns:a="http://schemas.openxmlformats.org/drawingml/2006/main">
              <a:ext uri="{FF2B5EF4-FFF2-40B4-BE49-F238E27FC236}">
                <a16:creationId xmlns:a16="http://schemas.microsoft.com/office/drawing/2014/main" id="{8CC2C6D7-31A7-4B5E-B4CF-CA5FF4995A7A}"/>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スライドも一気通貫</a:t>
            </a:r>
          </a:p>
        </p:txBody>
      </p:sp>
      <p:sp>
        <p:nvSpPr>
          <p:cNvPr id="3" name="">
            <a:extLst xmlns:a="http://schemas.openxmlformats.org/drawingml/2006/main">
              <a:ext uri="{FF2B5EF4-FFF2-40B4-BE49-F238E27FC236}">
                <a16:creationId xmlns:a16="http://schemas.microsoft.com/office/drawing/2014/main" id="{F3237D30-88FC-4C50-81EC-913F8FF99545}"/>
              </a:ext>
            </a:extLst>
          </p:cNvPr>
          <p:cNvSpPr>
            <a:spLocks xmlns:a="http://schemas.openxmlformats.org/drawingml/2006/main" noGrp="1"/>
          </p:cNvSpPr>
          <p:nvPr/>
        </p:nvSpPr>
        <p:spPr>
          <a:xfrm xmlns:a="http://schemas.openxmlformats.org/drawingml/2006/main">
            <a:off x="723900" y="25908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0D2A43"/>
                </a:solidFill>
                <a:latin typeface="Yu Gothic"/>
                <a:ea typeface="Yu Gothic"/>
                <a:cs typeface="Yu Gothic"/>
              </a:defRPr>
            </a:pPr>
            <a:r>
              <a:rPr sz="2850" b="1">
                <a:solidFill>
                  <a:srgbClr val="0D2A43"/>
                </a:solidFill>
                <a:latin typeface="Yu Gothic"/>
                <a:ea typeface="Yu Gothic"/>
                <a:cs typeface="Yu Gothic"/>
              </a:rPr>
              <a:t>調査→構成→制作→表示確認まで任せる</a:t>
            </a:r>
          </a:p>
        </p:txBody>
      </p:sp>
      <p:sp>
        <p:nvSpPr>
          <p:cNvPr id="4" name="">
            <a:extLst xmlns:a="http://schemas.openxmlformats.org/drawingml/2006/main">
              <a:ext uri="{FF2B5EF4-FFF2-40B4-BE49-F238E27FC236}">
                <a16:creationId xmlns:a16="http://schemas.microsoft.com/office/drawing/2014/main" id="{31E4F87D-5408-4351-B73F-89CD97452F00}"/>
              </a:ext>
            </a:extLst>
          </p:cNvPr>
          <p:cNvSpPr>
            <a:spLocks xmlns:a="http://schemas.openxmlformats.org/drawingml/2006/main" noGrp="1"/>
          </p:cNvSpPr>
          <p:nvPr/>
        </p:nvSpPr>
        <p:spPr>
          <a:xfrm xmlns:a="http://schemas.openxmlformats.org/drawingml/2006/main">
            <a:off x="723900" y="3876675"/>
            <a:ext cx="3105150" cy="18764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5" name="">
            <a:extLst xmlns:a="http://schemas.openxmlformats.org/drawingml/2006/main">
              <a:ext uri="{FF2B5EF4-FFF2-40B4-BE49-F238E27FC236}">
                <a16:creationId xmlns:a16="http://schemas.microsoft.com/office/drawing/2014/main" id="{1FC23D88-AD9B-44CB-A824-17799BF03DA2}"/>
              </a:ext>
            </a:extLst>
          </p:cNvPr>
          <p:cNvSpPr>
            <a:spLocks xmlns:a="http://schemas.openxmlformats.org/drawingml/2006/main" noGrp="1"/>
          </p:cNvSpPr>
          <p:nvPr/>
        </p:nvSpPr>
        <p:spPr>
          <a:xfrm xmlns:a="http://schemas.openxmlformats.org/drawingml/2006/main">
            <a:off x="904875"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B24E0DDC-8461-4E7A-902A-59A1C2CEC6AE}"/>
              </a:ext>
            </a:extLst>
          </p:cNvPr>
          <p:cNvSpPr>
            <a:spLocks xmlns:a="http://schemas.openxmlformats.org/drawingml/2006/main" noGrp="1"/>
          </p:cNvSpPr>
          <p:nvPr/>
        </p:nvSpPr>
        <p:spPr>
          <a:xfrm xmlns:a="http://schemas.openxmlformats.org/drawingml/2006/main">
            <a:off x="923925" y="4305300"/>
            <a:ext cx="2705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根拠を集める</a:t>
            </a:r>
          </a:p>
        </p:txBody>
      </p:sp>
      <p:sp>
        <p:nvSpPr>
          <p:cNvPr id="7" name="">
            <a:extLst xmlns:a="http://schemas.openxmlformats.org/drawingml/2006/main">
              <a:ext uri="{FF2B5EF4-FFF2-40B4-BE49-F238E27FC236}">
                <a16:creationId xmlns:a16="http://schemas.microsoft.com/office/drawing/2014/main" id="{E3A92C1E-D391-4108-A7C1-9242F72FFB47}"/>
              </a:ext>
            </a:extLst>
          </p:cNvPr>
          <p:cNvSpPr>
            <a:spLocks xmlns:a="http://schemas.openxmlformats.org/drawingml/2006/main" noGrp="1"/>
          </p:cNvSpPr>
          <p:nvPr/>
        </p:nvSpPr>
        <p:spPr>
          <a:xfrm xmlns:a="http://schemas.openxmlformats.org/drawingml/2006/main">
            <a:off x="3924300" y="4514850"/>
            <a:ext cx="52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129"/>
          </a:bodyPr>
          <a:lstStyle xmlns:a="http://schemas.openxmlformats.org/drawingml/2006/main"/>
          <a:p xmlns:a="http://schemas.openxmlformats.org/drawingml/2006/main">
            <a:pPr>
              <a:defRPr sz="3225" b="1">
                <a:solidFill>
                  <a:srgbClr val="2A77A3"/>
                </a:solidFill>
                <a:latin typeface="Yu Gothic"/>
                <a:ea typeface="Yu Gothic"/>
                <a:cs typeface="Yu Gothic"/>
              </a:defRPr>
            </a:pPr>
            <a:r>
              <a:rPr sz="3225" b="1">
                <a:solidFill>
                  <a:srgbClr val="2A77A3"/>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B5D0FE82-F3C4-4865-BA61-E2568CC579DE}"/>
              </a:ext>
            </a:extLst>
          </p:cNvPr>
          <p:cNvSpPr>
            <a:spLocks xmlns:a="http://schemas.openxmlformats.org/drawingml/2006/main" noGrp="1"/>
          </p:cNvSpPr>
          <p:nvPr/>
        </p:nvSpPr>
        <p:spPr>
          <a:xfrm xmlns:a="http://schemas.openxmlformats.org/drawingml/2006/main">
            <a:off x="4448175" y="3876675"/>
            <a:ext cx="3105150" cy="18764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9" name="">
            <a:extLst xmlns:a="http://schemas.openxmlformats.org/drawingml/2006/main">
              <a:ext uri="{FF2B5EF4-FFF2-40B4-BE49-F238E27FC236}">
                <a16:creationId xmlns:a16="http://schemas.microsoft.com/office/drawing/2014/main" id="{5F2DB801-6B5E-4333-BAA6-A36C877FC11A}"/>
              </a:ext>
            </a:extLst>
          </p:cNvPr>
          <p:cNvSpPr>
            <a:spLocks xmlns:a="http://schemas.openxmlformats.org/drawingml/2006/main" noGrp="1"/>
          </p:cNvSpPr>
          <p:nvPr/>
        </p:nvSpPr>
        <p:spPr>
          <a:xfrm xmlns:a="http://schemas.openxmlformats.org/drawingml/2006/main">
            <a:off x="4629150"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02</a:t>
            </a:r>
          </a:p>
        </p:txBody>
      </p:sp>
      <p:sp>
        <p:nvSpPr>
          <p:cNvPr id="10" name="">
            <a:extLst xmlns:a="http://schemas.openxmlformats.org/drawingml/2006/main">
              <a:ext uri="{FF2B5EF4-FFF2-40B4-BE49-F238E27FC236}">
                <a16:creationId xmlns:a16="http://schemas.microsoft.com/office/drawing/2014/main" id="{73E8396B-689D-41FE-8031-CCA65A59B3CD}"/>
              </a:ext>
            </a:extLst>
          </p:cNvPr>
          <p:cNvSpPr>
            <a:spLocks xmlns:a="http://schemas.openxmlformats.org/drawingml/2006/main" noGrp="1"/>
          </p:cNvSpPr>
          <p:nvPr/>
        </p:nvSpPr>
        <p:spPr>
          <a:xfrm xmlns:a="http://schemas.openxmlformats.org/drawingml/2006/main">
            <a:off x="4648200" y="4305300"/>
            <a:ext cx="2705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1枚1メッセージ</a:t>
            </a:r>
          </a:p>
        </p:txBody>
      </p:sp>
      <p:sp>
        <p:nvSpPr>
          <p:cNvPr id="11" name="">
            <a:extLst xmlns:a="http://schemas.openxmlformats.org/drawingml/2006/main">
              <a:ext uri="{FF2B5EF4-FFF2-40B4-BE49-F238E27FC236}">
                <a16:creationId xmlns:a16="http://schemas.microsoft.com/office/drawing/2014/main" id="{A9E75B8A-7013-405B-82D5-7C1BBB0948C1}"/>
              </a:ext>
            </a:extLst>
          </p:cNvPr>
          <p:cNvSpPr>
            <a:spLocks xmlns:a="http://schemas.openxmlformats.org/drawingml/2006/main" noGrp="1"/>
          </p:cNvSpPr>
          <p:nvPr/>
        </p:nvSpPr>
        <p:spPr>
          <a:xfrm xmlns:a="http://schemas.openxmlformats.org/drawingml/2006/main">
            <a:off x="7648575" y="4514850"/>
            <a:ext cx="52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129"/>
          </a:bodyPr>
          <a:lstStyle xmlns:a="http://schemas.openxmlformats.org/drawingml/2006/main"/>
          <a:p xmlns:a="http://schemas.openxmlformats.org/drawingml/2006/main">
            <a:pPr>
              <a:defRPr sz="3225" b="1">
                <a:solidFill>
                  <a:srgbClr val="2A77A3"/>
                </a:solidFill>
                <a:latin typeface="Yu Gothic"/>
                <a:ea typeface="Yu Gothic"/>
                <a:cs typeface="Yu Gothic"/>
              </a:defRPr>
            </a:pPr>
            <a:r>
              <a:rPr sz="3225" b="1">
                <a:solidFill>
                  <a:srgbClr val="2A77A3"/>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DCED114A-51A1-410E-882B-55562AC0A7DF}"/>
              </a:ext>
            </a:extLst>
          </p:cNvPr>
          <p:cNvSpPr>
            <a:spLocks xmlns:a="http://schemas.openxmlformats.org/drawingml/2006/main" noGrp="1"/>
          </p:cNvSpPr>
          <p:nvPr/>
        </p:nvSpPr>
        <p:spPr>
          <a:xfrm xmlns:a="http://schemas.openxmlformats.org/drawingml/2006/main">
            <a:off x="8172450" y="3876675"/>
            <a:ext cx="3105150" cy="1876425"/>
          </a:xfrm>
          <a:prstGeom xmlns:a="http://schemas.openxmlformats.org/drawingml/2006/main" prst="rect">
            <a:avLst/>
          </a:prstGeom>
          <a:solidFill xmlns:a="http://schemas.openxmlformats.org/drawingml/2006/main">
            <a:srgbClr val="D7EEF8"/>
          </a:solidFill>
          <a:ln xmlns:a="http://schemas.openxmlformats.org/drawingml/2006/main" w="19050">
            <a:solidFill>
              <a:srgbClr val="2A77A3"/>
            </a:solidFill>
          </a:ln>
        </p:spPr>
      </p:sp>
      <p:sp>
        <p:nvSpPr>
          <p:cNvPr id="13" name="">
            <a:extLst xmlns:a="http://schemas.openxmlformats.org/drawingml/2006/main">
              <a:ext uri="{FF2B5EF4-FFF2-40B4-BE49-F238E27FC236}">
                <a16:creationId xmlns:a16="http://schemas.microsoft.com/office/drawing/2014/main" id="{367CDEB0-C39F-4953-868F-E0B01C578F3C}"/>
              </a:ext>
            </a:extLst>
          </p:cNvPr>
          <p:cNvSpPr>
            <a:spLocks xmlns:a="http://schemas.openxmlformats.org/drawingml/2006/main" noGrp="1"/>
          </p:cNvSpPr>
          <p:nvPr/>
        </p:nvSpPr>
        <p:spPr>
          <a:xfrm xmlns:a="http://schemas.openxmlformats.org/drawingml/2006/main">
            <a:off x="8353425"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03</a:t>
            </a:r>
          </a:p>
        </p:txBody>
      </p:sp>
      <p:sp>
        <p:nvSpPr>
          <p:cNvPr id="14" name="">
            <a:extLst xmlns:a="http://schemas.openxmlformats.org/drawingml/2006/main">
              <a:ext uri="{FF2B5EF4-FFF2-40B4-BE49-F238E27FC236}">
                <a16:creationId xmlns:a16="http://schemas.microsoft.com/office/drawing/2014/main" id="{D0AE7B7B-8EE7-4E80-A369-7722D2303FFD}"/>
              </a:ext>
            </a:extLst>
          </p:cNvPr>
          <p:cNvSpPr>
            <a:spLocks xmlns:a="http://schemas.openxmlformats.org/drawingml/2006/main" noGrp="1"/>
          </p:cNvSpPr>
          <p:nvPr/>
        </p:nvSpPr>
        <p:spPr>
          <a:xfrm xmlns:a="http://schemas.openxmlformats.org/drawingml/2006/main">
            <a:off x="8372475" y="4305300"/>
            <a:ext cx="2705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全ページを確認</a:t>
            </a:r>
          </a:p>
        </p:txBody>
      </p:sp>
      <p:sp>
        <p:nvSpPr>
          <p:cNvPr id="15" name="">
            <a:extLst xmlns:a="http://schemas.openxmlformats.org/drawingml/2006/main">
              <a:ext uri="{FF2B5EF4-FFF2-40B4-BE49-F238E27FC236}">
                <a16:creationId xmlns:a16="http://schemas.microsoft.com/office/drawing/2014/main" id="{5207042E-4C2B-4D79-AABB-DFC4A0B3B85E}"/>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14 / 38</a:t>
            </a:r>
          </a:p>
        </p:txBody>
      </p:sp>
    </p:spTree>
    <p:extLst>
      <p:ext uri="{BB962C8B-B14F-4D97-AF65-F5344CB8AC3E}">
        <p14:creationId xmlns:p14="http://schemas.microsoft.com/office/powerpoint/2010/main" val="490056899"/>
      </p:ext>
    </p:extLst>
  </p:cSld>
</p:sld>
</file>

<file path=ppt/slides/slide15.xml><?xml version="1.0" encoding="utf-8"?>
<p:sld xmlns:p="http://schemas.openxmlformats.org/presentationml/2006/main">
  <p:cSld>
    <p:bg>
      <p:bgPr>
        <a:solidFill xmlns:a="http://schemas.openxmlformats.org/drawingml/2006/main">
          <a:srgbClr val="E1F2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D76715E-815F-43A7-9F5D-BF20AABF783C}"/>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Astraに何ができるか</a:t>
            </a:r>
          </a:p>
        </p:txBody>
      </p:sp>
      <p:sp>
        <p:nvSpPr>
          <p:cNvPr id="2" name="">
            <a:extLst xmlns:a="http://schemas.openxmlformats.org/drawingml/2006/main">
              <a:ext uri="{FF2B5EF4-FFF2-40B4-BE49-F238E27FC236}">
                <a16:creationId xmlns:a16="http://schemas.microsoft.com/office/drawing/2014/main" id="{771DC0C0-2083-44DA-A90D-48B1A1746EB2}"/>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表計算とデータ</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97878a4171d488d"/>
          <a:srcRect xmlns:a="http://schemas.openxmlformats.org/drawingml/2006/main" l="7983" t="0" r="7983" b="0"/>
          <a:stretch xmlns:a="http://schemas.openxmlformats.org/drawingml/2006/main">
            <a:fillRect l="0" t="0" r="0" b="0"/>
          </a:stretch>
        </p:blipFill>
        <p:spPr>
          <a:xfrm xmlns:a="http://schemas.openxmlformats.org/drawingml/2006/main">
            <a:off x="6238875" y="2600325"/>
            <a:ext cx="5191125" cy="3476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A368128-290B-4321-9162-F30E6FDD6DE7}"/>
              </a:ext>
            </a:extLst>
          </p:cNvPr>
          <p:cNvSpPr>
            <a:spLocks xmlns:a="http://schemas.openxmlformats.org/drawingml/2006/main" noGrp="1"/>
          </p:cNvSpPr>
          <p:nvPr/>
        </p:nvSpPr>
        <p:spPr>
          <a:xfrm xmlns:a="http://schemas.openxmlformats.org/drawingml/2006/main">
            <a:off x="723900" y="2695575"/>
            <a:ext cx="5000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0D2A43"/>
                </a:solidFill>
                <a:latin typeface="Yu Gothic"/>
                <a:ea typeface="Yu Gothic"/>
                <a:cs typeface="Yu Gothic"/>
              </a:defRPr>
            </a:pPr>
            <a:r>
              <a:rPr sz="3300" b="1">
                <a:solidFill>
                  <a:srgbClr val="0D2A43"/>
                </a:solidFill>
                <a:latin typeface="Yu Gothic"/>
                <a:ea typeface="Yu Gothic"/>
                <a:cs typeface="Yu Gothic"/>
              </a:rPr>
              <a:t>集計に加え、数字の意味まで考える</a:t>
            </a:r>
          </a:p>
        </p:txBody>
      </p:sp>
      <p:sp>
        <p:nvSpPr>
          <p:cNvPr id="5" name="">
            <a:extLst xmlns:a="http://schemas.openxmlformats.org/drawingml/2006/main">
              <a:ext uri="{FF2B5EF4-FFF2-40B4-BE49-F238E27FC236}">
                <a16:creationId xmlns:a16="http://schemas.microsoft.com/office/drawing/2014/main" id="{37D92534-DF99-49FE-A664-BA32F3CA0FFD}"/>
              </a:ext>
            </a:extLst>
          </p:cNvPr>
          <p:cNvSpPr>
            <a:spLocks xmlns:a="http://schemas.openxmlformats.org/drawingml/2006/main" noGrp="1"/>
          </p:cNvSpPr>
          <p:nvPr/>
        </p:nvSpPr>
        <p:spPr>
          <a:xfrm xmlns:a="http://schemas.openxmlformats.org/drawingml/2006/main">
            <a:off x="723900" y="4591050"/>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661B1FFF-12CC-48EE-A32D-9D283E07FFD2}"/>
              </a:ext>
            </a:extLst>
          </p:cNvPr>
          <p:cNvSpPr>
            <a:spLocks xmlns:a="http://schemas.openxmlformats.org/drawingml/2006/main" noGrp="1"/>
          </p:cNvSpPr>
          <p:nvPr/>
        </p:nvSpPr>
        <p:spPr>
          <a:xfrm xmlns:a="http://schemas.openxmlformats.org/drawingml/2006/main">
            <a:off x="1200150" y="457200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365C76"/>
                </a:solidFill>
                <a:latin typeface="Yu Gothic"/>
                <a:ea typeface="Yu Gothic"/>
                <a:cs typeface="Yu Gothic"/>
              </a:defRPr>
            </a:pPr>
            <a:r>
              <a:rPr sz="2025" b="1">
                <a:solidFill>
                  <a:srgbClr val="365C76"/>
                </a:solidFill>
                <a:latin typeface="Yu Gothic"/>
                <a:ea typeface="Yu Gothic"/>
                <a:cs typeface="Yu Gothic"/>
              </a:rPr>
              <a:t>売上・在庫・顧客</a:t>
            </a:r>
          </a:p>
        </p:txBody>
      </p:sp>
      <p:sp>
        <p:nvSpPr>
          <p:cNvPr id="7" name="">
            <a:extLst xmlns:a="http://schemas.openxmlformats.org/drawingml/2006/main">
              <a:ext uri="{FF2B5EF4-FFF2-40B4-BE49-F238E27FC236}">
                <a16:creationId xmlns:a16="http://schemas.microsoft.com/office/drawing/2014/main" id="{B46A0642-2178-4F55-B665-36A9F44197F0}"/>
              </a:ext>
            </a:extLst>
          </p:cNvPr>
          <p:cNvSpPr>
            <a:spLocks xmlns:a="http://schemas.openxmlformats.org/drawingml/2006/main" noGrp="1"/>
          </p:cNvSpPr>
          <p:nvPr/>
        </p:nvSpPr>
        <p:spPr>
          <a:xfrm xmlns:a="http://schemas.openxmlformats.org/drawingml/2006/main">
            <a:off x="723900" y="5114925"/>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02</a:t>
            </a:r>
          </a:p>
        </p:txBody>
      </p:sp>
      <p:sp>
        <p:nvSpPr>
          <p:cNvPr id="8" name="">
            <a:extLst xmlns:a="http://schemas.openxmlformats.org/drawingml/2006/main">
              <a:ext uri="{FF2B5EF4-FFF2-40B4-BE49-F238E27FC236}">
                <a16:creationId xmlns:a16="http://schemas.microsoft.com/office/drawing/2014/main" id="{C1398F9B-963D-4093-98E8-0462B30AB0EF}"/>
              </a:ext>
            </a:extLst>
          </p:cNvPr>
          <p:cNvSpPr>
            <a:spLocks xmlns:a="http://schemas.openxmlformats.org/drawingml/2006/main" noGrp="1"/>
          </p:cNvSpPr>
          <p:nvPr/>
        </p:nvSpPr>
        <p:spPr>
          <a:xfrm xmlns:a="http://schemas.openxmlformats.org/drawingml/2006/main">
            <a:off x="1200150" y="5095875"/>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365C76"/>
                </a:solidFill>
                <a:latin typeface="Yu Gothic"/>
                <a:ea typeface="Yu Gothic"/>
                <a:cs typeface="Yu Gothic"/>
              </a:defRPr>
            </a:pPr>
            <a:r>
              <a:rPr sz="2025" b="1">
                <a:solidFill>
                  <a:srgbClr val="365C76"/>
                </a:solidFill>
                <a:latin typeface="Yu Gothic"/>
                <a:ea typeface="Yu Gothic"/>
                <a:cs typeface="Yu Gothic"/>
              </a:rPr>
              <a:t>異常値を発見</a:t>
            </a:r>
          </a:p>
        </p:txBody>
      </p:sp>
      <p:sp>
        <p:nvSpPr>
          <p:cNvPr id="9" name="">
            <a:extLst xmlns:a="http://schemas.openxmlformats.org/drawingml/2006/main">
              <a:ext uri="{FF2B5EF4-FFF2-40B4-BE49-F238E27FC236}">
                <a16:creationId xmlns:a16="http://schemas.microsoft.com/office/drawing/2014/main" id="{7300E274-540C-4192-8BEE-931B7290D8D6}"/>
              </a:ext>
            </a:extLst>
          </p:cNvPr>
          <p:cNvSpPr>
            <a:spLocks xmlns:a="http://schemas.openxmlformats.org/drawingml/2006/main" noGrp="1"/>
          </p:cNvSpPr>
          <p:nvPr/>
        </p:nvSpPr>
        <p:spPr>
          <a:xfrm xmlns:a="http://schemas.openxmlformats.org/drawingml/2006/main">
            <a:off x="723900" y="5638800"/>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03</a:t>
            </a:r>
          </a:p>
        </p:txBody>
      </p:sp>
      <p:sp>
        <p:nvSpPr>
          <p:cNvPr id="10" name="">
            <a:extLst xmlns:a="http://schemas.openxmlformats.org/drawingml/2006/main">
              <a:ext uri="{FF2B5EF4-FFF2-40B4-BE49-F238E27FC236}">
                <a16:creationId xmlns:a16="http://schemas.microsoft.com/office/drawing/2014/main" id="{98D60656-A6A6-4FD1-96EF-5D29E96EAA14}"/>
              </a:ext>
            </a:extLst>
          </p:cNvPr>
          <p:cNvSpPr>
            <a:spLocks xmlns:a="http://schemas.openxmlformats.org/drawingml/2006/main" noGrp="1"/>
          </p:cNvSpPr>
          <p:nvPr/>
        </p:nvSpPr>
        <p:spPr>
          <a:xfrm xmlns:a="http://schemas.openxmlformats.org/drawingml/2006/main">
            <a:off x="1200150" y="561975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365C76"/>
                </a:solidFill>
                <a:latin typeface="Yu Gothic"/>
                <a:ea typeface="Yu Gothic"/>
                <a:cs typeface="Yu Gothic"/>
              </a:defRPr>
            </a:pPr>
            <a:r>
              <a:rPr sz="2025" b="1">
                <a:solidFill>
                  <a:srgbClr val="365C76"/>
                </a:solidFill>
                <a:latin typeface="Yu Gothic"/>
                <a:ea typeface="Yu Gothic"/>
                <a:cs typeface="Yu Gothic"/>
              </a:rPr>
              <a:t>グラフと次の一手</a:t>
            </a:r>
          </a:p>
        </p:txBody>
      </p:sp>
      <p:sp>
        <p:nvSpPr>
          <p:cNvPr id="11" name="">
            <a:extLst xmlns:a="http://schemas.openxmlformats.org/drawingml/2006/main">
              <a:ext uri="{FF2B5EF4-FFF2-40B4-BE49-F238E27FC236}">
                <a16:creationId xmlns:a16="http://schemas.microsoft.com/office/drawing/2014/main" id="{4E0BEF13-961B-4953-BA40-A889696A109E}"/>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15 / 38</a:t>
            </a:r>
          </a:p>
        </p:txBody>
      </p:sp>
    </p:spTree>
    <p:extLst>
      <p:ext uri="{BB962C8B-B14F-4D97-AF65-F5344CB8AC3E}">
        <p14:creationId xmlns:p14="http://schemas.microsoft.com/office/powerpoint/2010/main" val="1686458837"/>
      </p:ext>
    </p:extLst>
  </p:cSld>
</p:sld>
</file>

<file path=ppt/slides/slide16.xml><?xml version="1.0" encoding="utf-8"?>
<p:sld xmlns:p="http://schemas.openxmlformats.org/presentationml/2006/main">
  <p:cSld>
    <p:bg>
      <p:bgPr>
        <a:solidFill xmlns:a="http://schemas.openxmlformats.org/drawingml/2006/main">
          <a:srgbClr val="EDF7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05F8C0-C1BE-4856-AFB6-35DFBCF6416C}"/>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Astraに何ができるか</a:t>
            </a:r>
          </a:p>
        </p:txBody>
      </p:sp>
      <p:sp>
        <p:nvSpPr>
          <p:cNvPr id="2" name="">
            <a:extLst xmlns:a="http://schemas.openxmlformats.org/drawingml/2006/main">
              <a:ext uri="{FF2B5EF4-FFF2-40B4-BE49-F238E27FC236}">
                <a16:creationId xmlns:a16="http://schemas.microsoft.com/office/drawing/2014/main" id="{E246B33C-AE7F-4EEF-B68B-F18FED382EB1}"/>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Webサイトやアプリ</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d5799c9320f4f37"/>
          <a:stretch xmlns:a="http://schemas.openxmlformats.org/drawingml/2006/main"/>
        </p:blipFill>
        <p:spPr>
          <a:xfrm xmlns:a="http://schemas.openxmlformats.org/drawingml/2006/main">
            <a:off x="5715000" y="2901889"/>
            <a:ext cx="5715000" cy="321639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1943A6A-4F20-4E86-8334-1AC19969375E}"/>
              </a:ext>
            </a:extLst>
          </p:cNvPr>
          <p:cNvSpPr>
            <a:spLocks xmlns:a="http://schemas.openxmlformats.org/drawingml/2006/main" noGrp="1"/>
          </p:cNvSpPr>
          <p:nvPr/>
        </p:nvSpPr>
        <p:spPr>
          <a:xfrm xmlns:a="http://schemas.openxmlformats.org/drawingml/2006/main">
            <a:off x="723900" y="26765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150" b="1">
                <a:solidFill>
                  <a:srgbClr val="0D2A43"/>
                </a:solidFill>
                <a:latin typeface="Yu Gothic"/>
                <a:ea typeface="Yu Gothic"/>
                <a:cs typeface="Yu Gothic"/>
              </a:defRPr>
            </a:pPr>
            <a:r>
              <a:rPr sz="3150" b="1">
                <a:solidFill>
                  <a:srgbClr val="0D2A43"/>
                </a:solidFill>
                <a:latin typeface="Yu Gothic"/>
                <a:ea typeface="Yu Gothic"/>
                <a:cs typeface="Yu Gothic"/>
              </a:rPr>
              <a:t>目的と完成条件から、試作品まで進める</a:t>
            </a:r>
          </a:p>
        </p:txBody>
      </p:sp>
      <p:sp>
        <p:nvSpPr>
          <p:cNvPr id="5" name="">
            <a:extLst xmlns:a="http://schemas.openxmlformats.org/drawingml/2006/main">
              <a:ext uri="{FF2B5EF4-FFF2-40B4-BE49-F238E27FC236}">
                <a16:creationId xmlns:a16="http://schemas.microsoft.com/office/drawing/2014/main" id="{2D35EE01-AE15-4C4E-A010-0B7B6DBFCD5C}"/>
              </a:ext>
            </a:extLst>
          </p:cNvPr>
          <p:cNvSpPr>
            <a:spLocks xmlns:a="http://schemas.openxmlformats.org/drawingml/2006/main" noGrp="1"/>
          </p:cNvSpPr>
          <p:nvPr/>
        </p:nvSpPr>
        <p:spPr>
          <a:xfrm xmlns:a="http://schemas.openxmlformats.org/drawingml/2006/main">
            <a:off x="723900" y="4381500"/>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153302EA-DF2B-47BF-B94A-F3FEB205D25D}"/>
              </a:ext>
            </a:extLst>
          </p:cNvPr>
          <p:cNvSpPr>
            <a:spLocks xmlns:a="http://schemas.openxmlformats.org/drawingml/2006/main" noGrp="1"/>
          </p:cNvSpPr>
          <p:nvPr/>
        </p:nvSpPr>
        <p:spPr>
          <a:xfrm xmlns:a="http://schemas.openxmlformats.org/drawingml/2006/main">
            <a:off x="1200150" y="435292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要件</a:t>
            </a:r>
          </a:p>
        </p:txBody>
      </p:sp>
      <p:sp>
        <p:nvSpPr>
          <p:cNvPr id="7" name="">
            <a:extLst xmlns:a="http://schemas.openxmlformats.org/drawingml/2006/main">
              <a:ext uri="{FF2B5EF4-FFF2-40B4-BE49-F238E27FC236}">
                <a16:creationId xmlns:a16="http://schemas.microsoft.com/office/drawing/2014/main" id="{B70FC083-50B8-4CA2-8036-99772AC94419}"/>
              </a:ext>
            </a:extLst>
          </p:cNvPr>
          <p:cNvSpPr>
            <a:spLocks xmlns:a="http://schemas.openxmlformats.org/drawingml/2006/main" noGrp="1"/>
          </p:cNvSpPr>
          <p:nvPr/>
        </p:nvSpPr>
        <p:spPr>
          <a:xfrm xmlns:a="http://schemas.openxmlformats.org/drawingml/2006/main">
            <a:off x="723900" y="4943475"/>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02</a:t>
            </a:r>
          </a:p>
        </p:txBody>
      </p:sp>
      <p:sp>
        <p:nvSpPr>
          <p:cNvPr id="8" name="">
            <a:extLst xmlns:a="http://schemas.openxmlformats.org/drawingml/2006/main">
              <a:ext uri="{FF2B5EF4-FFF2-40B4-BE49-F238E27FC236}">
                <a16:creationId xmlns:a16="http://schemas.microsoft.com/office/drawing/2014/main" id="{3C1902DD-A4BF-4579-9327-7282774E0DEE}"/>
              </a:ext>
            </a:extLst>
          </p:cNvPr>
          <p:cNvSpPr>
            <a:spLocks xmlns:a="http://schemas.openxmlformats.org/drawingml/2006/main" noGrp="1"/>
          </p:cNvSpPr>
          <p:nvPr/>
        </p:nvSpPr>
        <p:spPr>
          <a:xfrm xmlns:a="http://schemas.openxmlformats.org/drawingml/2006/main">
            <a:off x="1200150" y="4914900"/>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画面と実装</a:t>
            </a:r>
          </a:p>
        </p:txBody>
      </p:sp>
      <p:sp>
        <p:nvSpPr>
          <p:cNvPr id="9" name="">
            <a:extLst xmlns:a="http://schemas.openxmlformats.org/drawingml/2006/main">
              <a:ext uri="{FF2B5EF4-FFF2-40B4-BE49-F238E27FC236}">
                <a16:creationId xmlns:a16="http://schemas.microsoft.com/office/drawing/2014/main" id="{4DE0A657-AAB7-40FD-ADB3-4B144EDB48DF}"/>
              </a:ext>
            </a:extLst>
          </p:cNvPr>
          <p:cNvSpPr>
            <a:spLocks xmlns:a="http://schemas.openxmlformats.org/drawingml/2006/main" noGrp="1"/>
          </p:cNvSpPr>
          <p:nvPr/>
        </p:nvSpPr>
        <p:spPr>
          <a:xfrm xmlns:a="http://schemas.openxmlformats.org/drawingml/2006/main">
            <a:off x="723900" y="5505450"/>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03</a:t>
            </a:r>
          </a:p>
        </p:txBody>
      </p:sp>
      <p:sp>
        <p:nvSpPr>
          <p:cNvPr id="10" name="">
            <a:extLst xmlns:a="http://schemas.openxmlformats.org/drawingml/2006/main">
              <a:ext uri="{FF2B5EF4-FFF2-40B4-BE49-F238E27FC236}">
                <a16:creationId xmlns:a16="http://schemas.microsoft.com/office/drawing/2014/main" id="{83BF276A-344D-429E-813E-FB878CFBEAC6}"/>
              </a:ext>
            </a:extLst>
          </p:cNvPr>
          <p:cNvSpPr>
            <a:spLocks xmlns:a="http://schemas.openxmlformats.org/drawingml/2006/main" noGrp="1"/>
          </p:cNvSpPr>
          <p:nvPr/>
        </p:nvSpPr>
        <p:spPr>
          <a:xfrm xmlns:a="http://schemas.openxmlformats.org/drawingml/2006/main">
            <a:off x="1200150" y="547687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操作・テスト・修正</a:t>
            </a:r>
          </a:p>
        </p:txBody>
      </p:sp>
      <p:sp>
        <p:nvSpPr>
          <p:cNvPr id="11" name="">
            <a:extLst xmlns:a="http://schemas.openxmlformats.org/drawingml/2006/main">
              <a:ext uri="{FF2B5EF4-FFF2-40B4-BE49-F238E27FC236}">
                <a16:creationId xmlns:a16="http://schemas.microsoft.com/office/drawing/2014/main" id="{EFB689AA-85AB-48D6-B1A1-F4A639F10EF9}"/>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16 / 38</a:t>
            </a:r>
          </a:p>
        </p:txBody>
      </p:sp>
    </p:spTree>
    <p:extLst>
      <p:ext uri="{BB962C8B-B14F-4D97-AF65-F5344CB8AC3E}">
        <p14:creationId xmlns:p14="http://schemas.microsoft.com/office/powerpoint/2010/main" val="189833138"/>
      </p:ext>
    </p:extLst>
  </p:cSld>
</p:sld>
</file>

<file path=ppt/slides/slide17.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040EA38-67AE-4839-861E-1EC2C243BED8}"/>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Astraに何ができるか</a:t>
            </a:r>
          </a:p>
        </p:txBody>
      </p:sp>
      <p:sp>
        <p:nvSpPr>
          <p:cNvPr id="2" name="">
            <a:extLst xmlns:a="http://schemas.openxmlformats.org/drawingml/2006/main">
              <a:ext uri="{FF2B5EF4-FFF2-40B4-BE49-F238E27FC236}">
                <a16:creationId xmlns:a16="http://schemas.microsoft.com/office/drawing/2014/main" id="{D7830AB5-9CE5-437F-9A50-C672BEE0A442}"/>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ブラウザ・PC操作</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7582db7b90141e3"/>
          <a:srcRect xmlns:a="http://schemas.openxmlformats.org/drawingml/2006/main" l="228" t="0" r="228" b="0"/>
          <a:stretch xmlns:a="http://schemas.openxmlformats.org/drawingml/2006/main">
            <a:fillRect l="0" t="0" r="0" b="0"/>
          </a:stretch>
        </p:blipFill>
        <p:spPr>
          <a:xfrm xmlns:a="http://schemas.openxmlformats.org/drawingml/2006/main">
            <a:off x="6238875" y="2600325"/>
            <a:ext cx="5191125" cy="3476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2723B01-208C-4FC8-9C6B-ABFA1CE5B701}"/>
              </a:ext>
            </a:extLst>
          </p:cNvPr>
          <p:cNvSpPr>
            <a:spLocks xmlns:a="http://schemas.openxmlformats.org/drawingml/2006/main" noGrp="1"/>
          </p:cNvSpPr>
          <p:nvPr/>
        </p:nvSpPr>
        <p:spPr>
          <a:xfrm xmlns:a="http://schemas.openxmlformats.org/drawingml/2006/main">
            <a:off x="723900" y="2695575"/>
            <a:ext cx="5000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0D2A43"/>
                </a:solidFill>
                <a:latin typeface="Yu Gothic"/>
                <a:ea typeface="Yu Gothic"/>
                <a:cs typeface="Yu Gothic"/>
              </a:defRPr>
            </a:pPr>
            <a:r>
              <a:rPr sz="3300" b="1">
                <a:solidFill>
                  <a:srgbClr val="0D2A43"/>
                </a:solidFill>
                <a:latin typeface="Yu Gothic"/>
                <a:ea typeface="Yu Gothic"/>
                <a:cs typeface="Yu Gothic"/>
              </a:rPr>
              <a:t>画面を読み、操作し、結果を確かめる</a:t>
            </a:r>
          </a:p>
        </p:txBody>
      </p:sp>
      <p:sp>
        <p:nvSpPr>
          <p:cNvPr id="5" name="">
            <a:extLst xmlns:a="http://schemas.openxmlformats.org/drawingml/2006/main">
              <a:ext uri="{FF2B5EF4-FFF2-40B4-BE49-F238E27FC236}">
                <a16:creationId xmlns:a16="http://schemas.microsoft.com/office/drawing/2014/main" id="{BC5C348A-A9D7-466B-9C98-F1669D0410ED}"/>
              </a:ext>
            </a:extLst>
          </p:cNvPr>
          <p:cNvSpPr>
            <a:spLocks xmlns:a="http://schemas.openxmlformats.org/drawingml/2006/main" noGrp="1"/>
          </p:cNvSpPr>
          <p:nvPr/>
        </p:nvSpPr>
        <p:spPr>
          <a:xfrm xmlns:a="http://schemas.openxmlformats.org/drawingml/2006/main">
            <a:off x="723900" y="4591050"/>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2C4EBCD1-026C-4FA0-8110-B33249B38376}"/>
              </a:ext>
            </a:extLst>
          </p:cNvPr>
          <p:cNvSpPr>
            <a:spLocks xmlns:a="http://schemas.openxmlformats.org/drawingml/2006/main" noGrp="1"/>
          </p:cNvSpPr>
          <p:nvPr/>
        </p:nvSpPr>
        <p:spPr>
          <a:xfrm xmlns:a="http://schemas.openxmlformats.org/drawingml/2006/main">
            <a:off x="1200150" y="457200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365C76"/>
                </a:solidFill>
                <a:latin typeface="Yu Gothic"/>
                <a:ea typeface="Yu Gothic"/>
                <a:cs typeface="Yu Gothic"/>
              </a:defRPr>
            </a:pPr>
            <a:r>
              <a:rPr sz="2025" b="1">
                <a:solidFill>
                  <a:srgbClr val="365C76"/>
                </a:solidFill>
                <a:latin typeface="Yu Gothic"/>
                <a:ea typeface="Yu Gothic"/>
                <a:cs typeface="Yu Gothic"/>
              </a:rPr>
              <a:t>調べる</a:t>
            </a:r>
          </a:p>
        </p:txBody>
      </p:sp>
      <p:sp>
        <p:nvSpPr>
          <p:cNvPr id="7" name="">
            <a:extLst xmlns:a="http://schemas.openxmlformats.org/drawingml/2006/main">
              <a:ext uri="{FF2B5EF4-FFF2-40B4-BE49-F238E27FC236}">
                <a16:creationId xmlns:a16="http://schemas.microsoft.com/office/drawing/2014/main" id="{138537EB-1B27-4378-A966-72BE122C68B8}"/>
              </a:ext>
            </a:extLst>
          </p:cNvPr>
          <p:cNvSpPr>
            <a:spLocks xmlns:a="http://schemas.openxmlformats.org/drawingml/2006/main" noGrp="1"/>
          </p:cNvSpPr>
          <p:nvPr/>
        </p:nvSpPr>
        <p:spPr>
          <a:xfrm xmlns:a="http://schemas.openxmlformats.org/drawingml/2006/main">
            <a:off x="723900" y="5114925"/>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02</a:t>
            </a:r>
          </a:p>
        </p:txBody>
      </p:sp>
      <p:sp>
        <p:nvSpPr>
          <p:cNvPr id="8" name="">
            <a:extLst xmlns:a="http://schemas.openxmlformats.org/drawingml/2006/main">
              <a:ext uri="{FF2B5EF4-FFF2-40B4-BE49-F238E27FC236}">
                <a16:creationId xmlns:a16="http://schemas.microsoft.com/office/drawing/2014/main" id="{8D5BFD53-1E44-46F1-94F1-79FE8E3CA41E}"/>
              </a:ext>
            </a:extLst>
          </p:cNvPr>
          <p:cNvSpPr>
            <a:spLocks xmlns:a="http://schemas.openxmlformats.org/drawingml/2006/main" noGrp="1"/>
          </p:cNvSpPr>
          <p:nvPr/>
        </p:nvSpPr>
        <p:spPr>
          <a:xfrm xmlns:a="http://schemas.openxmlformats.org/drawingml/2006/main">
            <a:off x="1200150" y="5095875"/>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365C76"/>
                </a:solidFill>
                <a:latin typeface="Yu Gothic"/>
                <a:ea typeface="Yu Gothic"/>
                <a:cs typeface="Yu Gothic"/>
              </a:defRPr>
            </a:pPr>
            <a:r>
              <a:rPr sz="2025" b="1">
                <a:solidFill>
                  <a:srgbClr val="365C76"/>
                </a:solidFill>
                <a:latin typeface="Yu Gothic"/>
                <a:ea typeface="Yu Gothic"/>
                <a:cs typeface="Yu Gothic"/>
              </a:rPr>
              <a:t>入力する</a:t>
            </a:r>
          </a:p>
        </p:txBody>
      </p:sp>
      <p:sp>
        <p:nvSpPr>
          <p:cNvPr id="9" name="">
            <a:extLst xmlns:a="http://schemas.openxmlformats.org/drawingml/2006/main">
              <a:ext uri="{FF2B5EF4-FFF2-40B4-BE49-F238E27FC236}">
                <a16:creationId xmlns:a16="http://schemas.microsoft.com/office/drawing/2014/main" id="{23F2352E-C402-4FF2-B00E-CAF0212A59D8}"/>
              </a:ext>
            </a:extLst>
          </p:cNvPr>
          <p:cNvSpPr>
            <a:spLocks xmlns:a="http://schemas.openxmlformats.org/drawingml/2006/main" noGrp="1"/>
          </p:cNvSpPr>
          <p:nvPr/>
        </p:nvSpPr>
        <p:spPr>
          <a:xfrm xmlns:a="http://schemas.openxmlformats.org/drawingml/2006/main">
            <a:off x="723900" y="5638800"/>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03</a:t>
            </a:r>
          </a:p>
        </p:txBody>
      </p:sp>
      <p:sp>
        <p:nvSpPr>
          <p:cNvPr id="10" name="">
            <a:extLst xmlns:a="http://schemas.openxmlformats.org/drawingml/2006/main">
              <a:ext uri="{FF2B5EF4-FFF2-40B4-BE49-F238E27FC236}">
                <a16:creationId xmlns:a16="http://schemas.microsoft.com/office/drawing/2014/main" id="{90CC7917-297C-4FDA-B112-02B4B9F09A96}"/>
              </a:ext>
            </a:extLst>
          </p:cNvPr>
          <p:cNvSpPr>
            <a:spLocks xmlns:a="http://schemas.openxmlformats.org/drawingml/2006/main" noGrp="1"/>
          </p:cNvSpPr>
          <p:nvPr/>
        </p:nvSpPr>
        <p:spPr>
          <a:xfrm xmlns:a="http://schemas.openxmlformats.org/drawingml/2006/main">
            <a:off x="1200150" y="561975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365C76"/>
                </a:solidFill>
                <a:latin typeface="Yu Gothic"/>
                <a:ea typeface="Yu Gothic"/>
                <a:cs typeface="Yu Gothic"/>
              </a:defRPr>
            </a:pPr>
            <a:r>
              <a:rPr sz="2025" b="1">
                <a:solidFill>
                  <a:srgbClr val="365C76"/>
                </a:solidFill>
                <a:latin typeface="Yu Gothic"/>
                <a:ea typeface="Yu Gothic"/>
                <a:cs typeface="Yu Gothic"/>
              </a:rPr>
              <a:t>結果を見る</a:t>
            </a:r>
          </a:p>
        </p:txBody>
      </p:sp>
      <p:sp>
        <p:nvSpPr>
          <p:cNvPr id="11" name="">
            <a:extLst xmlns:a="http://schemas.openxmlformats.org/drawingml/2006/main">
              <a:ext uri="{FF2B5EF4-FFF2-40B4-BE49-F238E27FC236}">
                <a16:creationId xmlns:a16="http://schemas.microsoft.com/office/drawing/2014/main" id="{35832D94-4AAA-4FC6-98CB-C0622DEEAC7F}"/>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17 / 38</a:t>
            </a:r>
          </a:p>
        </p:txBody>
      </p:sp>
    </p:spTree>
    <p:extLst>
      <p:ext uri="{BB962C8B-B14F-4D97-AF65-F5344CB8AC3E}">
        <p14:creationId xmlns:p14="http://schemas.microsoft.com/office/powerpoint/2010/main" val="1122466731"/>
      </p:ext>
    </p:extLst>
  </p:cSld>
</p:sld>
</file>

<file path=ppt/slides/slide18.xml><?xml version="1.0" encoding="utf-8"?>
<p:sld xmlns:p="http://schemas.openxmlformats.org/presentationml/2006/main">
  <p:cSld>
    <p:bg>
      <p:bgPr>
        <a:solidFill xmlns:a="http://schemas.openxmlformats.org/drawingml/2006/main">
          <a:srgbClr val="E1F2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540D27-7186-4E78-825D-7857C597D418}"/>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Astraに何ができるか</a:t>
            </a:r>
          </a:p>
        </p:txBody>
      </p:sp>
      <p:sp>
        <p:nvSpPr>
          <p:cNvPr id="2" name="">
            <a:extLst xmlns:a="http://schemas.openxmlformats.org/drawingml/2006/main">
              <a:ext uri="{FF2B5EF4-FFF2-40B4-BE49-F238E27FC236}">
                <a16:creationId xmlns:a16="http://schemas.microsoft.com/office/drawing/2014/main" id="{3B9A494E-03F7-4AFA-8B63-F3A3818F0B58}"/>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画像とデザイン</a:t>
            </a:r>
          </a:p>
        </p:txBody>
      </p:sp>
      <p:sp>
        <p:nvSpPr>
          <p:cNvPr id="3" name="">
            <a:extLst xmlns:a="http://schemas.openxmlformats.org/drawingml/2006/main">
              <a:ext uri="{FF2B5EF4-FFF2-40B4-BE49-F238E27FC236}">
                <a16:creationId xmlns:a16="http://schemas.microsoft.com/office/drawing/2014/main" id="{EDA6732D-01A7-4075-9348-FA6CD13CA356}"/>
              </a:ext>
            </a:extLst>
          </p:cNvPr>
          <p:cNvSpPr>
            <a:spLocks xmlns:a="http://schemas.openxmlformats.org/drawingml/2006/main" noGrp="1"/>
          </p:cNvSpPr>
          <p:nvPr/>
        </p:nvSpPr>
        <p:spPr>
          <a:xfrm xmlns:a="http://schemas.openxmlformats.org/drawingml/2006/main">
            <a:off x="723900" y="2571750"/>
            <a:ext cx="1066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925" b="1">
                <a:solidFill>
                  <a:srgbClr val="0D2A43"/>
                </a:solidFill>
                <a:latin typeface="Yu Gothic"/>
                <a:ea typeface="Yu Gothic"/>
                <a:cs typeface="Yu Gothic"/>
              </a:defRPr>
            </a:pPr>
            <a:r>
              <a:rPr sz="2925" b="1">
                <a:solidFill>
                  <a:srgbClr val="0D2A43"/>
                </a:solidFill>
                <a:latin typeface="Yu Gothic"/>
                <a:ea typeface="Yu Gothic"/>
                <a:cs typeface="Yu Gothic"/>
              </a:rPr>
              <a:t>見て評価し、生成ツールで素材を作る</a:t>
            </a:r>
          </a:p>
        </p:txBody>
      </p:sp>
      <p:sp>
        <p:nvSpPr>
          <p:cNvPr id="4" name="">
            <a:extLst xmlns:a="http://schemas.openxmlformats.org/drawingml/2006/main">
              <a:ext uri="{FF2B5EF4-FFF2-40B4-BE49-F238E27FC236}">
                <a16:creationId xmlns:a16="http://schemas.microsoft.com/office/drawing/2014/main" id="{E37AB574-77DB-4415-9D5C-9CA63D7A6958}"/>
              </a:ext>
            </a:extLst>
          </p:cNvPr>
          <p:cNvSpPr>
            <a:spLocks xmlns:a="http://schemas.openxmlformats.org/drawingml/2006/main" noGrp="1"/>
          </p:cNvSpPr>
          <p:nvPr/>
        </p:nvSpPr>
        <p:spPr>
          <a:xfrm xmlns:a="http://schemas.openxmlformats.org/drawingml/2006/main">
            <a:off x="723900" y="4286250"/>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2A77A3"/>
                </a:solidFill>
                <a:latin typeface="Yu Gothic"/>
                <a:ea typeface="Yu Gothic"/>
                <a:cs typeface="Yu Gothic"/>
              </a:defRPr>
            </a:pPr>
            <a:r>
              <a:rPr sz="1800" b="1">
                <a:solidFill>
                  <a:srgbClr val="2A77A3"/>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1998F4C7-BFCC-41E1-86E6-BBFAC2C42CE5}"/>
              </a:ext>
            </a:extLst>
          </p:cNvPr>
          <p:cNvSpPr>
            <a:spLocks xmlns:a="http://schemas.openxmlformats.org/drawingml/2006/main" noGrp="1"/>
          </p:cNvSpPr>
          <p:nvPr/>
        </p:nvSpPr>
        <p:spPr>
          <a:xfrm xmlns:a="http://schemas.openxmlformats.org/drawingml/2006/main">
            <a:off x="723900" y="4800600"/>
            <a:ext cx="33432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画像を読む</a:t>
            </a:r>
          </a:p>
        </p:txBody>
      </p:sp>
      <p:sp>
        <p:nvSpPr>
          <p:cNvPr id="6" name="">
            <a:extLst xmlns:a="http://schemas.openxmlformats.org/drawingml/2006/main">
              <a:ext uri="{FF2B5EF4-FFF2-40B4-BE49-F238E27FC236}">
                <a16:creationId xmlns:a16="http://schemas.microsoft.com/office/drawing/2014/main" id="{44AEEDA5-D64F-4910-AAD9-871BE65017D6}"/>
              </a:ext>
            </a:extLst>
          </p:cNvPr>
          <p:cNvSpPr>
            <a:spLocks xmlns:a="http://schemas.openxmlformats.org/drawingml/2006/main" noGrp="1"/>
          </p:cNvSpPr>
          <p:nvPr/>
        </p:nvSpPr>
        <p:spPr>
          <a:xfrm xmlns:a="http://schemas.openxmlformats.org/drawingml/2006/main">
            <a:off x="4276725" y="4286250"/>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2A77A3"/>
                </a:solidFill>
                <a:latin typeface="Yu Gothic"/>
                <a:ea typeface="Yu Gothic"/>
                <a:cs typeface="Yu Gothic"/>
              </a:defRPr>
            </a:pPr>
            <a:r>
              <a:rPr sz="1800" b="1">
                <a:solidFill>
                  <a:srgbClr val="2A77A3"/>
                </a:solidFill>
                <a:latin typeface="Yu Gothic"/>
                <a:ea typeface="Yu Gothic"/>
                <a:cs typeface="Yu Gothic"/>
              </a:rPr>
              <a:t>02</a:t>
            </a:r>
          </a:p>
        </p:txBody>
      </p:sp>
      <p:sp>
        <p:nvSpPr>
          <p:cNvPr id="7" name="">
            <a:extLst xmlns:a="http://schemas.openxmlformats.org/drawingml/2006/main">
              <a:ext uri="{FF2B5EF4-FFF2-40B4-BE49-F238E27FC236}">
                <a16:creationId xmlns:a16="http://schemas.microsoft.com/office/drawing/2014/main" id="{EED6A932-DE15-466D-BA28-3B4541200CA7}"/>
              </a:ext>
            </a:extLst>
          </p:cNvPr>
          <p:cNvSpPr>
            <a:spLocks xmlns:a="http://schemas.openxmlformats.org/drawingml/2006/main" noGrp="1"/>
          </p:cNvSpPr>
          <p:nvPr/>
        </p:nvSpPr>
        <p:spPr>
          <a:xfrm xmlns:a="http://schemas.openxmlformats.org/drawingml/2006/main">
            <a:off x="4276725" y="4800600"/>
            <a:ext cx="33432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デザインを評価</a:t>
            </a:r>
          </a:p>
        </p:txBody>
      </p:sp>
      <p:sp>
        <p:nvSpPr>
          <p:cNvPr id="8" name="">
            <a:extLst xmlns:a="http://schemas.openxmlformats.org/drawingml/2006/main">
              <a:ext uri="{FF2B5EF4-FFF2-40B4-BE49-F238E27FC236}">
                <a16:creationId xmlns:a16="http://schemas.microsoft.com/office/drawing/2014/main" id="{32D3AA0E-2701-4B92-A50E-02534DC13209}"/>
              </a:ext>
            </a:extLst>
          </p:cNvPr>
          <p:cNvSpPr>
            <a:spLocks xmlns:a="http://schemas.openxmlformats.org/drawingml/2006/main" noGrp="1"/>
          </p:cNvSpPr>
          <p:nvPr/>
        </p:nvSpPr>
        <p:spPr>
          <a:xfrm xmlns:a="http://schemas.openxmlformats.org/drawingml/2006/main">
            <a:off x="7829550" y="4286250"/>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2A77A3"/>
                </a:solidFill>
                <a:latin typeface="Yu Gothic"/>
                <a:ea typeface="Yu Gothic"/>
                <a:cs typeface="Yu Gothic"/>
              </a:defRPr>
            </a:pPr>
            <a:r>
              <a:rPr sz="1800" b="1">
                <a:solidFill>
                  <a:srgbClr val="2A77A3"/>
                </a:solidFill>
                <a:latin typeface="Yu Gothic"/>
                <a:ea typeface="Yu Gothic"/>
                <a:cs typeface="Yu Gothic"/>
              </a:rPr>
              <a:t>03</a:t>
            </a:r>
          </a:p>
        </p:txBody>
      </p:sp>
      <p:sp>
        <p:nvSpPr>
          <p:cNvPr id="9" name="">
            <a:extLst xmlns:a="http://schemas.openxmlformats.org/drawingml/2006/main">
              <a:ext uri="{FF2B5EF4-FFF2-40B4-BE49-F238E27FC236}">
                <a16:creationId xmlns:a16="http://schemas.microsoft.com/office/drawing/2014/main" id="{9CB2CC3F-2D1F-4417-AE63-0442476B2174}"/>
              </a:ext>
            </a:extLst>
          </p:cNvPr>
          <p:cNvSpPr>
            <a:spLocks xmlns:a="http://schemas.openxmlformats.org/drawingml/2006/main" noGrp="1"/>
          </p:cNvSpPr>
          <p:nvPr/>
        </p:nvSpPr>
        <p:spPr>
          <a:xfrm xmlns:a="http://schemas.openxmlformats.org/drawingml/2006/main">
            <a:off x="7829550" y="4800600"/>
            <a:ext cx="33432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画像生成ツールを使う</a:t>
            </a:r>
          </a:p>
        </p:txBody>
      </p:sp>
      <p:sp>
        <p:nvSpPr>
          <p:cNvPr id="10" name="">
            <a:extLst xmlns:a="http://schemas.openxmlformats.org/drawingml/2006/main">
              <a:ext uri="{FF2B5EF4-FFF2-40B4-BE49-F238E27FC236}">
                <a16:creationId xmlns:a16="http://schemas.microsoft.com/office/drawing/2014/main" id="{F717C4CA-9A95-45C1-A81D-7A93F04C2FB1}"/>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18 / 38</a:t>
            </a:r>
          </a:p>
        </p:txBody>
      </p:sp>
    </p:spTree>
    <p:extLst>
      <p:ext uri="{BB962C8B-B14F-4D97-AF65-F5344CB8AC3E}">
        <p14:creationId xmlns:p14="http://schemas.microsoft.com/office/powerpoint/2010/main" val="958548192"/>
      </p:ext>
    </p:extLst>
  </p:cSld>
</p:sld>
</file>

<file path=ppt/slides/slide19.xml><?xml version="1.0" encoding="utf-8"?>
<p:sld xmlns:p="http://schemas.openxmlformats.org/presentationml/2006/main">
  <p:cSld>
    <p:bg>
      <p:bgPr>
        <a:solidFill xmlns:a="http://schemas.openxmlformats.org/drawingml/2006/main">
          <a:srgbClr val="EDF7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CD7EE9-77CF-471A-96E5-DCAE2FF4C492}"/>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Astraに何ができるか</a:t>
            </a:r>
          </a:p>
        </p:txBody>
      </p:sp>
      <p:sp>
        <p:nvSpPr>
          <p:cNvPr id="2" name="">
            <a:extLst xmlns:a="http://schemas.openxmlformats.org/drawingml/2006/main">
              <a:ext uri="{FF2B5EF4-FFF2-40B4-BE49-F238E27FC236}">
                <a16:creationId xmlns:a16="http://schemas.microsoft.com/office/drawing/2014/main" id="{87B8A34B-B5E0-487B-B9DC-98784A0191F5}"/>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コードの修正と点検</a:t>
            </a:r>
          </a:p>
        </p:txBody>
      </p:sp>
      <p:sp>
        <p:nvSpPr>
          <p:cNvPr id="3" name="">
            <a:extLst xmlns:a="http://schemas.openxmlformats.org/drawingml/2006/main">
              <a:ext uri="{FF2B5EF4-FFF2-40B4-BE49-F238E27FC236}">
                <a16:creationId xmlns:a16="http://schemas.microsoft.com/office/drawing/2014/main" id="{68781A0C-7199-4BB6-89FD-72257C9003B7}"/>
              </a:ext>
            </a:extLst>
          </p:cNvPr>
          <p:cNvSpPr>
            <a:spLocks xmlns:a="http://schemas.openxmlformats.org/drawingml/2006/main" noGrp="1"/>
          </p:cNvSpPr>
          <p:nvPr/>
        </p:nvSpPr>
        <p:spPr>
          <a:xfrm xmlns:a="http://schemas.openxmlformats.org/drawingml/2006/main">
            <a:off x="723900" y="2571750"/>
            <a:ext cx="1066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925" b="1">
                <a:solidFill>
                  <a:srgbClr val="0D2A43"/>
                </a:solidFill>
                <a:latin typeface="Yu Gothic"/>
                <a:ea typeface="Yu Gothic"/>
                <a:cs typeface="Yu Gothic"/>
              </a:defRPr>
            </a:pPr>
            <a:r>
              <a:rPr sz="2925" b="1">
                <a:solidFill>
                  <a:srgbClr val="0D2A43"/>
                </a:solidFill>
                <a:latin typeface="Yu Gothic"/>
                <a:ea typeface="Yu Gothic"/>
                <a:cs typeface="Yu Gothic"/>
              </a:rPr>
              <a:t>原因を探し、直し、試して確かめる</a:t>
            </a:r>
          </a:p>
        </p:txBody>
      </p:sp>
      <p:sp>
        <p:nvSpPr>
          <p:cNvPr id="4" name="">
            <a:extLst xmlns:a="http://schemas.openxmlformats.org/drawingml/2006/main">
              <a:ext uri="{FF2B5EF4-FFF2-40B4-BE49-F238E27FC236}">
                <a16:creationId xmlns:a16="http://schemas.microsoft.com/office/drawing/2014/main" id="{38B67068-EED7-44C1-8440-CED0C2B3A869}"/>
              </a:ext>
            </a:extLst>
          </p:cNvPr>
          <p:cNvSpPr>
            <a:spLocks xmlns:a="http://schemas.openxmlformats.org/drawingml/2006/main" noGrp="1"/>
          </p:cNvSpPr>
          <p:nvPr/>
        </p:nvSpPr>
        <p:spPr>
          <a:xfrm xmlns:a="http://schemas.openxmlformats.org/drawingml/2006/main">
            <a:off x="723900" y="4286250"/>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2A77A3"/>
                </a:solidFill>
                <a:latin typeface="Yu Gothic"/>
                <a:ea typeface="Yu Gothic"/>
                <a:cs typeface="Yu Gothic"/>
              </a:defRPr>
            </a:pPr>
            <a:r>
              <a:rPr sz="1800" b="1">
                <a:solidFill>
                  <a:srgbClr val="2A77A3"/>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F8A30FF3-A865-4D95-B031-CFBD35B4F95E}"/>
              </a:ext>
            </a:extLst>
          </p:cNvPr>
          <p:cNvSpPr>
            <a:spLocks xmlns:a="http://schemas.openxmlformats.org/drawingml/2006/main" noGrp="1"/>
          </p:cNvSpPr>
          <p:nvPr/>
        </p:nvSpPr>
        <p:spPr>
          <a:xfrm xmlns:a="http://schemas.openxmlformats.org/drawingml/2006/main">
            <a:off x="723900" y="4800600"/>
            <a:ext cx="33432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調査</a:t>
            </a:r>
          </a:p>
        </p:txBody>
      </p:sp>
      <p:sp>
        <p:nvSpPr>
          <p:cNvPr id="6" name="">
            <a:extLst xmlns:a="http://schemas.openxmlformats.org/drawingml/2006/main">
              <a:ext uri="{FF2B5EF4-FFF2-40B4-BE49-F238E27FC236}">
                <a16:creationId xmlns:a16="http://schemas.microsoft.com/office/drawing/2014/main" id="{5EBD026A-06E0-444C-93A9-CC8837015237}"/>
              </a:ext>
            </a:extLst>
          </p:cNvPr>
          <p:cNvSpPr>
            <a:spLocks xmlns:a="http://schemas.openxmlformats.org/drawingml/2006/main" noGrp="1"/>
          </p:cNvSpPr>
          <p:nvPr/>
        </p:nvSpPr>
        <p:spPr>
          <a:xfrm xmlns:a="http://schemas.openxmlformats.org/drawingml/2006/main">
            <a:off x="4276725" y="4286250"/>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2A77A3"/>
                </a:solidFill>
                <a:latin typeface="Yu Gothic"/>
                <a:ea typeface="Yu Gothic"/>
                <a:cs typeface="Yu Gothic"/>
              </a:defRPr>
            </a:pPr>
            <a:r>
              <a:rPr sz="1800" b="1">
                <a:solidFill>
                  <a:srgbClr val="2A77A3"/>
                </a:solidFill>
                <a:latin typeface="Yu Gothic"/>
                <a:ea typeface="Yu Gothic"/>
                <a:cs typeface="Yu Gothic"/>
              </a:rPr>
              <a:t>02</a:t>
            </a:r>
          </a:p>
        </p:txBody>
      </p:sp>
      <p:sp>
        <p:nvSpPr>
          <p:cNvPr id="7" name="">
            <a:extLst xmlns:a="http://schemas.openxmlformats.org/drawingml/2006/main">
              <a:ext uri="{FF2B5EF4-FFF2-40B4-BE49-F238E27FC236}">
                <a16:creationId xmlns:a16="http://schemas.microsoft.com/office/drawing/2014/main" id="{C2452CF4-D287-4AFC-AC16-E35C34B397D5}"/>
              </a:ext>
            </a:extLst>
          </p:cNvPr>
          <p:cNvSpPr>
            <a:spLocks xmlns:a="http://schemas.openxmlformats.org/drawingml/2006/main" noGrp="1"/>
          </p:cNvSpPr>
          <p:nvPr/>
        </p:nvSpPr>
        <p:spPr>
          <a:xfrm xmlns:a="http://schemas.openxmlformats.org/drawingml/2006/main">
            <a:off x="4276725" y="4800600"/>
            <a:ext cx="33432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仮説と修正</a:t>
            </a:r>
          </a:p>
        </p:txBody>
      </p:sp>
      <p:sp>
        <p:nvSpPr>
          <p:cNvPr id="8" name="">
            <a:extLst xmlns:a="http://schemas.openxmlformats.org/drawingml/2006/main">
              <a:ext uri="{FF2B5EF4-FFF2-40B4-BE49-F238E27FC236}">
                <a16:creationId xmlns:a16="http://schemas.microsoft.com/office/drawing/2014/main" id="{36F08E7B-79B4-48EA-A235-0630237D815F}"/>
              </a:ext>
            </a:extLst>
          </p:cNvPr>
          <p:cNvSpPr>
            <a:spLocks xmlns:a="http://schemas.openxmlformats.org/drawingml/2006/main" noGrp="1"/>
          </p:cNvSpPr>
          <p:nvPr/>
        </p:nvSpPr>
        <p:spPr>
          <a:xfrm xmlns:a="http://schemas.openxmlformats.org/drawingml/2006/main">
            <a:off x="7829550" y="4286250"/>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2A77A3"/>
                </a:solidFill>
                <a:latin typeface="Yu Gothic"/>
                <a:ea typeface="Yu Gothic"/>
                <a:cs typeface="Yu Gothic"/>
              </a:defRPr>
            </a:pPr>
            <a:r>
              <a:rPr sz="1800" b="1">
                <a:solidFill>
                  <a:srgbClr val="2A77A3"/>
                </a:solidFill>
                <a:latin typeface="Yu Gothic"/>
                <a:ea typeface="Yu Gothic"/>
                <a:cs typeface="Yu Gothic"/>
              </a:rPr>
              <a:t>03</a:t>
            </a:r>
          </a:p>
        </p:txBody>
      </p:sp>
      <p:sp>
        <p:nvSpPr>
          <p:cNvPr id="9" name="">
            <a:extLst xmlns:a="http://schemas.openxmlformats.org/drawingml/2006/main">
              <a:ext uri="{FF2B5EF4-FFF2-40B4-BE49-F238E27FC236}">
                <a16:creationId xmlns:a16="http://schemas.microsoft.com/office/drawing/2014/main" id="{5279043B-6AA4-40E5-AC63-0509B3A84019}"/>
              </a:ext>
            </a:extLst>
          </p:cNvPr>
          <p:cNvSpPr>
            <a:spLocks xmlns:a="http://schemas.openxmlformats.org/drawingml/2006/main" noGrp="1"/>
          </p:cNvSpPr>
          <p:nvPr/>
        </p:nvSpPr>
        <p:spPr>
          <a:xfrm xmlns:a="http://schemas.openxmlformats.org/drawingml/2006/main">
            <a:off x="7829550" y="4800600"/>
            <a:ext cx="33432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テストと根拠</a:t>
            </a:r>
          </a:p>
        </p:txBody>
      </p:sp>
      <p:sp>
        <p:nvSpPr>
          <p:cNvPr id="10" name="">
            <a:extLst xmlns:a="http://schemas.openxmlformats.org/drawingml/2006/main">
              <a:ext uri="{FF2B5EF4-FFF2-40B4-BE49-F238E27FC236}">
                <a16:creationId xmlns:a16="http://schemas.microsoft.com/office/drawing/2014/main" id="{D4BB5D14-DAF1-4B28-B5AE-124CC5C7A182}"/>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19 / 38</a:t>
            </a:r>
          </a:p>
        </p:txBody>
      </p:sp>
    </p:spTree>
    <p:extLst>
      <p:ext uri="{BB962C8B-B14F-4D97-AF65-F5344CB8AC3E}">
        <p14:creationId xmlns:p14="http://schemas.microsoft.com/office/powerpoint/2010/main" val="593161648"/>
      </p:ext>
    </p:extLst>
  </p:cSld>
</p:sld>
</file>

<file path=ppt/slides/slide20.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1A123EE-CC9E-4B28-AA0B-F9E846582808}"/>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Astraに何ができるか</a:t>
            </a:r>
          </a:p>
        </p:txBody>
      </p:sp>
      <p:sp>
        <p:nvSpPr>
          <p:cNvPr id="2" name="">
            <a:extLst xmlns:a="http://schemas.openxmlformats.org/drawingml/2006/main">
              <a:ext uri="{FF2B5EF4-FFF2-40B4-BE49-F238E27FC236}">
                <a16:creationId xmlns:a16="http://schemas.microsoft.com/office/drawing/2014/main" id="{612BB47F-6974-40E9-9871-7A20DB199CA3}"/>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複数のAIで分担</a:t>
            </a:r>
          </a:p>
        </p:txBody>
      </p:sp>
      <p:sp>
        <p:nvSpPr>
          <p:cNvPr id="3" name="">
            <a:extLst xmlns:a="http://schemas.openxmlformats.org/drawingml/2006/main">
              <a:ext uri="{FF2B5EF4-FFF2-40B4-BE49-F238E27FC236}">
                <a16:creationId xmlns:a16="http://schemas.microsoft.com/office/drawing/2014/main" id="{3458A166-DF23-4970-B026-1393FFBD5E94}"/>
              </a:ext>
            </a:extLst>
          </p:cNvPr>
          <p:cNvSpPr>
            <a:spLocks xmlns:a="http://schemas.openxmlformats.org/drawingml/2006/main" noGrp="1"/>
          </p:cNvSpPr>
          <p:nvPr/>
        </p:nvSpPr>
        <p:spPr>
          <a:xfrm xmlns:a="http://schemas.openxmlformats.org/drawingml/2006/main">
            <a:off x="723900" y="25908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0D2A43"/>
                </a:solidFill>
                <a:latin typeface="Yu Gothic"/>
                <a:ea typeface="Yu Gothic"/>
                <a:cs typeface="Yu Gothic"/>
              </a:defRPr>
            </a:pPr>
            <a:r>
              <a:rPr sz="2850" b="1">
                <a:solidFill>
                  <a:srgbClr val="0D2A43"/>
                </a:solidFill>
                <a:latin typeface="Yu Gothic"/>
                <a:ea typeface="Yu Gothic"/>
                <a:cs typeface="Yu Gothic"/>
              </a:rPr>
              <a:t>独立した仕事は並列化し、最後に検証する</a:t>
            </a:r>
          </a:p>
        </p:txBody>
      </p:sp>
      <p:sp>
        <p:nvSpPr>
          <p:cNvPr id="4" name="">
            <a:extLst xmlns:a="http://schemas.openxmlformats.org/drawingml/2006/main">
              <a:ext uri="{FF2B5EF4-FFF2-40B4-BE49-F238E27FC236}">
                <a16:creationId xmlns:a16="http://schemas.microsoft.com/office/drawing/2014/main" id="{C6BDF570-00BA-4427-89D7-BF72A3FC88D7}"/>
              </a:ext>
            </a:extLst>
          </p:cNvPr>
          <p:cNvSpPr>
            <a:spLocks xmlns:a="http://schemas.openxmlformats.org/drawingml/2006/main" noGrp="1"/>
          </p:cNvSpPr>
          <p:nvPr/>
        </p:nvSpPr>
        <p:spPr>
          <a:xfrm xmlns:a="http://schemas.openxmlformats.org/drawingml/2006/main">
            <a:off x="723900" y="3714750"/>
            <a:ext cx="4667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5" name="">
            <a:extLst xmlns:a="http://schemas.openxmlformats.org/drawingml/2006/main">
              <a:ext uri="{FF2B5EF4-FFF2-40B4-BE49-F238E27FC236}">
                <a16:creationId xmlns:a16="http://schemas.microsoft.com/office/drawing/2014/main" id="{8C0E11AC-C8D9-4A6C-82D1-D42C82709C7E}"/>
              </a:ext>
            </a:extLst>
          </p:cNvPr>
          <p:cNvSpPr>
            <a:spLocks xmlns:a="http://schemas.openxmlformats.org/drawingml/2006/main" noGrp="1"/>
          </p:cNvSpPr>
          <p:nvPr/>
        </p:nvSpPr>
        <p:spPr>
          <a:xfrm xmlns:a="http://schemas.openxmlformats.org/drawingml/2006/main">
            <a:off x="904875" y="386715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E18BF49D-0F66-4000-A716-04A8A21A76C8}"/>
              </a:ext>
            </a:extLst>
          </p:cNvPr>
          <p:cNvSpPr>
            <a:spLocks xmlns:a="http://schemas.openxmlformats.org/drawingml/2006/main" noGrp="1"/>
          </p:cNvSpPr>
          <p:nvPr/>
        </p:nvSpPr>
        <p:spPr>
          <a:xfrm xmlns:a="http://schemas.openxmlformats.org/drawingml/2006/main">
            <a:off x="923925" y="4143375"/>
            <a:ext cx="4267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調査担当</a:t>
            </a:r>
          </a:p>
        </p:txBody>
      </p:sp>
      <p:sp>
        <p:nvSpPr>
          <p:cNvPr id="7" name="">
            <a:extLst xmlns:a="http://schemas.openxmlformats.org/drawingml/2006/main">
              <a:ext uri="{FF2B5EF4-FFF2-40B4-BE49-F238E27FC236}">
                <a16:creationId xmlns:a16="http://schemas.microsoft.com/office/drawing/2014/main" id="{97FA2FDA-45E4-47BF-B9E9-094C39CE4A64}"/>
              </a:ext>
            </a:extLst>
          </p:cNvPr>
          <p:cNvSpPr>
            <a:spLocks xmlns:a="http://schemas.openxmlformats.org/drawingml/2006/main" noGrp="1"/>
          </p:cNvSpPr>
          <p:nvPr/>
        </p:nvSpPr>
        <p:spPr>
          <a:xfrm xmlns:a="http://schemas.openxmlformats.org/drawingml/2006/main">
            <a:off x="6800850" y="3714750"/>
            <a:ext cx="4667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8" name="">
            <a:extLst xmlns:a="http://schemas.openxmlformats.org/drawingml/2006/main">
              <a:ext uri="{FF2B5EF4-FFF2-40B4-BE49-F238E27FC236}">
                <a16:creationId xmlns:a16="http://schemas.microsoft.com/office/drawing/2014/main" id="{07DE94FE-C2DE-44D0-9BD4-0AE65A34E238}"/>
              </a:ext>
            </a:extLst>
          </p:cNvPr>
          <p:cNvSpPr>
            <a:spLocks xmlns:a="http://schemas.openxmlformats.org/drawingml/2006/main" noGrp="1"/>
          </p:cNvSpPr>
          <p:nvPr/>
        </p:nvSpPr>
        <p:spPr>
          <a:xfrm xmlns:a="http://schemas.openxmlformats.org/drawingml/2006/main">
            <a:off x="6981825" y="386715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02</a:t>
            </a:r>
          </a:p>
        </p:txBody>
      </p:sp>
      <p:sp>
        <p:nvSpPr>
          <p:cNvPr id="9" name="">
            <a:extLst xmlns:a="http://schemas.openxmlformats.org/drawingml/2006/main">
              <a:ext uri="{FF2B5EF4-FFF2-40B4-BE49-F238E27FC236}">
                <a16:creationId xmlns:a16="http://schemas.microsoft.com/office/drawing/2014/main" id="{B77EFDBC-2186-4E6D-8D3E-EDA7BEFE970C}"/>
              </a:ext>
            </a:extLst>
          </p:cNvPr>
          <p:cNvSpPr>
            <a:spLocks xmlns:a="http://schemas.openxmlformats.org/drawingml/2006/main" noGrp="1"/>
          </p:cNvSpPr>
          <p:nvPr/>
        </p:nvSpPr>
        <p:spPr>
          <a:xfrm xmlns:a="http://schemas.openxmlformats.org/drawingml/2006/main">
            <a:off x="7000875" y="4143375"/>
            <a:ext cx="4267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検証担当</a:t>
            </a:r>
          </a:p>
        </p:txBody>
      </p:sp>
      <p:sp>
        <p:nvSpPr>
          <p:cNvPr id="10" name="">
            <a:extLst xmlns:a="http://schemas.openxmlformats.org/drawingml/2006/main">
              <a:ext uri="{FF2B5EF4-FFF2-40B4-BE49-F238E27FC236}">
                <a16:creationId xmlns:a16="http://schemas.microsoft.com/office/drawing/2014/main" id="{AB702A50-7BFB-46FD-B785-9A20F2269D12}"/>
              </a:ext>
            </a:extLst>
          </p:cNvPr>
          <p:cNvSpPr>
            <a:spLocks xmlns:a="http://schemas.openxmlformats.org/drawingml/2006/main" noGrp="1"/>
          </p:cNvSpPr>
          <p:nvPr/>
        </p:nvSpPr>
        <p:spPr>
          <a:xfrm xmlns:a="http://schemas.openxmlformats.org/drawingml/2006/main">
            <a:off x="4762500" y="476250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518"/>
          </a:bodyPr>
          <a:lstStyle xmlns:a="http://schemas.openxmlformats.org/drawingml/2006/main"/>
          <a:p xmlns:a="http://schemas.openxmlformats.org/drawingml/2006/main">
            <a:pPr>
              <a:defRPr sz="2700" b="1">
                <a:solidFill>
                  <a:srgbClr val="2A77A3"/>
                </a:solidFill>
                <a:latin typeface="Yu Gothic"/>
                <a:ea typeface="Yu Gothic"/>
                <a:cs typeface="Yu Gothic"/>
              </a:defRPr>
            </a:pPr>
            <a:r>
              <a:rPr sz="2700" b="1">
                <a:solidFill>
                  <a:srgbClr val="2A77A3"/>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0371EF54-21E2-4803-AC62-597A977F57BF}"/>
              </a:ext>
            </a:extLst>
          </p:cNvPr>
          <p:cNvSpPr>
            <a:spLocks xmlns:a="http://schemas.openxmlformats.org/drawingml/2006/main" noGrp="1"/>
          </p:cNvSpPr>
          <p:nvPr/>
        </p:nvSpPr>
        <p:spPr>
          <a:xfrm xmlns:a="http://schemas.openxmlformats.org/drawingml/2006/main">
            <a:off x="6572250" y="476250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518"/>
          </a:bodyPr>
          <a:lstStyle xmlns:a="http://schemas.openxmlformats.org/drawingml/2006/main"/>
          <a:p xmlns:a="http://schemas.openxmlformats.org/drawingml/2006/main">
            <a:pPr>
              <a:defRPr sz="2700" b="1">
                <a:solidFill>
                  <a:srgbClr val="2A77A3"/>
                </a:solidFill>
                <a:latin typeface="Yu Gothic"/>
                <a:ea typeface="Yu Gothic"/>
                <a:cs typeface="Yu Gothic"/>
              </a:defRPr>
            </a:pPr>
            <a:r>
              <a:rPr sz="2700" b="1">
                <a:solidFill>
                  <a:srgbClr val="2A77A3"/>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1E66FEC4-E8C7-4C31-B06F-A5AAA1328218}"/>
              </a:ext>
            </a:extLst>
          </p:cNvPr>
          <p:cNvSpPr>
            <a:spLocks xmlns:a="http://schemas.openxmlformats.org/drawingml/2006/main" noGrp="1"/>
          </p:cNvSpPr>
          <p:nvPr/>
        </p:nvSpPr>
        <p:spPr>
          <a:xfrm xmlns:a="http://schemas.openxmlformats.org/drawingml/2006/main">
            <a:off x="3771900" y="5305425"/>
            <a:ext cx="4667250" cy="923925"/>
          </a:xfrm>
          <a:prstGeom xmlns:a="http://schemas.openxmlformats.org/drawingml/2006/main" prst="rect">
            <a:avLst/>
          </a:prstGeom>
          <a:solidFill xmlns:a="http://schemas.openxmlformats.org/drawingml/2006/main">
            <a:srgbClr val="D7EEF8"/>
          </a:solidFill>
          <a:ln xmlns:a="http://schemas.openxmlformats.org/drawingml/2006/main" w="19050">
            <a:solidFill>
              <a:srgbClr val="2A77A3"/>
            </a:solidFill>
          </a:ln>
        </p:spPr>
      </p:sp>
      <p:sp>
        <p:nvSpPr>
          <p:cNvPr id="13" name="">
            <a:extLst xmlns:a="http://schemas.openxmlformats.org/drawingml/2006/main">
              <a:ext uri="{FF2B5EF4-FFF2-40B4-BE49-F238E27FC236}">
                <a16:creationId xmlns:a16="http://schemas.microsoft.com/office/drawing/2014/main" id="{64BC0715-31C8-4B44-9209-3E76B7CAA55C}"/>
              </a:ext>
            </a:extLst>
          </p:cNvPr>
          <p:cNvSpPr>
            <a:spLocks xmlns:a="http://schemas.openxmlformats.org/drawingml/2006/main" noGrp="1"/>
          </p:cNvSpPr>
          <p:nvPr/>
        </p:nvSpPr>
        <p:spPr>
          <a:xfrm xmlns:a="http://schemas.openxmlformats.org/drawingml/2006/main">
            <a:off x="3952875" y="54578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03</a:t>
            </a:r>
          </a:p>
        </p:txBody>
      </p:sp>
      <p:sp>
        <p:nvSpPr>
          <p:cNvPr id="14" name="">
            <a:extLst xmlns:a="http://schemas.openxmlformats.org/drawingml/2006/main">
              <a:ext uri="{FF2B5EF4-FFF2-40B4-BE49-F238E27FC236}">
                <a16:creationId xmlns:a16="http://schemas.microsoft.com/office/drawing/2014/main" id="{998E4234-DF55-4C0A-BAA2-0A0FEEBB2DA0}"/>
              </a:ext>
            </a:extLst>
          </p:cNvPr>
          <p:cNvSpPr>
            <a:spLocks xmlns:a="http://schemas.openxmlformats.org/drawingml/2006/main" noGrp="1"/>
          </p:cNvSpPr>
          <p:nvPr/>
        </p:nvSpPr>
        <p:spPr>
          <a:xfrm xmlns:a="http://schemas.openxmlformats.org/drawingml/2006/main">
            <a:off x="3971925" y="5734050"/>
            <a:ext cx="4267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親が統合</a:t>
            </a:r>
          </a:p>
        </p:txBody>
      </p:sp>
      <p:sp>
        <p:nvSpPr>
          <p:cNvPr id="15" name="">
            <a:extLst xmlns:a="http://schemas.openxmlformats.org/drawingml/2006/main">
              <a:ext uri="{FF2B5EF4-FFF2-40B4-BE49-F238E27FC236}">
                <a16:creationId xmlns:a16="http://schemas.microsoft.com/office/drawing/2014/main" id="{AF26FC88-0263-40D7-B944-34244FFBE599}"/>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20 / 38</a:t>
            </a:r>
          </a:p>
        </p:txBody>
      </p:sp>
    </p:spTree>
    <p:extLst>
      <p:ext uri="{BB962C8B-B14F-4D97-AF65-F5344CB8AC3E}">
        <p14:creationId xmlns:p14="http://schemas.microsoft.com/office/powerpoint/2010/main" val="1945151442"/>
      </p:ext>
    </p:extLst>
  </p:cSld>
</p:sld>
</file>

<file path=ppt/slides/slide21.xml><?xml version="1.0" encoding="utf-8"?>
<p:sld xmlns:p="http://schemas.openxmlformats.org/presentationml/2006/main">
  <p:cSld>
    <p:bg>
      <p:bgPr>
        <a:solidFill xmlns:a="http://schemas.openxmlformats.org/drawingml/2006/main">
          <a:srgbClr val="E1F2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47D826-30D2-4E2B-B7B0-40E0782A4217}"/>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Astraに何ができるか</a:t>
            </a:r>
          </a:p>
        </p:txBody>
      </p:sp>
      <p:sp>
        <p:nvSpPr>
          <p:cNvPr id="2" name="">
            <a:extLst xmlns:a="http://schemas.openxmlformats.org/drawingml/2006/main">
              <a:ext uri="{FF2B5EF4-FFF2-40B4-BE49-F238E27FC236}">
                <a16:creationId xmlns:a16="http://schemas.microsoft.com/office/drawing/2014/main" id="{C6CD74BF-C250-496E-B1B2-08941ACF19E4}"/>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営業の現場で使うなら</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f16fe8715cb4c21"/>
          <a:srcRect xmlns:a="http://schemas.openxmlformats.org/drawingml/2006/main" l="7983" t="0" r="7983" b="0"/>
          <a:stretch xmlns:a="http://schemas.openxmlformats.org/drawingml/2006/main">
            <a:fillRect l="0" t="0" r="0" b="0"/>
          </a:stretch>
        </p:blipFill>
        <p:spPr>
          <a:xfrm xmlns:a="http://schemas.openxmlformats.org/drawingml/2006/main">
            <a:off x="6238875" y="2600325"/>
            <a:ext cx="5191125" cy="3476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2E5F9DC-BEA9-42F2-832D-57CB9F87DAA9}"/>
              </a:ext>
            </a:extLst>
          </p:cNvPr>
          <p:cNvSpPr>
            <a:spLocks xmlns:a="http://schemas.openxmlformats.org/drawingml/2006/main" noGrp="1"/>
          </p:cNvSpPr>
          <p:nvPr/>
        </p:nvSpPr>
        <p:spPr>
          <a:xfrm xmlns:a="http://schemas.openxmlformats.org/drawingml/2006/main">
            <a:off x="723900" y="2695575"/>
            <a:ext cx="5000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0D2A43"/>
                </a:solidFill>
                <a:latin typeface="Yu Gothic"/>
                <a:ea typeface="Yu Gothic"/>
                <a:cs typeface="Yu Gothic"/>
              </a:defRPr>
            </a:pPr>
            <a:r>
              <a:rPr sz="3300" b="1">
                <a:solidFill>
                  <a:srgbClr val="0D2A43"/>
                </a:solidFill>
                <a:latin typeface="Yu Gothic"/>
                <a:ea typeface="Yu Gothic"/>
                <a:cs typeface="Yu Gothic"/>
              </a:rPr>
              <a:t>情報収集より、判断材料と提案を作る</a:t>
            </a:r>
          </a:p>
        </p:txBody>
      </p:sp>
      <p:sp>
        <p:nvSpPr>
          <p:cNvPr id="5" name="">
            <a:extLst xmlns:a="http://schemas.openxmlformats.org/drawingml/2006/main">
              <a:ext uri="{FF2B5EF4-FFF2-40B4-BE49-F238E27FC236}">
                <a16:creationId xmlns:a16="http://schemas.microsoft.com/office/drawing/2014/main" id="{EF87515B-9FFD-405C-9D79-C6A6877F7B67}"/>
              </a:ext>
            </a:extLst>
          </p:cNvPr>
          <p:cNvSpPr>
            <a:spLocks xmlns:a="http://schemas.openxmlformats.org/drawingml/2006/main" noGrp="1"/>
          </p:cNvSpPr>
          <p:nvPr/>
        </p:nvSpPr>
        <p:spPr>
          <a:xfrm xmlns:a="http://schemas.openxmlformats.org/drawingml/2006/main">
            <a:off x="723900" y="4591050"/>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A58C719C-29F1-48CA-9D5B-96555CD9E432}"/>
              </a:ext>
            </a:extLst>
          </p:cNvPr>
          <p:cNvSpPr>
            <a:spLocks xmlns:a="http://schemas.openxmlformats.org/drawingml/2006/main" noGrp="1"/>
          </p:cNvSpPr>
          <p:nvPr/>
        </p:nvSpPr>
        <p:spPr>
          <a:xfrm xmlns:a="http://schemas.openxmlformats.org/drawingml/2006/main">
            <a:off x="1200150" y="457200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365C76"/>
                </a:solidFill>
                <a:latin typeface="Yu Gothic"/>
                <a:ea typeface="Yu Gothic"/>
                <a:cs typeface="Yu Gothic"/>
              </a:defRPr>
            </a:pPr>
            <a:r>
              <a:rPr sz="2025" b="1">
                <a:solidFill>
                  <a:srgbClr val="365C76"/>
                </a:solidFill>
                <a:latin typeface="Yu Gothic"/>
                <a:ea typeface="Yu Gothic"/>
                <a:cs typeface="Yu Gothic"/>
              </a:rPr>
              <a:t>商談準備</a:t>
            </a:r>
          </a:p>
        </p:txBody>
      </p:sp>
      <p:sp>
        <p:nvSpPr>
          <p:cNvPr id="7" name="">
            <a:extLst xmlns:a="http://schemas.openxmlformats.org/drawingml/2006/main">
              <a:ext uri="{FF2B5EF4-FFF2-40B4-BE49-F238E27FC236}">
                <a16:creationId xmlns:a16="http://schemas.microsoft.com/office/drawing/2014/main" id="{2FF43073-FE3E-47D2-BBC5-C7C3ADB5D94C}"/>
              </a:ext>
            </a:extLst>
          </p:cNvPr>
          <p:cNvSpPr>
            <a:spLocks xmlns:a="http://schemas.openxmlformats.org/drawingml/2006/main" noGrp="1"/>
          </p:cNvSpPr>
          <p:nvPr/>
        </p:nvSpPr>
        <p:spPr>
          <a:xfrm xmlns:a="http://schemas.openxmlformats.org/drawingml/2006/main">
            <a:off x="723900" y="5114925"/>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02</a:t>
            </a:r>
          </a:p>
        </p:txBody>
      </p:sp>
      <p:sp>
        <p:nvSpPr>
          <p:cNvPr id="8" name="">
            <a:extLst xmlns:a="http://schemas.openxmlformats.org/drawingml/2006/main">
              <a:ext uri="{FF2B5EF4-FFF2-40B4-BE49-F238E27FC236}">
                <a16:creationId xmlns:a16="http://schemas.microsoft.com/office/drawing/2014/main" id="{06AE7BD6-FA8D-4605-903B-72B34CA65C8A}"/>
              </a:ext>
            </a:extLst>
          </p:cNvPr>
          <p:cNvSpPr>
            <a:spLocks xmlns:a="http://schemas.openxmlformats.org/drawingml/2006/main" noGrp="1"/>
          </p:cNvSpPr>
          <p:nvPr/>
        </p:nvSpPr>
        <p:spPr>
          <a:xfrm xmlns:a="http://schemas.openxmlformats.org/drawingml/2006/main">
            <a:off x="1200150" y="5095875"/>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365C76"/>
                </a:solidFill>
                <a:latin typeface="Yu Gothic"/>
                <a:ea typeface="Yu Gothic"/>
                <a:cs typeface="Yu Gothic"/>
              </a:defRPr>
            </a:pPr>
            <a:r>
              <a:rPr sz="2025" b="1">
                <a:solidFill>
                  <a:srgbClr val="365C76"/>
                </a:solidFill>
                <a:latin typeface="Yu Gothic"/>
                <a:ea typeface="Yu Gothic"/>
                <a:cs typeface="Yu Gothic"/>
              </a:rPr>
              <a:t>提案書とFAQ</a:t>
            </a:r>
          </a:p>
        </p:txBody>
      </p:sp>
      <p:sp>
        <p:nvSpPr>
          <p:cNvPr id="9" name="">
            <a:extLst xmlns:a="http://schemas.openxmlformats.org/drawingml/2006/main">
              <a:ext uri="{FF2B5EF4-FFF2-40B4-BE49-F238E27FC236}">
                <a16:creationId xmlns:a16="http://schemas.microsoft.com/office/drawing/2014/main" id="{A3D06EC8-9A3D-4FD1-84CD-4AF58C4F3DC7}"/>
              </a:ext>
            </a:extLst>
          </p:cNvPr>
          <p:cNvSpPr>
            <a:spLocks xmlns:a="http://schemas.openxmlformats.org/drawingml/2006/main" noGrp="1"/>
          </p:cNvSpPr>
          <p:nvPr/>
        </p:nvSpPr>
        <p:spPr>
          <a:xfrm xmlns:a="http://schemas.openxmlformats.org/drawingml/2006/main">
            <a:off x="723900" y="5638800"/>
            <a:ext cx="36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418"/>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03</a:t>
            </a:r>
          </a:p>
        </p:txBody>
      </p:sp>
      <p:sp>
        <p:nvSpPr>
          <p:cNvPr id="10" name="">
            <a:extLst xmlns:a="http://schemas.openxmlformats.org/drawingml/2006/main">
              <a:ext uri="{FF2B5EF4-FFF2-40B4-BE49-F238E27FC236}">
                <a16:creationId xmlns:a16="http://schemas.microsoft.com/office/drawing/2014/main" id="{0844259D-B626-4AF9-ACD3-DFD082E7BF7B}"/>
              </a:ext>
            </a:extLst>
          </p:cNvPr>
          <p:cNvSpPr>
            <a:spLocks xmlns:a="http://schemas.openxmlformats.org/drawingml/2006/main" noGrp="1"/>
          </p:cNvSpPr>
          <p:nvPr/>
        </p:nvSpPr>
        <p:spPr>
          <a:xfrm xmlns:a="http://schemas.openxmlformats.org/drawingml/2006/main">
            <a:off x="1200150" y="561975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365C76"/>
                </a:solidFill>
                <a:latin typeface="Yu Gothic"/>
                <a:ea typeface="Yu Gothic"/>
                <a:cs typeface="Yu Gothic"/>
              </a:defRPr>
            </a:pPr>
            <a:r>
              <a:rPr sz="2025" b="1">
                <a:solidFill>
                  <a:srgbClr val="365C76"/>
                </a:solidFill>
                <a:latin typeface="Yu Gothic"/>
                <a:ea typeface="Yu Gothic"/>
                <a:cs typeface="Yu Gothic"/>
              </a:rPr>
              <a:t>業務改善</a:t>
            </a:r>
          </a:p>
        </p:txBody>
      </p:sp>
      <p:sp>
        <p:nvSpPr>
          <p:cNvPr id="11" name="">
            <a:extLst xmlns:a="http://schemas.openxmlformats.org/drawingml/2006/main">
              <a:ext uri="{FF2B5EF4-FFF2-40B4-BE49-F238E27FC236}">
                <a16:creationId xmlns:a16="http://schemas.microsoft.com/office/drawing/2014/main" id="{CFD7F78D-689A-4DE0-A441-7A641F2463AA}"/>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21 / 38</a:t>
            </a:r>
          </a:p>
        </p:txBody>
      </p:sp>
    </p:spTree>
    <p:extLst>
      <p:ext uri="{BB962C8B-B14F-4D97-AF65-F5344CB8AC3E}">
        <p14:creationId xmlns:p14="http://schemas.microsoft.com/office/powerpoint/2010/main" val="397103245"/>
      </p:ext>
    </p:extLst>
  </p:cSld>
</p:sld>
</file>

<file path=ppt/slides/slide22.xml><?xml version="1.0" encoding="utf-8"?>
<p:sld xmlns:p="http://schemas.openxmlformats.org/presentationml/2006/main">
  <p:cSld>
    <p:bg>
      <p:bgPr>
        <a:solidFill xmlns:a="http://schemas.openxmlformats.org/drawingml/2006/main">
          <a:srgbClr val="EDF7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4D707F0-422D-4100-B590-B26FBB8D85A8}"/>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Astraに何ができるか</a:t>
            </a:r>
          </a:p>
        </p:txBody>
      </p:sp>
      <p:sp>
        <p:nvSpPr>
          <p:cNvPr id="2" name="">
            <a:extLst xmlns:a="http://schemas.openxmlformats.org/drawingml/2006/main">
              <a:ext uri="{FF2B5EF4-FFF2-40B4-BE49-F238E27FC236}">
                <a16:creationId xmlns:a16="http://schemas.microsoft.com/office/drawing/2014/main" id="{0C0834CE-E766-47B9-BCDA-F1F05B3FD253}"/>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『全部できる』の条件</a:t>
            </a:r>
          </a:p>
        </p:txBody>
      </p:sp>
      <p:sp>
        <p:nvSpPr>
          <p:cNvPr id="3" name="">
            <a:extLst xmlns:a="http://schemas.openxmlformats.org/drawingml/2006/main">
              <a:ext uri="{FF2B5EF4-FFF2-40B4-BE49-F238E27FC236}">
                <a16:creationId xmlns:a16="http://schemas.microsoft.com/office/drawing/2014/main" id="{58A5B98F-EDEE-41F1-AFAC-F64B5E80E246}"/>
              </a:ext>
            </a:extLst>
          </p:cNvPr>
          <p:cNvSpPr>
            <a:spLocks xmlns:a="http://schemas.openxmlformats.org/drawingml/2006/main" noGrp="1"/>
          </p:cNvSpPr>
          <p:nvPr/>
        </p:nvSpPr>
        <p:spPr>
          <a:xfrm xmlns:a="http://schemas.openxmlformats.org/drawingml/2006/main">
            <a:off x="723900" y="25908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0D2A43"/>
                </a:solidFill>
                <a:latin typeface="Yu Gothic"/>
                <a:ea typeface="Yu Gothic"/>
                <a:cs typeface="Yu Gothic"/>
              </a:defRPr>
            </a:pPr>
            <a:r>
              <a:rPr sz="2850" b="1">
                <a:solidFill>
                  <a:srgbClr val="0D2A43"/>
                </a:solidFill>
                <a:latin typeface="Yu Gothic"/>
                <a:ea typeface="Yu Gothic"/>
                <a:cs typeface="Yu Gothic"/>
              </a:rPr>
              <a:t>道具・権限・情報・検証が揃って初めて動く</a:t>
            </a:r>
          </a:p>
        </p:txBody>
      </p:sp>
      <p:sp>
        <p:nvSpPr>
          <p:cNvPr id="4" name="">
            <a:extLst xmlns:a="http://schemas.openxmlformats.org/drawingml/2006/main">
              <a:ext uri="{FF2B5EF4-FFF2-40B4-BE49-F238E27FC236}">
                <a16:creationId xmlns:a16="http://schemas.microsoft.com/office/drawing/2014/main" id="{B6707E3D-1414-4D4E-B8D8-53E6158D8772}"/>
              </a:ext>
            </a:extLst>
          </p:cNvPr>
          <p:cNvSpPr>
            <a:spLocks xmlns:a="http://schemas.openxmlformats.org/drawingml/2006/main" noGrp="1"/>
          </p:cNvSpPr>
          <p:nvPr/>
        </p:nvSpPr>
        <p:spPr>
          <a:xfrm xmlns:a="http://schemas.openxmlformats.org/drawingml/2006/main">
            <a:off x="723900" y="3876675"/>
            <a:ext cx="3105150" cy="18764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5" name="">
            <a:extLst xmlns:a="http://schemas.openxmlformats.org/drawingml/2006/main">
              <a:ext uri="{FF2B5EF4-FFF2-40B4-BE49-F238E27FC236}">
                <a16:creationId xmlns:a16="http://schemas.microsoft.com/office/drawing/2014/main" id="{235CE891-DB34-443C-8C1D-CE2FCBCB2A68}"/>
              </a:ext>
            </a:extLst>
          </p:cNvPr>
          <p:cNvSpPr>
            <a:spLocks xmlns:a="http://schemas.openxmlformats.org/drawingml/2006/main" noGrp="1"/>
          </p:cNvSpPr>
          <p:nvPr/>
        </p:nvSpPr>
        <p:spPr>
          <a:xfrm xmlns:a="http://schemas.openxmlformats.org/drawingml/2006/main">
            <a:off x="904875"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94560D6B-21CD-48AF-BA2D-722DE968B06C}"/>
              </a:ext>
            </a:extLst>
          </p:cNvPr>
          <p:cNvSpPr>
            <a:spLocks xmlns:a="http://schemas.openxmlformats.org/drawingml/2006/main" noGrp="1"/>
          </p:cNvSpPr>
          <p:nvPr/>
        </p:nvSpPr>
        <p:spPr>
          <a:xfrm xmlns:a="http://schemas.openxmlformats.org/drawingml/2006/main">
            <a:off x="923925" y="4305300"/>
            <a:ext cx="2705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今できる</a:t>
            </a:r>
          </a:p>
        </p:txBody>
      </p:sp>
      <p:sp>
        <p:nvSpPr>
          <p:cNvPr id="7" name="">
            <a:extLst xmlns:a="http://schemas.openxmlformats.org/drawingml/2006/main">
              <a:ext uri="{FF2B5EF4-FFF2-40B4-BE49-F238E27FC236}">
                <a16:creationId xmlns:a16="http://schemas.microsoft.com/office/drawing/2014/main" id="{E02F2E6D-8906-4122-81EF-0206E69680CB}"/>
              </a:ext>
            </a:extLst>
          </p:cNvPr>
          <p:cNvSpPr>
            <a:spLocks xmlns:a="http://schemas.openxmlformats.org/drawingml/2006/main" noGrp="1"/>
          </p:cNvSpPr>
          <p:nvPr/>
        </p:nvSpPr>
        <p:spPr>
          <a:xfrm xmlns:a="http://schemas.openxmlformats.org/drawingml/2006/main">
            <a:off x="3924300" y="4514850"/>
            <a:ext cx="52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129"/>
          </a:bodyPr>
          <a:lstStyle xmlns:a="http://schemas.openxmlformats.org/drawingml/2006/main"/>
          <a:p xmlns:a="http://schemas.openxmlformats.org/drawingml/2006/main">
            <a:pPr>
              <a:defRPr sz="3225" b="1">
                <a:solidFill>
                  <a:srgbClr val="2A77A3"/>
                </a:solidFill>
                <a:latin typeface="Yu Gothic"/>
                <a:ea typeface="Yu Gothic"/>
                <a:cs typeface="Yu Gothic"/>
              </a:defRPr>
            </a:pPr>
            <a:r>
              <a:rPr sz="3225" b="1">
                <a:solidFill>
                  <a:srgbClr val="2A77A3"/>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68896F34-70D3-492B-886B-F739A7938C70}"/>
              </a:ext>
            </a:extLst>
          </p:cNvPr>
          <p:cNvSpPr>
            <a:spLocks xmlns:a="http://schemas.openxmlformats.org/drawingml/2006/main" noGrp="1"/>
          </p:cNvSpPr>
          <p:nvPr/>
        </p:nvSpPr>
        <p:spPr>
          <a:xfrm xmlns:a="http://schemas.openxmlformats.org/drawingml/2006/main">
            <a:off x="4448175" y="3876675"/>
            <a:ext cx="3105150" cy="18764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9" name="">
            <a:extLst xmlns:a="http://schemas.openxmlformats.org/drawingml/2006/main">
              <a:ext uri="{FF2B5EF4-FFF2-40B4-BE49-F238E27FC236}">
                <a16:creationId xmlns:a16="http://schemas.microsoft.com/office/drawing/2014/main" id="{B2E10110-E33A-4297-B120-AAA9B2A88675}"/>
              </a:ext>
            </a:extLst>
          </p:cNvPr>
          <p:cNvSpPr>
            <a:spLocks xmlns:a="http://schemas.openxmlformats.org/drawingml/2006/main" noGrp="1"/>
          </p:cNvSpPr>
          <p:nvPr/>
        </p:nvSpPr>
        <p:spPr>
          <a:xfrm xmlns:a="http://schemas.openxmlformats.org/drawingml/2006/main">
            <a:off x="4629150"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02</a:t>
            </a:r>
          </a:p>
        </p:txBody>
      </p:sp>
      <p:sp>
        <p:nvSpPr>
          <p:cNvPr id="10" name="">
            <a:extLst xmlns:a="http://schemas.openxmlformats.org/drawingml/2006/main">
              <a:ext uri="{FF2B5EF4-FFF2-40B4-BE49-F238E27FC236}">
                <a16:creationId xmlns:a16="http://schemas.microsoft.com/office/drawing/2014/main" id="{14809C71-F785-48CB-AF2C-DC6C5DFFD9D7}"/>
              </a:ext>
            </a:extLst>
          </p:cNvPr>
          <p:cNvSpPr>
            <a:spLocks xmlns:a="http://schemas.openxmlformats.org/drawingml/2006/main" noGrp="1"/>
          </p:cNvSpPr>
          <p:nvPr/>
        </p:nvSpPr>
        <p:spPr>
          <a:xfrm xmlns:a="http://schemas.openxmlformats.org/drawingml/2006/main">
            <a:off x="4648200" y="4305300"/>
            <a:ext cx="2705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設定すればできる</a:t>
            </a:r>
          </a:p>
        </p:txBody>
      </p:sp>
      <p:sp>
        <p:nvSpPr>
          <p:cNvPr id="11" name="">
            <a:extLst xmlns:a="http://schemas.openxmlformats.org/drawingml/2006/main">
              <a:ext uri="{FF2B5EF4-FFF2-40B4-BE49-F238E27FC236}">
                <a16:creationId xmlns:a16="http://schemas.microsoft.com/office/drawing/2014/main" id="{93F3DC2A-916B-454D-BB50-E44F0FAD546E}"/>
              </a:ext>
            </a:extLst>
          </p:cNvPr>
          <p:cNvSpPr>
            <a:spLocks xmlns:a="http://schemas.openxmlformats.org/drawingml/2006/main" noGrp="1"/>
          </p:cNvSpPr>
          <p:nvPr/>
        </p:nvSpPr>
        <p:spPr>
          <a:xfrm xmlns:a="http://schemas.openxmlformats.org/drawingml/2006/main">
            <a:off x="7648575" y="4514850"/>
            <a:ext cx="52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129"/>
          </a:bodyPr>
          <a:lstStyle xmlns:a="http://schemas.openxmlformats.org/drawingml/2006/main"/>
          <a:p xmlns:a="http://schemas.openxmlformats.org/drawingml/2006/main">
            <a:pPr>
              <a:defRPr sz="3225" b="1">
                <a:solidFill>
                  <a:srgbClr val="2A77A3"/>
                </a:solidFill>
                <a:latin typeface="Yu Gothic"/>
                <a:ea typeface="Yu Gothic"/>
                <a:cs typeface="Yu Gothic"/>
              </a:defRPr>
            </a:pPr>
            <a:r>
              <a:rPr sz="3225" b="1">
                <a:solidFill>
                  <a:srgbClr val="2A77A3"/>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1C53FEAA-A327-4EBA-9722-71B7A6289E44}"/>
              </a:ext>
            </a:extLst>
          </p:cNvPr>
          <p:cNvSpPr>
            <a:spLocks xmlns:a="http://schemas.openxmlformats.org/drawingml/2006/main" noGrp="1"/>
          </p:cNvSpPr>
          <p:nvPr/>
        </p:nvSpPr>
        <p:spPr>
          <a:xfrm xmlns:a="http://schemas.openxmlformats.org/drawingml/2006/main">
            <a:off x="8172450" y="3876675"/>
            <a:ext cx="3105150" cy="1876425"/>
          </a:xfrm>
          <a:prstGeom xmlns:a="http://schemas.openxmlformats.org/drawingml/2006/main" prst="rect">
            <a:avLst/>
          </a:prstGeom>
          <a:solidFill xmlns:a="http://schemas.openxmlformats.org/drawingml/2006/main">
            <a:srgbClr val="D7EEF8"/>
          </a:solidFill>
          <a:ln xmlns:a="http://schemas.openxmlformats.org/drawingml/2006/main" w="19050">
            <a:solidFill>
              <a:srgbClr val="2A77A3"/>
            </a:solidFill>
          </a:ln>
        </p:spPr>
      </p:sp>
      <p:sp>
        <p:nvSpPr>
          <p:cNvPr id="13" name="">
            <a:extLst xmlns:a="http://schemas.openxmlformats.org/drawingml/2006/main">
              <a:ext uri="{FF2B5EF4-FFF2-40B4-BE49-F238E27FC236}">
                <a16:creationId xmlns:a16="http://schemas.microsoft.com/office/drawing/2014/main" id="{290F100A-4D2E-43FC-95E8-AE07585CD71C}"/>
              </a:ext>
            </a:extLst>
          </p:cNvPr>
          <p:cNvSpPr>
            <a:spLocks xmlns:a="http://schemas.openxmlformats.org/drawingml/2006/main" noGrp="1"/>
          </p:cNvSpPr>
          <p:nvPr/>
        </p:nvSpPr>
        <p:spPr>
          <a:xfrm xmlns:a="http://schemas.openxmlformats.org/drawingml/2006/main">
            <a:off x="8353425"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03</a:t>
            </a:r>
          </a:p>
        </p:txBody>
      </p:sp>
      <p:sp>
        <p:nvSpPr>
          <p:cNvPr id="14" name="">
            <a:extLst xmlns:a="http://schemas.openxmlformats.org/drawingml/2006/main">
              <a:ext uri="{FF2B5EF4-FFF2-40B4-BE49-F238E27FC236}">
                <a16:creationId xmlns:a16="http://schemas.microsoft.com/office/drawing/2014/main" id="{7C78A8DF-BB12-4A95-99F0-8126C9E59180}"/>
              </a:ext>
            </a:extLst>
          </p:cNvPr>
          <p:cNvSpPr>
            <a:spLocks xmlns:a="http://schemas.openxmlformats.org/drawingml/2006/main" noGrp="1"/>
          </p:cNvSpPr>
          <p:nvPr/>
        </p:nvSpPr>
        <p:spPr>
          <a:xfrm xmlns:a="http://schemas.openxmlformats.org/drawingml/2006/main">
            <a:off x="8372475" y="4305300"/>
            <a:ext cx="2705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人が判断する</a:t>
            </a:r>
          </a:p>
        </p:txBody>
      </p:sp>
      <p:sp>
        <p:nvSpPr>
          <p:cNvPr id="15" name="">
            <a:extLst xmlns:a="http://schemas.openxmlformats.org/drawingml/2006/main">
              <a:ext uri="{FF2B5EF4-FFF2-40B4-BE49-F238E27FC236}">
                <a16:creationId xmlns:a16="http://schemas.microsoft.com/office/drawing/2014/main" id="{CB217C18-C573-43F9-85B9-086F561A8539}"/>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22 / 38</a:t>
            </a:r>
          </a:p>
        </p:txBody>
      </p:sp>
    </p:spTree>
    <p:extLst>
      <p:ext uri="{BB962C8B-B14F-4D97-AF65-F5344CB8AC3E}">
        <p14:creationId xmlns:p14="http://schemas.microsoft.com/office/powerpoint/2010/main" val="2085031727"/>
      </p:ext>
    </p:extLst>
  </p:cSld>
</p:sld>
</file>

<file path=ppt/slides/slide23.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418FCA-EA4E-4F98-AFF0-223892DF608C}"/>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Astraを使いこなす</a:t>
            </a:r>
          </a:p>
        </p:txBody>
      </p:sp>
      <p:sp>
        <p:nvSpPr>
          <p:cNvPr id="2" name="">
            <a:extLst xmlns:a="http://schemas.openxmlformats.org/drawingml/2006/main">
              <a:ext uri="{FF2B5EF4-FFF2-40B4-BE49-F238E27FC236}">
                <a16:creationId xmlns:a16="http://schemas.microsoft.com/office/drawing/2014/main" id="{3FB1AFB5-852E-42EE-9E7D-E81D759ADD5F}"/>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まず仕事を選ぶ</a:t>
            </a:r>
          </a:p>
        </p:txBody>
      </p:sp>
      <p:sp>
        <p:nvSpPr>
          <p:cNvPr id="3" name="">
            <a:extLst xmlns:a="http://schemas.openxmlformats.org/drawingml/2006/main">
              <a:ext uri="{FF2B5EF4-FFF2-40B4-BE49-F238E27FC236}">
                <a16:creationId xmlns:a16="http://schemas.microsoft.com/office/drawing/2014/main" id="{D945086B-62DA-44A3-A9DC-EC61B6E64C62}"/>
              </a:ext>
            </a:extLst>
          </p:cNvPr>
          <p:cNvSpPr>
            <a:spLocks xmlns:a="http://schemas.openxmlformats.org/drawingml/2006/main" noGrp="1"/>
          </p:cNvSpPr>
          <p:nvPr/>
        </p:nvSpPr>
        <p:spPr>
          <a:xfrm xmlns:a="http://schemas.openxmlformats.org/drawingml/2006/main">
            <a:off x="723900" y="2905125"/>
            <a:ext cx="5619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450" b="1">
                <a:solidFill>
                  <a:srgbClr val="0D2A43"/>
                </a:solidFill>
                <a:latin typeface="Yu Gothic"/>
                <a:ea typeface="Yu Gothic"/>
                <a:cs typeface="Yu Gothic"/>
              </a:defRPr>
            </a:pPr>
            <a:r>
              <a:rPr sz="3450" b="1">
                <a:solidFill>
                  <a:srgbClr val="0D2A43"/>
                </a:solidFill>
                <a:latin typeface="Yu Gothic"/>
                <a:ea typeface="Yu Gothic"/>
                <a:cs typeface="Yu Gothic"/>
              </a:rPr>
              <a:t>曖昧で重要な仕事ほどAstraを試す価値がある</a:t>
            </a:r>
          </a:p>
        </p:txBody>
      </p:sp>
      <p:sp>
        <p:nvSpPr>
          <p:cNvPr id="4" name="">
            <a:extLst xmlns:a="http://schemas.openxmlformats.org/drawingml/2006/main">
              <a:ext uri="{FF2B5EF4-FFF2-40B4-BE49-F238E27FC236}">
                <a16:creationId xmlns:a16="http://schemas.microsoft.com/office/drawing/2014/main" id="{8F044564-31FC-44C4-AA6C-52DE71B1674A}"/>
              </a:ext>
            </a:extLst>
          </p:cNvPr>
          <p:cNvSpPr>
            <a:spLocks xmlns:a="http://schemas.openxmlformats.org/drawingml/2006/main" noGrp="1"/>
          </p:cNvSpPr>
          <p:nvPr/>
        </p:nvSpPr>
        <p:spPr>
          <a:xfrm xmlns:a="http://schemas.openxmlformats.org/drawingml/2006/main">
            <a:off x="7000875" y="301942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365C76"/>
                </a:solidFill>
                <a:latin typeface="Yu Gothic"/>
                <a:ea typeface="Yu Gothic"/>
                <a:cs typeface="Yu Gothic"/>
              </a:defRPr>
            </a:pPr>
            <a:r>
              <a:rPr sz="2175" b="1">
                <a:solidFill>
                  <a:srgbClr val="365C76"/>
                </a:solidFill>
                <a:latin typeface="Yu Gothic"/>
                <a:ea typeface="Yu Gothic"/>
                <a:cs typeface="Yu Gothic"/>
              </a:rPr>
              <a:t>正解が見えない</a:t>
            </a:r>
          </a:p>
        </p:txBody>
      </p:sp>
      <p:sp>
        <p:nvSpPr>
          <p:cNvPr id="5" name="">
            <a:extLst xmlns:a="http://schemas.openxmlformats.org/drawingml/2006/main">
              <a:ext uri="{FF2B5EF4-FFF2-40B4-BE49-F238E27FC236}">
                <a16:creationId xmlns:a16="http://schemas.microsoft.com/office/drawing/2014/main" id="{8F160BED-244D-4B40-A422-55EC7675D1FA}"/>
              </a:ext>
            </a:extLst>
          </p:cNvPr>
          <p:cNvSpPr>
            <a:spLocks xmlns:a="http://schemas.openxmlformats.org/drawingml/2006/main" noGrp="1"/>
          </p:cNvSpPr>
          <p:nvPr/>
        </p:nvSpPr>
        <p:spPr>
          <a:xfrm xmlns:a="http://schemas.openxmlformats.org/drawingml/2006/main">
            <a:off x="7000875" y="383857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365C76"/>
                </a:solidFill>
                <a:latin typeface="Yu Gothic"/>
                <a:ea typeface="Yu Gothic"/>
                <a:cs typeface="Yu Gothic"/>
              </a:defRPr>
            </a:pPr>
            <a:r>
              <a:rPr sz="2175" b="1">
                <a:solidFill>
                  <a:srgbClr val="365C76"/>
                </a:solidFill>
                <a:latin typeface="Yu Gothic"/>
                <a:ea typeface="Yu Gothic"/>
                <a:cs typeface="Yu Gothic"/>
              </a:rPr>
              <a:t>複数の道具を使う</a:t>
            </a:r>
          </a:p>
        </p:txBody>
      </p:sp>
      <p:sp>
        <p:nvSpPr>
          <p:cNvPr id="6" name="">
            <a:extLst xmlns:a="http://schemas.openxmlformats.org/drawingml/2006/main">
              <a:ext uri="{FF2B5EF4-FFF2-40B4-BE49-F238E27FC236}">
                <a16:creationId xmlns:a16="http://schemas.microsoft.com/office/drawing/2014/main" id="{65E25AE2-0652-412E-9D98-DC3A1C3B38D2}"/>
              </a:ext>
            </a:extLst>
          </p:cNvPr>
          <p:cNvSpPr>
            <a:spLocks xmlns:a="http://schemas.openxmlformats.org/drawingml/2006/main" noGrp="1"/>
          </p:cNvSpPr>
          <p:nvPr/>
        </p:nvSpPr>
        <p:spPr>
          <a:xfrm xmlns:a="http://schemas.openxmlformats.org/drawingml/2006/main">
            <a:off x="7000875" y="465772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365C76"/>
                </a:solidFill>
                <a:latin typeface="Yu Gothic"/>
                <a:ea typeface="Yu Gothic"/>
                <a:cs typeface="Yu Gothic"/>
              </a:defRPr>
            </a:pPr>
            <a:r>
              <a:rPr sz="2175" b="1">
                <a:solidFill>
                  <a:srgbClr val="365C76"/>
                </a:solidFill>
                <a:latin typeface="Yu Gothic"/>
                <a:ea typeface="Yu Gothic"/>
                <a:cs typeface="Yu Gothic"/>
              </a:rPr>
              <a:t>見落としの損失が大きい</a:t>
            </a:r>
          </a:p>
        </p:txBody>
      </p:sp>
      <p:sp>
        <p:nvSpPr>
          <p:cNvPr id="7" name="">
            <a:extLst xmlns:a="http://schemas.openxmlformats.org/drawingml/2006/main">
              <a:ext uri="{FF2B5EF4-FFF2-40B4-BE49-F238E27FC236}">
                <a16:creationId xmlns:a16="http://schemas.microsoft.com/office/drawing/2014/main" id="{9CDB66DE-95F3-4DFA-8AE3-D814478D3606}"/>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23 / 38</a:t>
            </a:r>
          </a:p>
        </p:txBody>
      </p:sp>
    </p:spTree>
    <p:extLst>
      <p:ext uri="{BB962C8B-B14F-4D97-AF65-F5344CB8AC3E}">
        <p14:creationId xmlns:p14="http://schemas.microsoft.com/office/powerpoint/2010/main" val="551732885"/>
      </p:ext>
    </p:extLst>
  </p:cSld>
</p:sld>
</file>

<file path=ppt/slides/slide24.xml><?xml version="1.0" encoding="utf-8"?>
<p:sld xmlns:p="http://schemas.openxmlformats.org/presentationml/2006/main">
  <p:cSld>
    <p:bg>
      <p:bgPr>
        <a:solidFill xmlns:a="http://schemas.openxmlformats.org/drawingml/2006/main">
          <a:srgbClr val="E1F2F9"/>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D808014-C9F6-4DEE-BD44-65E88BAD576F}"/>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Astraを使いこなす</a:t>
            </a:r>
          </a:p>
        </p:txBody>
      </p:sp>
      <p:sp>
        <p:nvSpPr>
          <p:cNvPr id="2" name="">
            <a:extLst xmlns:a="http://schemas.openxmlformats.org/drawingml/2006/main">
              <a:ext uri="{FF2B5EF4-FFF2-40B4-BE49-F238E27FC236}">
                <a16:creationId xmlns:a16="http://schemas.microsoft.com/office/drawing/2014/main" id="{F1F36F14-EF57-4ABF-B718-F73EA5C133FB}"/>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仕事を渡す7項目</a:t>
            </a:r>
          </a:p>
        </p:txBody>
      </p:sp>
      <p:sp>
        <p:nvSpPr>
          <p:cNvPr id="3" name="">
            <a:extLst xmlns:a="http://schemas.openxmlformats.org/drawingml/2006/main">
              <a:ext uri="{FF2B5EF4-FFF2-40B4-BE49-F238E27FC236}">
                <a16:creationId xmlns:a16="http://schemas.microsoft.com/office/drawing/2014/main" id="{22DCA525-7362-4D02-B5F1-C81487BBB4F0}"/>
              </a:ext>
            </a:extLst>
          </p:cNvPr>
          <p:cNvSpPr>
            <a:spLocks xmlns:a="http://schemas.openxmlformats.org/drawingml/2006/main" noGrp="1"/>
          </p:cNvSpPr>
          <p:nvPr/>
        </p:nvSpPr>
        <p:spPr>
          <a:xfrm xmlns:a="http://schemas.openxmlformats.org/drawingml/2006/main">
            <a:off x="723900" y="25908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0D2A43"/>
                </a:solidFill>
                <a:latin typeface="Yu Gothic"/>
                <a:ea typeface="Yu Gothic"/>
                <a:cs typeface="Yu Gothic"/>
              </a:defRPr>
            </a:pPr>
            <a:r>
              <a:rPr sz="2850" b="1">
                <a:solidFill>
                  <a:srgbClr val="0D2A43"/>
                </a:solidFill>
                <a:latin typeface="Yu Gothic"/>
                <a:ea typeface="Yu Gothic"/>
                <a:cs typeface="Yu Gothic"/>
              </a:rPr>
              <a:t>目的と完了条件を中心に依頼を設計する</a:t>
            </a:r>
          </a:p>
        </p:txBody>
      </p:sp>
      <p:sp>
        <p:nvSpPr>
          <p:cNvPr id="4" name="">
            <a:extLst xmlns:a="http://schemas.openxmlformats.org/drawingml/2006/main">
              <a:ext uri="{FF2B5EF4-FFF2-40B4-BE49-F238E27FC236}">
                <a16:creationId xmlns:a16="http://schemas.microsoft.com/office/drawing/2014/main" id="{0A3A9D85-5881-408E-A612-56527A4F20A6}"/>
              </a:ext>
            </a:extLst>
          </p:cNvPr>
          <p:cNvSpPr>
            <a:spLocks xmlns:a="http://schemas.openxmlformats.org/drawingml/2006/main" noGrp="1"/>
          </p:cNvSpPr>
          <p:nvPr/>
        </p:nvSpPr>
        <p:spPr>
          <a:xfrm xmlns:a="http://schemas.openxmlformats.org/drawingml/2006/main">
            <a:off x="723900" y="3657600"/>
            <a:ext cx="2381250" cy="10763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5" name="">
            <a:extLst xmlns:a="http://schemas.openxmlformats.org/drawingml/2006/main">
              <a:ext uri="{FF2B5EF4-FFF2-40B4-BE49-F238E27FC236}">
                <a16:creationId xmlns:a16="http://schemas.microsoft.com/office/drawing/2014/main" id="{5F362AAD-9820-4AE8-94E7-FFB64726F163}"/>
              </a:ext>
            </a:extLst>
          </p:cNvPr>
          <p:cNvSpPr>
            <a:spLocks xmlns:a="http://schemas.openxmlformats.org/drawingml/2006/main" noGrp="1"/>
          </p:cNvSpPr>
          <p:nvPr/>
        </p:nvSpPr>
        <p:spPr>
          <a:xfrm xmlns:a="http://schemas.openxmlformats.org/drawingml/2006/main">
            <a:off x="904875" y="38100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7A9BB12A-73BF-4217-ACA4-DE8E163FCED0}"/>
              </a:ext>
            </a:extLst>
          </p:cNvPr>
          <p:cNvSpPr>
            <a:spLocks xmlns:a="http://schemas.openxmlformats.org/drawingml/2006/main" noGrp="1"/>
          </p:cNvSpPr>
          <p:nvPr/>
        </p:nvSpPr>
        <p:spPr>
          <a:xfrm xmlns:a="http://schemas.openxmlformats.org/drawingml/2006/main">
            <a:off x="923925" y="4086225"/>
            <a:ext cx="1981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目的</a:t>
            </a:r>
          </a:p>
        </p:txBody>
      </p:sp>
      <p:sp>
        <p:nvSpPr>
          <p:cNvPr id="7" name="">
            <a:extLst xmlns:a="http://schemas.openxmlformats.org/drawingml/2006/main">
              <a:ext uri="{FF2B5EF4-FFF2-40B4-BE49-F238E27FC236}">
                <a16:creationId xmlns:a16="http://schemas.microsoft.com/office/drawing/2014/main" id="{035F2BD4-9168-46B9-BFFE-9754C83B2C20}"/>
              </a:ext>
            </a:extLst>
          </p:cNvPr>
          <p:cNvSpPr>
            <a:spLocks xmlns:a="http://schemas.openxmlformats.org/drawingml/2006/main" noGrp="1"/>
          </p:cNvSpPr>
          <p:nvPr/>
        </p:nvSpPr>
        <p:spPr>
          <a:xfrm xmlns:a="http://schemas.openxmlformats.org/drawingml/2006/main">
            <a:off x="3409950" y="3657600"/>
            <a:ext cx="2381250" cy="10763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8" name="">
            <a:extLst xmlns:a="http://schemas.openxmlformats.org/drawingml/2006/main">
              <a:ext uri="{FF2B5EF4-FFF2-40B4-BE49-F238E27FC236}">
                <a16:creationId xmlns:a16="http://schemas.microsoft.com/office/drawing/2014/main" id="{A3A00796-1821-49DF-A8A7-A31C167DBA40}"/>
              </a:ext>
            </a:extLst>
          </p:cNvPr>
          <p:cNvSpPr>
            <a:spLocks xmlns:a="http://schemas.openxmlformats.org/drawingml/2006/main" noGrp="1"/>
          </p:cNvSpPr>
          <p:nvPr/>
        </p:nvSpPr>
        <p:spPr>
          <a:xfrm xmlns:a="http://schemas.openxmlformats.org/drawingml/2006/main">
            <a:off x="3590925" y="38100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02</a:t>
            </a:r>
          </a:p>
        </p:txBody>
      </p:sp>
      <p:sp>
        <p:nvSpPr>
          <p:cNvPr id="9" name="">
            <a:extLst xmlns:a="http://schemas.openxmlformats.org/drawingml/2006/main">
              <a:ext uri="{FF2B5EF4-FFF2-40B4-BE49-F238E27FC236}">
                <a16:creationId xmlns:a16="http://schemas.microsoft.com/office/drawing/2014/main" id="{0786AC80-0CAD-410D-987F-FC294BE29085}"/>
              </a:ext>
            </a:extLst>
          </p:cNvPr>
          <p:cNvSpPr>
            <a:spLocks xmlns:a="http://schemas.openxmlformats.org/drawingml/2006/main" noGrp="1"/>
          </p:cNvSpPr>
          <p:nvPr/>
        </p:nvSpPr>
        <p:spPr>
          <a:xfrm xmlns:a="http://schemas.openxmlformats.org/drawingml/2006/main">
            <a:off x="3609975" y="4086225"/>
            <a:ext cx="1981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背景</a:t>
            </a:r>
          </a:p>
        </p:txBody>
      </p:sp>
      <p:sp>
        <p:nvSpPr>
          <p:cNvPr id="10" name="">
            <a:extLst xmlns:a="http://schemas.openxmlformats.org/drawingml/2006/main">
              <a:ext uri="{FF2B5EF4-FFF2-40B4-BE49-F238E27FC236}">
                <a16:creationId xmlns:a16="http://schemas.microsoft.com/office/drawing/2014/main" id="{AA0572EA-8B86-47C0-AF19-05AC8BF2B53E}"/>
              </a:ext>
            </a:extLst>
          </p:cNvPr>
          <p:cNvSpPr>
            <a:spLocks xmlns:a="http://schemas.openxmlformats.org/drawingml/2006/main" noGrp="1"/>
          </p:cNvSpPr>
          <p:nvPr/>
        </p:nvSpPr>
        <p:spPr>
          <a:xfrm xmlns:a="http://schemas.openxmlformats.org/drawingml/2006/main">
            <a:off x="6096000" y="3657600"/>
            <a:ext cx="2381250" cy="10763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11" name="">
            <a:extLst xmlns:a="http://schemas.openxmlformats.org/drawingml/2006/main">
              <a:ext uri="{FF2B5EF4-FFF2-40B4-BE49-F238E27FC236}">
                <a16:creationId xmlns:a16="http://schemas.microsoft.com/office/drawing/2014/main" id="{BF3B388C-D5EA-4FA7-A08B-5ECD03A958C6}"/>
              </a:ext>
            </a:extLst>
          </p:cNvPr>
          <p:cNvSpPr>
            <a:spLocks xmlns:a="http://schemas.openxmlformats.org/drawingml/2006/main" noGrp="1"/>
          </p:cNvSpPr>
          <p:nvPr/>
        </p:nvSpPr>
        <p:spPr>
          <a:xfrm xmlns:a="http://schemas.openxmlformats.org/drawingml/2006/main">
            <a:off x="6276975" y="38100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03</a:t>
            </a:r>
          </a:p>
        </p:txBody>
      </p:sp>
      <p:sp>
        <p:nvSpPr>
          <p:cNvPr id="12" name="">
            <a:extLst xmlns:a="http://schemas.openxmlformats.org/drawingml/2006/main">
              <a:ext uri="{FF2B5EF4-FFF2-40B4-BE49-F238E27FC236}">
                <a16:creationId xmlns:a16="http://schemas.microsoft.com/office/drawing/2014/main" id="{6C58AE5A-0129-4E9C-98E8-D26A04B76F2C}"/>
              </a:ext>
            </a:extLst>
          </p:cNvPr>
          <p:cNvSpPr>
            <a:spLocks xmlns:a="http://schemas.openxmlformats.org/drawingml/2006/main" noGrp="1"/>
          </p:cNvSpPr>
          <p:nvPr/>
        </p:nvSpPr>
        <p:spPr>
          <a:xfrm xmlns:a="http://schemas.openxmlformats.org/drawingml/2006/main">
            <a:off x="6296025" y="4086225"/>
            <a:ext cx="1981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成果物</a:t>
            </a:r>
          </a:p>
        </p:txBody>
      </p:sp>
      <p:sp>
        <p:nvSpPr>
          <p:cNvPr id="13" name="">
            <a:extLst xmlns:a="http://schemas.openxmlformats.org/drawingml/2006/main">
              <a:ext uri="{FF2B5EF4-FFF2-40B4-BE49-F238E27FC236}">
                <a16:creationId xmlns:a16="http://schemas.microsoft.com/office/drawing/2014/main" id="{214B9BDE-AA3A-4740-9A6F-B60EEA333F87}"/>
              </a:ext>
            </a:extLst>
          </p:cNvPr>
          <p:cNvSpPr>
            <a:spLocks xmlns:a="http://schemas.openxmlformats.org/drawingml/2006/main" noGrp="1"/>
          </p:cNvSpPr>
          <p:nvPr/>
        </p:nvSpPr>
        <p:spPr>
          <a:xfrm xmlns:a="http://schemas.openxmlformats.org/drawingml/2006/main">
            <a:off x="8782050" y="3657600"/>
            <a:ext cx="2381250" cy="10763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14" name="">
            <a:extLst xmlns:a="http://schemas.openxmlformats.org/drawingml/2006/main">
              <a:ext uri="{FF2B5EF4-FFF2-40B4-BE49-F238E27FC236}">
                <a16:creationId xmlns:a16="http://schemas.microsoft.com/office/drawing/2014/main" id="{9B3D036E-8B6B-4F0C-8787-BF86DFF0C174}"/>
              </a:ext>
            </a:extLst>
          </p:cNvPr>
          <p:cNvSpPr>
            <a:spLocks xmlns:a="http://schemas.openxmlformats.org/drawingml/2006/main" noGrp="1"/>
          </p:cNvSpPr>
          <p:nvPr/>
        </p:nvSpPr>
        <p:spPr>
          <a:xfrm xmlns:a="http://schemas.openxmlformats.org/drawingml/2006/main">
            <a:off x="8963025" y="38100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04</a:t>
            </a:r>
          </a:p>
        </p:txBody>
      </p:sp>
      <p:sp>
        <p:nvSpPr>
          <p:cNvPr id="15" name="">
            <a:extLst xmlns:a="http://schemas.openxmlformats.org/drawingml/2006/main">
              <a:ext uri="{FF2B5EF4-FFF2-40B4-BE49-F238E27FC236}">
                <a16:creationId xmlns:a16="http://schemas.microsoft.com/office/drawing/2014/main" id="{4AD00BEB-9C6E-4632-96CC-7C58046FD53B}"/>
              </a:ext>
            </a:extLst>
          </p:cNvPr>
          <p:cNvSpPr>
            <a:spLocks xmlns:a="http://schemas.openxmlformats.org/drawingml/2006/main" noGrp="1"/>
          </p:cNvSpPr>
          <p:nvPr/>
        </p:nvSpPr>
        <p:spPr>
          <a:xfrm xmlns:a="http://schemas.openxmlformats.org/drawingml/2006/main">
            <a:off x="8982075" y="4086225"/>
            <a:ext cx="1981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制約</a:t>
            </a:r>
          </a:p>
        </p:txBody>
      </p:sp>
      <p:sp>
        <p:nvSpPr>
          <p:cNvPr id="16" name="">
            <a:extLst xmlns:a="http://schemas.openxmlformats.org/drawingml/2006/main">
              <a:ext uri="{FF2B5EF4-FFF2-40B4-BE49-F238E27FC236}">
                <a16:creationId xmlns:a16="http://schemas.microsoft.com/office/drawing/2014/main" id="{D77986F5-AED1-4D06-99AC-711077B50904}"/>
              </a:ext>
            </a:extLst>
          </p:cNvPr>
          <p:cNvSpPr>
            <a:spLocks xmlns:a="http://schemas.openxmlformats.org/drawingml/2006/main" noGrp="1"/>
          </p:cNvSpPr>
          <p:nvPr/>
        </p:nvSpPr>
        <p:spPr>
          <a:xfrm xmlns:a="http://schemas.openxmlformats.org/drawingml/2006/main">
            <a:off x="2095500" y="5048250"/>
            <a:ext cx="2476500" cy="10763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17" name="">
            <a:extLst xmlns:a="http://schemas.openxmlformats.org/drawingml/2006/main">
              <a:ext uri="{FF2B5EF4-FFF2-40B4-BE49-F238E27FC236}">
                <a16:creationId xmlns:a16="http://schemas.microsoft.com/office/drawing/2014/main" id="{A320F98C-2C01-4265-8BB2-23AA17C18B20}"/>
              </a:ext>
            </a:extLst>
          </p:cNvPr>
          <p:cNvSpPr>
            <a:spLocks xmlns:a="http://schemas.openxmlformats.org/drawingml/2006/main" noGrp="1"/>
          </p:cNvSpPr>
          <p:nvPr/>
        </p:nvSpPr>
        <p:spPr>
          <a:xfrm xmlns:a="http://schemas.openxmlformats.org/drawingml/2006/main">
            <a:off x="2276475" y="520065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05</a:t>
            </a:r>
          </a:p>
        </p:txBody>
      </p:sp>
      <p:sp>
        <p:nvSpPr>
          <p:cNvPr id="18" name="">
            <a:extLst xmlns:a="http://schemas.openxmlformats.org/drawingml/2006/main">
              <a:ext uri="{FF2B5EF4-FFF2-40B4-BE49-F238E27FC236}">
                <a16:creationId xmlns:a16="http://schemas.microsoft.com/office/drawing/2014/main" id="{E5F90160-75B3-4773-98FD-47BE24EA8906}"/>
              </a:ext>
            </a:extLst>
          </p:cNvPr>
          <p:cNvSpPr>
            <a:spLocks xmlns:a="http://schemas.openxmlformats.org/drawingml/2006/main" noGrp="1"/>
          </p:cNvSpPr>
          <p:nvPr/>
        </p:nvSpPr>
        <p:spPr>
          <a:xfrm xmlns:a="http://schemas.openxmlformats.org/drawingml/2006/main">
            <a:off x="2295525" y="5476875"/>
            <a:ext cx="2076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道具・権限</a:t>
            </a:r>
          </a:p>
        </p:txBody>
      </p:sp>
      <p:sp>
        <p:nvSpPr>
          <p:cNvPr id="19" name="">
            <a:extLst xmlns:a="http://schemas.openxmlformats.org/drawingml/2006/main">
              <a:ext uri="{FF2B5EF4-FFF2-40B4-BE49-F238E27FC236}">
                <a16:creationId xmlns:a16="http://schemas.microsoft.com/office/drawing/2014/main" id="{1361946B-488B-4CB1-96CA-90C3EF96FD70}"/>
              </a:ext>
            </a:extLst>
          </p:cNvPr>
          <p:cNvSpPr>
            <a:spLocks xmlns:a="http://schemas.openxmlformats.org/drawingml/2006/main" noGrp="1"/>
          </p:cNvSpPr>
          <p:nvPr/>
        </p:nvSpPr>
        <p:spPr>
          <a:xfrm xmlns:a="http://schemas.openxmlformats.org/drawingml/2006/main">
            <a:off x="4905375" y="5048250"/>
            <a:ext cx="2476500" cy="10763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20" name="">
            <a:extLst xmlns:a="http://schemas.openxmlformats.org/drawingml/2006/main">
              <a:ext uri="{FF2B5EF4-FFF2-40B4-BE49-F238E27FC236}">
                <a16:creationId xmlns:a16="http://schemas.microsoft.com/office/drawing/2014/main" id="{6530032C-1F81-4EDA-A737-7817944B75DD}"/>
              </a:ext>
            </a:extLst>
          </p:cNvPr>
          <p:cNvSpPr>
            <a:spLocks xmlns:a="http://schemas.openxmlformats.org/drawingml/2006/main" noGrp="1"/>
          </p:cNvSpPr>
          <p:nvPr/>
        </p:nvSpPr>
        <p:spPr>
          <a:xfrm xmlns:a="http://schemas.openxmlformats.org/drawingml/2006/main">
            <a:off x="5086350" y="520065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06</a:t>
            </a:r>
          </a:p>
        </p:txBody>
      </p:sp>
      <p:sp>
        <p:nvSpPr>
          <p:cNvPr id="21" name="">
            <a:extLst xmlns:a="http://schemas.openxmlformats.org/drawingml/2006/main">
              <a:ext uri="{FF2B5EF4-FFF2-40B4-BE49-F238E27FC236}">
                <a16:creationId xmlns:a16="http://schemas.microsoft.com/office/drawing/2014/main" id="{CDB740A3-689C-4495-B16E-8E4BE365702B}"/>
              </a:ext>
            </a:extLst>
          </p:cNvPr>
          <p:cNvSpPr>
            <a:spLocks xmlns:a="http://schemas.openxmlformats.org/drawingml/2006/main" noGrp="1"/>
          </p:cNvSpPr>
          <p:nvPr/>
        </p:nvSpPr>
        <p:spPr>
          <a:xfrm xmlns:a="http://schemas.openxmlformats.org/drawingml/2006/main">
            <a:off x="5105400" y="5476875"/>
            <a:ext cx="2076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検証</a:t>
            </a:r>
          </a:p>
        </p:txBody>
      </p:sp>
      <p:sp>
        <p:nvSpPr>
          <p:cNvPr id="22" name="">
            <a:extLst xmlns:a="http://schemas.openxmlformats.org/drawingml/2006/main">
              <a:ext uri="{FF2B5EF4-FFF2-40B4-BE49-F238E27FC236}">
                <a16:creationId xmlns:a16="http://schemas.microsoft.com/office/drawing/2014/main" id="{C06873D3-61A2-42A0-A4CE-620E008B741D}"/>
              </a:ext>
            </a:extLst>
          </p:cNvPr>
          <p:cNvSpPr>
            <a:spLocks xmlns:a="http://schemas.openxmlformats.org/drawingml/2006/main" noGrp="1"/>
          </p:cNvSpPr>
          <p:nvPr/>
        </p:nvSpPr>
        <p:spPr>
          <a:xfrm xmlns:a="http://schemas.openxmlformats.org/drawingml/2006/main">
            <a:off x="7715250" y="5048250"/>
            <a:ext cx="2476500" cy="1076325"/>
          </a:xfrm>
          <a:prstGeom xmlns:a="http://schemas.openxmlformats.org/drawingml/2006/main" prst="rect">
            <a:avLst/>
          </a:prstGeom>
          <a:solidFill xmlns:a="http://schemas.openxmlformats.org/drawingml/2006/main">
            <a:srgbClr val="D7EEF8"/>
          </a:solidFill>
          <a:ln xmlns:a="http://schemas.openxmlformats.org/drawingml/2006/main" w="19050">
            <a:solidFill>
              <a:srgbClr val="2A77A3"/>
            </a:solidFill>
          </a:ln>
        </p:spPr>
      </p:sp>
      <p:sp>
        <p:nvSpPr>
          <p:cNvPr id="23" name="">
            <a:extLst xmlns:a="http://schemas.openxmlformats.org/drawingml/2006/main">
              <a:ext uri="{FF2B5EF4-FFF2-40B4-BE49-F238E27FC236}">
                <a16:creationId xmlns:a16="http://schemas.microsoft.com/office/drawing/2014/main" id="{D4E1E40F-10E9-45E6-97A3-41A3F0575504}"/>
              </a:ext>
            </a:extLst>
          </p:cNvPr>
          <p:cNvSpPr>
            <a:spLocks xmlns:a="http://schemas.openxmlformats.org/drawingml/2006/main" noGrp="1"/>
          </p:cNvSpPr>
          <p:nvPr/>
        </p:nvSpPr>
        <p:spPr>
          <a:xfrm xmlns:a="http://schemas.openxmlformats.org/drawingml/2006/main">
            <a:off x="7896225" y="520065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07</a:t>
            </a:r>
          </a:p>
        </p:txBody>
      </p:sp>
      <p:sp>
        <p:nvSpPr>
          <p:cNvPr id="24" name="">
            <a:extLst xmlns:a="http://schemas.openxmlformats.org/drawingml/2006/main">
              <a:ext uri="{FF2B5EF4-FFF2-40B4-BE49-F238E27FC236}">
                <a16:creationId xmlns:a16="http://schemas.microsoft.com/office/drawing/2014/main" id="{AACBD4E9-6399-435A-A5BC-6E27C5B88017}"/>
              </a:ext>
            </a:extLst>
          </p:cNvPr>
          <p:cNvSpPr>
            <a:spLocks xmlns:a="http://schemas.openxmlformats.org/drawingml/2006/main" noGrp="1"/>
          </p:cNvSpPr>
          <p:nvPr/>
        </p:nvSpPr>
        <p:spPr>
          <a:xfrm xmlns:a="http://schemas.openxmlformats.org/drawingml/2006/main">
            <a:off x="7915275" y="5476875"/>
            <a:ext cx="2076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完了条件</a:t>
            </a:r>
          </a:p>
        </p:txBody>
      </p:sp>
      <p:sp>
        <p:nvSpPr>
          <p:cNvPr id="25" name="">
            <a:extLst xmlns:a="http://schemas.openxmlformats.org/drawingml/2006/main">
              <a:ext uri="{FF2B5EF4-FFF2-40B4-BE49-F238E27FC236}">
                <a16:creationId xmlns:a16="http://schemas.microsoft.com/office/drawing/2014/main" id="{2865E345-4F9A-4A71-96CD-33841C3AF09C}"/>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24 / 38</a:t>
            </a:r>
          </a:p>
        </p:txBody>
      </p:sp>
    </p:spTree>
    <p:extLst>
      <p:ext uri="{BB962C8B-B14F-4D97-AF65-F5344CB8AC3E}">
        <p14:creationId xmlns:p14="http://schemas.microsoft.com/office/powerpoint/2010/main" val="341001873"/>
      </p:ext>
    </p:extLst>
  </p:cSld>
</p:sld>
</file>

<file path=ppt/slides/slide25.xml><?xml version="1.0" encoding="utf-8"?>
<p:sld xmlns:p="http://schemas.openxmlformats.org/presentationml/2006/main">
  <p:cSld>
    <p:bg>
      <p:bgPr>
        <a:solidFill xmlns:a="http://schemas.openxmlformats.org/drawingml/2006/main">
          <a:srgbClr val="EDF7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D6A75E-312B-4EDD-9541-CBC341C43725}"/>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Astraを使いこなす</a:t>
            </a:r>
          </a:p>
        </p:txBody>
      </p:sp>
      <p:sp>
        <p:nvSpPr>
          <p:cNvPr id="2" name="">
            <a:extLst xmlns:a="http://schemas.openxmlformats.org/drawingml/2006/main">
              <a:ext uri="{FF2B5EF4-FFF2-40B4-BE49-F238E27FC236}">
                <a16:creationId xmlns:a16="http://schemas.microsoft.com/office/drawing/2014/main" id="{654EDE58-9843-49D3-A558-B3E9C8C6D39D}"/>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目的の書き方</a:t>
            </a:r>
          </a:p>
        </p:txBody>
      </p:sp>
      <p:sp>
        <p:nvSpPr>
          <p:cNvPr id="3" name="">
            <a:extLst xmlns:a="http://schemas.openxmlformats.org/drawingml/2006/main">
              <a:ext uri="{FF2B5EF4-FFF2-40B4-BE49-F238E27FC236}">
                <a16:creationId xmlns:a16="http://schemas.microsoft.com/office/drawing/2014/main" id="{B0594BC9-C800-4BE7-A295-BB080BB72C24}"/>
              </a:ext>
            </a:extLst>
          </p:cNvPr>
          <p:cNvSpPr>
            <a:spLocks xmlns:a="http://schemas.openxmlformats.org/drawingml/2006/main" noGrp="1"/>
          </p:cNvSpPr>
          <p:nvPr/>
        </p:nvSpPr>
        <p:spPr>
          <a:xfrm xmlns:a="http://schemas.openxmlformats.org/drawingml/2006/main">
            <a:off x="723900" y="2571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925" b="1">
                <a:solidFill>
                  <a:srgbClr val="0D2A43"/>
                </a:solidFill>
                <a:latin typeface="Yu Gothic"/>
                <a:ea typeface="Yu Gothic"/>
                <a:cs typeface="Yu Gothic"/>
              </a:defRPr>
            </a:pPr>
            <a:r>
              <a:rPr sz="2925" b="1">
                <a:solidFill>
                  <a:srgbClr val="0D2A43"/>
                </a:solidFill>
                <a:latin typeface="Yu Gothic"/>
                <a:ea typeface="Yu Gothic"/>
                <a:cs typeface="Yu Gothic"/>
              </a:rPr>
              <a:t>『調べて』を『判断できる形にして』へ</a:t>
            </a:r>
          </a:p>
        </p:txBody>
      </p:sp>
      <p:sp>
        <p:nvSpPr>
          <p:cNvPr id="4" name="">
            <a:extLst xmlns:a="http://schemas.openxmlformats.org/drawingml/2006/main">
              <a:ext uri="{FF2B5EF4-FFF2-40B4-BE49-F238E27FC236}">
                <a16:creationId xmlns:a16="http://schemas.microsoft.com/office/drawing/2014/main" id="{2931FE2B-004F-4DDF-8A39-7BEBD0A8018E}"/>
              </a:ext>
            </a:extLst>
          </p:cNvPr>
          <p:cNvSpPr>
            <a:spLocks xmlns:a="http://schemas.openxmlformats.org/drawingml/2006/main" noGrp="1"/>
          </p:cNvSpPr>
          <p:nvPr/>
        </p:nvSpPr>
        <p:spPr>
          <a:xfrm xmlns:a="http://schemas.openxmlformats.org/drawingml/2006/main">
            <a:off x="723900" y="4000500"/>
            <a:ext cx="4953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2A77A3"/>
                </a:solidFill>
                <a:latin typeface="Yu Gothic"/>
                <a:ea typeface="Yu Gothic"/>
                <a:cs typeface="Yu Gothic"/>
              </a:defRPr>
            </a:pPr>
            <a:r>
              <a:rPr sz="2700" b="1">
                <a:solidFill>
                  <a:srgbClr val="2A77A3"/>
                </a:solidFill>
                <a:latin typeface="Yu Gothic"/>
                <a:ea typeface="Yu Gothic"/>
                <a:cs typeface="Yu Gothic"/>
              </a:rPr>
              <a:t>△ あいまい</a:t>
            </a:r>
          </a:p>
        </p:txBody>
      </p:sp>
      <p:sp>
        <p:nvSpPr>
          <p:cNvPr id="5" name="">
            <a:extLst xmlns:a="http://schemas.openxmlformats.org/drawingml/2006/main">
              <a:ext uri="{FF2B5EF4-FFF2-40B4-BE49-F238E27FC236}">
                <a16:creationId xmlns:a16="http://schemas.microsoft.com/office/drawing/2014/main" id="{2372F440-B9CB-4E3E-8768-4A965FBEFF61}"/>
              </a:ext>
            </a:extLst>
          </p:cNvPr>
          <p:cNvSpPr>
            <a:spLocks xmlns:a="http://schemas.openxmlformats.org/drawingml/2006/main" noGrp="1"/>
          </p:cNvSpPr>
          <p:nvPr/>
        </p:nvSpPr>
        <p:spPr>
          <a:xfrm xmlns:a="http://schemas.openxmlformats.org/drawingml/2006/main">
            <a:off x="6324600" y="4000500"/>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2A77A3"/>
                </a:solidFill>
                <a:latin typeface="Yu Gothic"/>
                <a:ea typeface="Yu Gothic"/>
                <a:cs typeface="Yu Gothic"/>
              </a:defRPr>
            </a:pPr>
            <a:r>
              <a:rPr sz="2700" b="1">
                <a:solidFill>
                  <a:srgbClr val="2A77A3"/>
                </a:solidFill>
                <a:latin typeface="Yu Gothic"/>
                <a:ea typeface="Yu Gothic"/>
                <a:cs typeface="Yu Gothic"/>
              </a:rPr>
              <a:t>○ 判断に使える</a:t>
            </a:r>
          </a:p>
        </p:txBody>
      </p:sp>
      <p:sp>
        <p:nvSpPr>
          <p:cNvPr id="6" name="">
            <a:extLst xmlns:a="http://schemas.openxmlformats.org/drawingml/2006/main">
              <a:ext uri="{FF2B5EF4-FFF2-40B4-BE49-F238E27FC236}">
                <a16:creationId xmlns:a16="http://schemas.microsoft.com/office/drawing/2014/main" id="{8D4D02F9-58FD-4027-B597-022451E2C9EF}"/>
              </a:ext>
            </a:extLst>
          </p:cNvPr>
          <p:cNvSpPr>
            <a:spLocks xmlns:a="http://schemas.openxmlformats.org/drawingml/2006/main" noGrp="1"/>
          </p:cNvSpPr>
          <p:nvPr/>
        </p:nvSpPr>
        <p:spPr>
          <a:xfrm xmlns:a="http://schemas.openxmlformats.org/drawingml/2006/main">
            <a:off x="723900" y="4762500"/>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競合を調べて</a:t>
            </a:r>
          </a:p>
        </p:txBody>
      </p:sp>
      <p:sp>
        <p:nvSpPr>
          <p:cNvPr id="7" name="">
            <a:extLst xmlns:a="http://schemas.openxmlformats.org/drawingml/2006/main">
              <a:ext uri="{FF2B5EF4-FFF2-40B4-BE49-F238E27FC236}">
                <a16:creationId xmlns:a16="http://schemas.microsoft.com/office/drawing/2014/main" id="{4DF519B0-EA3B-4498-BAC8-47FA14CC8C31}"/>
              </a:ext>
            </a:extLst>
          </p:cNvPr>
          <p:cNvSpPr>
            <a:spLocks xmlns:a="http://schemas.openxmlformats.org/drawingml/2006/main" noGrp="1"/>
          </p:cNvSpPr>
          <p:nvPr/>
        </p:nvSpPr>
        <p:spPr>
          <a:xfrm xmlns:a="http://schemas.openxmlformats.org/drawingml/2006/main">
            <a:off x="6324600" y="476250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価格帯・差別化案・上位候補を表にする</a:t>
            </a:r>
          </a:p>
        </p:txBody>
      </p:sp>
      <p:sp>
        <p:nvSpPr>
          <p:cNvPr id="8" name="">
            <a:extLst xmlns:a="http://schemas.openxmlformats.org/drawingml/2006/main">
              <a:ext uri="{FF2B5EF4-FFF2-40B4-BE49-F238E27FC236}">
                <a16:creationId xmlns:a16="http://schemas.microsoft.com/office/drawing/2014/main" id="{7C91612F-25D0-4F6A-B587-45E0AC7DF91C}"/>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25 / 38</a:t>
            </a:r>
          </a:p>
        </p:txBody>
      </p:sp>
    </p:spTree>
    <p:extLst>
      <p:ext uri="{BB962C8B-B14F-4D97-AF65-F5344CB8AC3E}">
        <p14:creationId xmlns:p14="http://schemas.microsoft.com/office/powerpoint/2010/main" val="1669794221"/>
      </p:ext>
    </p:extLst>
  </p:cSld>
</p:sld>
</file>

<file path=ppt/slides/slide26.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D9B9F18-4A65-45AF-BEFA-787A2B9F512E}"/>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Astraを使いこなす</a:t>
            </a:r>
          </a:p>
        </p:txBody>
      </p:sp>
      <p:sp>
        <p:nvSpPr>
          <p:cNvPr id="2" name="">
            <a:extLst xmlns:a="http://schemas.openxmlformats.org/drawingml/2006/main">
              <a:ext uri="{FF2B5EF4-FFF2-40B4-BE49-F238E27FC236}">
                <a16:creationId xmlns:a16="http://schemas.microsoft.com/office/drawing/2014/main" id="{B2C5CD41-0768-488F-9E94-3E5147EFAC2E}"/>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終点を決める</a:t>
            </a:r>
          </a:p>
        </p:txBody>
      </p:sp>
      <p:sp>
        <p:nvSpPr>
          <p:cNvPr id="3" name="">
            <a:extLst xmlns:a="http://schemas.openxmlformats.org/drawingml/2006/main">
              <a:ext uri="{FF2B5EF4-FFF2-40B4-BE49-F238E27FC236}">
                <a16:creationId xmlns:a16="http://schemas.microsoft.com/office/drawing/2014/main" id="{47185003-AF03-45E1-AE04-C4FB800D88C9}"/>
              </a:ext>
            </a:extLst>
          </p:cNvPr>
          <p:cNvSpPr>
            <a:spLocks xmlns:a="http://schemas.openxmlformats.org/drawingml/2006/main" noGrp="1"/>
          </p:cNvSpPr>
          <p:nvPr/>
        </p:nvSpPr>
        <p:spPr>
          <a:xfrm xmlns:a="http://schemas.openxmlformats.org/drawingml/2006/main">
            <a:off x="723900" y="2571750"/>
            <a:ext cx="1066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925" b="1">
                <a:solidFill>
                  <a:srgbClr val="0D2A43"/>
                </a:solidFill>
                <a:latin typeface="Yu Gothic"/>
                <a:ea typeface="Yu Gothic"/>
                <a:cs typeface="Yu Gothic"/>
              </a:defRPr>
            </a:pPr>
            <a:r>
              <a:rPr sz="2925" b="1">
                <a:solidFill>
                  <a:srgbClr val="0D2A43"/>
                </a:solidFill>
                <a:latin typeface="Yu Gothic"/>
                <a:ea typeface="Yu Gothic"/>
                <a:cs typeface="Yu Gothic"/>
              </a:rPr>
              <a:t>完成条件があると、作業をやり切りやすい</a:t>
            </a:r>
          </a:p>
        </p:txBody>
      </p:sp>
      <p:sp>
        <p:nvSpPr>
          <p:cNvPr id="4" name="">
            <a:extLst xmlns:a="http://schemas.openxmlformats.org/drawingml/2006/main">
              <a:ext uri="{FF2B5EF4-FFF2-40B4-BE49-F238E27FC236}">
                <a16:creationId xmlns:a16="http://schemas.microsoft.com/office/drawing/2014/main" id="{8B67E236-050D-433A-8574-CBAFE4D9F9FE}"/>
              </a:ext>
            </a:extLst>
          </p:cNvPr>
          <p:cNvSpPr>
            <a:spLocks xmlns:a="http://schemas.openxmlformats.org/drawingml/2006/main" noGrp="1"/>
          </p:cNvSpPr>
          <p:nvPr/>
        </p:nvSpPr>
        <p:spPr>
          <a:xfrm xmlns:a="http://schemas.openxmlformats.org/drawingml/2006/main">
            <a:off x="723900" y="42862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93"/>
          </a:bodyPr>
          <a:lstStyle xmlns:a="http://schemas.openxmlformats.org/drawingml/2006/main"/>
          <a:p xmlns:a="http://schemas.openxmlformats.org/drawingml/2006/main">
            <a:pPr>
              <a:defRPr sz="1650" b="1">
                <a:solidFill>
                  <a:srgbClr val="2A77A3"/>
                </a:solidFill>
                <a:latin typeface="Yu Gothic"/>
                <a:ea typeface="Yu Gothic"/>
                <a:cs typeface="Yu Gothic"/>
              </a:defRPr>
            </a:pPr>
            <a:r>
              <a:rPr sz="1650" b="1">
                <a:solidFill>
                  <a:srgbClr val="2A77A3"/>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ADEDB4C7-8CDD-4CD6-80BE-2A3DC04E2D7E}"/>
              </a:ext>
            </a:extLst>
          </p:cNvPr>
          <p:cNvSpPr>
            <a:spLocks xmlns:a="http://schemas.openxmlformats.org/drawingml/2006/main" noGrp="1"/>
          </p:cNvSpPr>
          <p:nvPr/>
        </p:nvSpPr>
        <p:spPr>
          <a:xfrm xmlns:a="http://schemas.openxmlformats.org/drawingml/2006/main">
            <a:off x="1200150" y="42576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対象と件数</a:t>
            </a:r>
          </a:p>
        </p:txBody>
      </p:sp>
      <p:sp>
        <p:nvSpPr>
          <p:cNvPr id="6" name="">
            <a:extLst xmlns:a="http://schemas.openxmlformats.org/drawingml/2006/main">
              <a:ext uri="{FF2B5EF4-FFF2-40B4-BE49-F238E27FC236}">
                <a16:creationId xmlns:a16="http://schemas.microsoft.com/office/drawing/2014/main" id="{C2306339-2FF3-4A7D-AF47-4A4584BCBBE3}"/>
              </a:ext>
            </a:extLst>
          </p:cNvPr>
          <p:cNvSpPr>
            <a:spLocks xmlns:a="http://schemas.openxmlformats.org/drawingml/2006/main" noGrp="1"/>
          </p:cNvSpPr>
          <p:nvPr/>
        </p:nvSpPr>
        <p:spPr>
          <a:xfrm xmlns:a="http://schemas.openxmlformats.org/drawingml/2006/main">
            <a:off x="6200775" y="42862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93"/>
          </a:bodyPr>
          <a:lstStyle xmlns:a="http://schemas.openxmlformats.org/drawingml/2006/main"/>
          <a:p xmlns:a="http://schemas.openxmlformats.org/drawingml/2006/main">
            <a:pPr>
              <a:defRPr sz="1650" b="1">
                <a:solidFill>
                  <a:srgbClr val="2A77A3"/>
                </a:solidFill>
                <a:latin typeface="Yu Gothic"/>
                <a:ea typeface="Yu Gothic"/>
                <a:cs typeface="Yu Gothic"/>
              </a:defRPr>
            </a:pPr>
            <a:r>
              <a:rPr sz="1650" b="1">
                <a:solidFill>
                  <a:srgbClr val="2A77A3"/>
                </a:solidFill>
                <a:latin typeface="Yu Gothic"/>
                <a:ea typeface="Yu Gothic"/>
                <a:cs typeface="Yu Gothic"/>
              </a:rPr>
              <a:t>02</a:t>
            </a:r>
          </a:p>
        </p:txBody>
      </p:sp>
      <p:sp>
        <p:nvSpPr>
          <p:cNvPr id="7" name="">
            <a:extLst xmlns:a="http://schemas.openxmlformats.org/drawingml/2006/main">
              <a:ext uri="{FF2B5EF4-FFF2-40B4-BE49-F238E27FC236}">
                <a16:creationId xmlns:a16="http://schemas.microsoft.com/office/drawing/2014/main" id="{E50B0D03-48C5-4F5C-92BC-DB27013A69C9}"/>
              </a:ext>
            </a:extLst>
          </p:cNvPr>
          <p:cNvSpPr>
            <a:spLocks xmlns:a="http://schemas.openxmlformats.org/drawingml/2006/main" noGrp="1"/>
          </p:cNvSpPr>
          <p:nvPr/>
        </p:nvSpPr>
        <p:spPr>
          <a:xfrm xmlns:a="http://schemas.openxmlformats.org/drawingml/2006/main">
            <a:off x="6677025" y="42576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成果物の形式</a:t>
            </a:r>
          </a:p>
        </p:txBody>
      </p:sp>
      <p:sp>
        <p:nvSpPr>
          <p:cNvPr id="8" name="">
            <a:extLst xmlns:a="http://schemas.openxmlformats.org/drawingml/2006/main">
              <a:ext uri="{FF2B5EF4-FFF2-40B4-BE49-F238E27FC236}">
                <a16:creationId xmlns:a16="http://schemas.microsoft.com/office/drawing/2014/main" id="{6E3CD3A7-9D01-4938-A676-640123CA46AD}"/>
              </a:ext>
            </a:extLst>
          </p:cNvPr>
          <p:cNvSpPr>
            <a:spLocks xmlns:a="http://schemas.openxmlformats.org/drawingml/2006/main" noGrp="1"/>
          </p:cNvSpPr>
          <p:nvPr/>
        </p:nvSpPr>
        <p:spPr>
          <a:xfrm xmlns:a="http://schemas.openxmlformats.org/drawingml/2006/main">
            <a:off x="723900" y="533400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93"/>
          </a:bodyPr>
          <a:lstStyle xmlns:a="http://schemas.openxmlformats.org/drawingml/2006/main"/>
          <a:p xmlns:a="http://schemas.openxmlformats.org/drawingml/2006/main">
            <a:pPr>
              <a:defRPr sz="1650" b="1">
                <a:solidFill>
                  <a:srgbClr val="2A77A3"/>
                </a:solidFill>
                <a:latin typeface="Yu Gothic"/>
                <a:ea typeface="Yu Gothic"/>
                <a:cs typeface="Yu Gothic"/>
              </a:defRPr>
            </a:pPr>
            <a:r>
              <a:rPr sz="1650" b="1">
                <a:solidFill>
                  <a:srgbClr val="2A77A3"/>
                </a:solidFill>
                <a:latin typeface="Yu Gothic"/>
                <a:ea typeface="Yu Gothic"/>
                <a:cs typeface="Yu Gothic"/>
              </a:rPr>
              <a:t>03</a:t>
            </a:r>
          </a:p>
        </p:txBody>
      </p:sp>
      <p:sp>
        <p:nvSpPr>
          <p:cNvPr id="9" name="">
            <a:extLst xmlns:a="http://schemas.openxmlformats.org/drawingml/2006/main">
              <a:ext uri="{FF2B5EF4-FFF2-40B4-BE49-F238E27FC236}">
                <a16:creationId xmlns:a16="http://schemas.microsoft.com/office/drawing/2014/main" id="{C3FB73DF-2195-427C-B285-D2405AC60B1B}"/>
              </a:ext>
            </a:extLst>
          </p:cNvPr>
          <p:cNvSpPr>
            <a:spLocks xmlns:a="http://schemas.openxmlformats.org/drawingml/2006/main" noGrp="1"/>
          </p:cNvSpPr>
          <p:nvPr/>
        </p:nvSpPr>
        <p:spPr>
          <a:xfrm xmlns:a="http://schemas.openxmlformats.org/drawingml/2006/main">
            <a:off x="1200150" y="53054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検証の基準</a:t>
            </a:r>
          </a:p>
        </p:txBody>
      </p:sp>
      <p:sp>
        <p:nvSpPr>
          <p:cNvPr id="10" name="">
            <a:extLst xmlns:a="http://schemas.openxmlformats.org/drawingml/2006/main">
              <a:ext uri="{FF2B5EF4-FFF2-40B4-BE49-F238E27FC236}">
                <a16:creationId xmlns:a16="http://schemas.microsoft.com/office/drawing/2014/main" id="{31519779-B2D0-4D85-A06C-DD10F44FF9F4}"/>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26 / 38</a:t>
            </a:r>
          </a:p>
        </p:txBody>
      </p:sp>
    </p:spTree>
    <p:extLst>
      <p:ext uri="{BB962C8B-B14F-4D97-AF65-F5344CB8AC3E}">
        <p14:creationId xmlns:p14="http://schemas.microsoft.com/office/powerpoint/2010/main" val="1816425526"/>
      </p:ext>
    </p:extLst>
  </p:cSld>
</p:sld>
</file>

<file path=ppt/slides/slide27.xml><?xml version="1.0" encoding="utf-8"?>
<p:sld xmlns:p="http://schemas.openxmlformats.org/presentationml/2006/main">
  <p:cSld>
    <p:bg>
      <p:bgPr>
        <a:solidFill xmlns:a="http://schemas.openxmlformats.org/drawingml/2006/main">
          <a:srgbClr val="E1F2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91EB56-4435-4746-B754-2237B1D013A0}"/>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Astraを使いこなす</a:t>
            </a:r>
          </a:p>
        </p:txBody>
      </p:sp>
      <p:sp>
        <p:nvSpPr>
          <p:cNvPr id="2" name="">
            <a:extLst xmlns:a="http://schemas.openxmlformats.org/drawingml/2006/main">
              <a:ext uri="{FF2B5EF4-FFF2-40B4-BE49-F238E27FC236}">
                <a16:creationId xmlns:a16="http://schemas.microsoft.com/office/drawing/2014/main" id="{D3CD1F92-2300-49A9-8E24-A3E3BE43340E}"/>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権限を分ける</a:t>
            </a:r>
          </a:p>
        </p:txBody>
      </p:sp>
      <p:sp>
        <p:nvSpPr>
          <p:cNvPr id="3" name="">
            <a:extLst xmlns:a="http://schemas.openxmlformats.org/drawingml/2006/main">
              <a:ext uri="{FF2B5EF4-FFF2-40B4-BE49-F238E27FC236}">
                <a16:creationId xmlns:a16="http://schemas.microsoft.com/office/drawing/2014/main" id="{34F4D1E5-BC40-4A77-AC83-FADE541EA17A}"/>
              </a:ext>
            </a:extLst>
          </p:cNvPr>
          <p:cNvSpPr>
            <a:spLocks xmlns:a="http://schemas.openxmlformats.org/drawingml/2006/main" noGrp="1"/>
          </p:cNvSpPr>
          <p:nvPr/>
        </p:nvSpPr>
        <p:spPr>
          <a:xfrm xmlns:a="http://schemas.openxmlformats.org/drawingml/2006/main">
            <a:off x="723900" y="2571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925" b="1">
                <a:solidFill>
                  <a:srgbClr val="0D2A43"/>
                </a:solidFill>
                <a:latin typeface="Yu Gothic"/>
                <a:ea typeface="Yu Gothic"/>
                <a:cs typeface="Yu Gothic"/>
              </a:defRPr>
            </a:pPr>
            <a:r>
              <a:rPr sz="2925" b="1">
                <a:solidFill>
                  <a:srgbClr val="0D2A43"/>
                </a:solidFill>
                <a:latin typeface="Yu Gothic"/>
                <a:ea typeface="Yu Gothic"/>
                <a:cs typeface="Yu Gothic"/>
              </a:rPr>
              <a:t>安全な下準備は進め、対外操作は確認する</a:t>
            </a:r>
          </a:p>
        </p:txBody>
      </p:sp>
      <p:sp>
        <p:nvSpPr>
          <p:cNvPr id="4" name="">
            <a:extLst xmlns:a="http://schemas.openxmlformats.org/drawingml/2006/main">
              <a:ext uri="{FF2B5EF4-FFF2-40B4-BE49-F238E27FC236}">
                <a16:creationId xmlns:a16="http://schemas.microsoft.com/office/drawing/2014/main" id="{37692020-4A1B-43A7-8980-9811656B07C4}"/>
              </a:ext>
            </a:extLst>
          </p:cNvPr>
          <p:cNvSpPr>
            <a:spLocks xmlns:a="http://schemas.openxmlformats.org/drawingml/2006/main" noGrp="1"/>
          </p:cNvSpPr>
          <p:nvPr/>
        </p:nvSpPr>
        <p:spPr>
          <a:xfrm xmlns:a="http://schemas.openxmlformats.org/drawingml/2006/main">
            <a:off x="723900" y="4000500"/>
            <a:ext cx="4953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2A77A3"/>
                </a:solidFill>
                <a:latin typeface="Yu Gothic"/>
                <a:ea typeface="Yu Gothic"/>
                <a:cs typeface="Yu Gothic"/>
              </a:defRPr>
            </a:pPr>
            <a:r>
              <a:rPr sz="2700" b="1">
                <a:solidFill>
                  <a:srgbClr val="2A77A3"/>
                </a:solidFill>
                <a:latin typeface="Yu Gothic"/>
                <a:ea typeface="Yu Gothic"/>
                <a:cs typeface="Yu Gothic"/>
              </a:rPr>
              <a:t>自動で進める</a:t>
            </a:r>
          </a:p>
        </p:txBody>
      </p:sp>
      <p:sp>
        <p:nvSpPr>
          <p:cNvPr id="5" name="">
            <a:extLst xmlns:a="http://schemas.openxmlformats.org/drawingml/2006/main">
              <a:ext uri="{FF2B5EF4-FFF2-40B4-BE49-F238E27FC236}">
                <a16:creationId xmlns:a16="http://schemas.microsoft.com/office/drawing/2014/main" id="{3DB622EE-F382-4DE5-9978-E8A12AEC6E19}"/>
              </a:ext>
            </a:extLst>
          </p:cNvPr>
          <p:cNvSpPr>
            <a:spLocks xmlns:a="http://schemas.openxmlformats.org/drawingml/2006/main" noGrp="1"/>
          </p:cNvSpPr>
          <p:nvPr/>
        </p:nvSpPr>
        <p:spPr>
          <a:xfrm xmlns:a="http://schemas.openxmlformats.org/drawingml/2006/main">
            <a:off x="6324600" y="4000500"/>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2A77A3"/>
                </a:solidFill>
                <a:latin typeface="Yu Gothic"/>
                <a:ea typeface="Yu Gothic"/>
                <a:cs typeface="Yu Gothic"/>
              </a:defRPr>
            </a:pPr>
            <a:r>
              <a:rPr sz="2700" b="1">
                <a:solidFill>
                  <a:srgbClr val="2A77A3"/>
                </a:solidFill>
                <a:latin typeface="Yu Gothic"/>
                <a:ea typeface="Yu Gothic"/>
                <a:cs typeface="Yu Gothic"/>
              </a:rPr>
              <a:t>人が確認する</a:t>
            </a:r>
          </a:p>
        </p:txBody>
      </p:sp>
      <p:sp>
        <p:nvSpPr>
          <p:cNvPr id="6" name="">
            <a:extLst xmlns:a="http://schemas.openxmlformats.org/drawingml/2006/main">
              <a:ext uri="{FF2B5EF4-FFF2-40B4-BE49-F238E27FC236}">
                <a16:creationId xmlns:a16="http://schemas.microsoft.com/office/drawing/2014/main" id="{E4AC8CF1-AAFB-4E15-A7C3-66B644EB45F3}"/>
              </a:ext>
            </a:extLst>
          </p:cNvPr>
          <p:cNvSpPr>
            <a:spLocks xmlns:a="http://schemas.openxmlformats.org/drawingml/2006/main" noGrp="1"/>
          </p:cNvSpPr>
          <p:nvPr/>
        </p:nvSpPr>
        <p:spPr>
          <a:xfrm xmlns:a="http://schemas.openxmlformats.org/drawingml/2006/main">
            <a:off x="723900" y="4762500"/>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閲覧・分析・下書き</a:t>
            </a:r>
          </a:p>
        </p:txBody>
      </p:sp>
      <p:sp>
        <p:nvSpPr>
          <p:cNvPr id="7" name="">
            <a:extLst xmlns:a="http://schemas.openxmlformats.org/drawingml/2006/main">
              <a:ext uri="{FF2B5EF4-FFF2-40B4-BE49-F238E27FC236}">
                <a16:creationId xmlns:a16="http://schemas.microsoft.com/office/drawing/2014/main" id="{1A1564AF-A7ED-4A41-BA17-2613D0900058}"/>
              </a:ext>
            </a:extLst>
          </p:cNvPr>
          <p:cNvSpPr>
            <a:spLocks xmlns:a="http://schemas.openxmlformats.org/drawingml/2006/main" noGrp="1"/>
          </p:cNvSpPr>
          <p:nvPr/>
        </p:nvSpPr>
        <p:spPr>
          <a:xfrm xmlns:a="http://schemas.openxmlformats.org/drawingml/2006/main">
            <a:off x="6324600" y="476250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送信・公開・支払い・削除</a:t>
            </a:r>
          </a:p>
        </p:txBody>
      </p:sp>
      <p:sp>
        <p:nvSpPr>
          <p:cNvPr id="8" name="">
            <a:extLst xmlns:a="http://schemas.openxmlformats.org/drawingml/2006/main">
              <a:ext uri="{FF2B5EF4-FFF2-40B4-BE49-F238E27FC236}">
                <a16:creationId xmlns:a16="http://schemas.microsoft.com/office/drawing/2014/main" id="{DE65149B-B4EE-4336-9375-A5699BE03A5C}"/>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27 / 38</a:t>
            </a:r>
          </a:p>
        </p:txBody>
      </p:sp>
    </p:spTree>
    <p:extLst>
      <p:ext uri="{BB962C8B-B14F-4D97-AF65-F5344CB8AC3E}">
        <p14:creationId xmlns:p14="http://schemas.microsoft.com/office/powerpoint/2010/main" val="109002515"/>
      </p:ext>
    </p:extLst>
  </p:cSld>
</p:sld>
</file>

<file path=ppt/slides/slide28.xml><?xml version="1.0" encoding="utf-8"?>
<p:sld xmlns:p="http://schemas.openxmlformats.org/presentationml/2006/main">
  <p:cSld>
    <p:bg>
      <p:bgPr>
        <a:solidFill xmlns:a="http://schemas.openxmlformats.org/drawingml/2006/main">
          <a:srgbClr val="EDF7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2EA1C7-A0BF-4526-B5C9-139763A2167E}"/>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Astraを使いこなす</a:t>
            </a:r>
          </a:p>
        </p:txBody>
      </p:sp>
      <p:sp>
        <p:nvSpPr>
          <p:cNvPr id="2" name="">
            <a:extLst xmlns:a="http://schemas.openxmlformats.org/drawingml/2006/main">
              <a:ext uri="{FF2B5EF4-FFF2-40B4-BE49-F238E27FC236}">
                <a16:creationId xmlns:a16="http://schemas.microsoft.com/office/drawing/2014/main" id="{42547032-71FA-4F2C-8982-9E76C676A503}"/>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指示は短く、矛盾なく</a:t>
            </a:r>
          </a:p>
        </p:txBody>
      </p:sp>
      <p:sp>
        <p:nvSpPr>
          <p:cNvPr id="3" name="">
            <a:extLst xmlns:a="http://schemas.openxmlformats.org/drawingml/2006/main">
              <a:ext uri="{FF2B5EF4-FFF2-40B4-BE49-F238E27FC236}">
                <a16:creationId xmlns:a16="http://schemas.microsoft.com/office/drawing/2014/main" id="{25FD2CEB-1FD5-4B65-B4F3-821E5B4EA251}"/>
              </a:ext>
            </a:extLst>
          </p:cNvPr>
          <p:cNvSpPr>
            <a:spLocks xmlns:a="http://schemas.openxmlformats.org/drawingml/2006/main" noGrp="1"/>
          </p:cNvSpPr>
          <p:nvPr/>
        </p:nvSpPr>
        <p:spPr>
          <a:xfrm xmlns:a="http://schemas.openxmlformats.org/drawingml/2006/main">
            <a:off x="723900" y="2905125"/>
            <a:ext cx="5619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450" b="1">
                <a:solidFill>
                  <a:srgbClr val="0D2A43"/>
                </a:solidFill>
                <a:latin typeface="Yu Gothic"/>
                <a:ea typeface="Yu Gothic"/>
                <a:cs typeface="Yu Gothic"/>
              </a:defRPr>
            </a:pPr>
            <a:r>
              <a:rPr sz="3450" b="1">
                <a:solidFill>
                  <a:srgbClr val="0D2A43"/>
                </a:solidFill>
                <a:latin typeface="Yu Gothic"/>
                <a:ea typeface="Yu Gothic"/>
                <a:cs typeface="Yu Gothic"/>
              </a:rPr>
              <a:t>ルールの詰め込み過ぎは仕事を鈍らせる</a:t>
            </a:r>
          </a:p>
        </p:txBody>
      </p:sp>
      <p:sp>
        <p:nvSpPr>
          <p:cNvPr id="4" name="">
            <a:extLst xmlns:a="http://schemas.openxmlformats.org/drawingml/2006/main">
              <a:ext uri="{FF2B5EF4-FFF2-40B4-BE49-F238E27FC236}">
                <a16:creationId xmlns:a16="http://schemas.microsoft.com/office/drawing/2014/main" id="{DA792B3D-9613-4F7C-A77C-DE9F3CCC281C}"/>
              </a:ext>
            </a:extLst>
          </p:cNvPr>
          <p:cNvSpPr>
            <a:spLocks xmlns:a="http://schemas.openxmlformats.org/drawingml/2006/main" noGrp="1"/>
          </p:cNvSpPr>
          <p:nvPr/>
        </p:nvSpPr>
        <p:spPr>
          <a:xfrm xmlns:a="http://schemas.openxmlformats.org/drawingml/2006/main">
            <a:off x="7000875" y="301942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365C76"/>
                </a:solidFill>
                <a:latin typeface="Yu Gothic"/>
                <a:ea typeface="Yu Gothic"/>
                <a:cs typeface="Yu Gothic"/>
              </a:defRPr>
            </a:pPr>
            <a:r>
              <a:rPr sz="2175" b="1">
                <a:solidFill>
                  <a:srgbClr val="365C76"/>
                </a:solidFill>
                <a:latin typeface="Yu Gothic"/>
                <a:ea typeface="Yu Gothic"/>
                <a:cs typeface="Yu Gothic"/>
              </a:rPr>
              <a:t>短い入口</a:t>
            </a:r>
          </a:p>
        </p:txBody>
      </p:sp>
      <p:sp>
        <p:nvSpPr>
          <p:cNvPr id="5" name="">
            <a:extLst xmlns:a="http://schemas.openxmlformats.org/drawingml/2006/main">
              <a:ext uri="{FF2B5EF4-FFF2-40B4-BE49-F238E27FC236}">
                <a16:creationId xmlns:a16="http://schemas.microsoft.com/office/drawing/2014/main" id="{547E13E3-E602-4536-B91F-2B7E5FF7FF61}"/>
              </a:ext>
            </a:extLst>
          </p:cNvPr>
          <p:cNvSpPr>
            <a:spLocks xmlns:a="http://schemas.openxmlformats.org/drawingml/2006/main" noGrp="1"/>
          </p:cNvSpPr>
          <p:nvPr/>
        </p:nvSpPr>
        <p:spPr>
          <a:xfrm xmlns:a="http://schemas.openxmlformats.org/drawingml/2006/main">
            <a:off x="7000875" y="383857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365C76"/>
                </a:solidFill>
                <a:latin typeface="Yu Gothic"/>
                <a:ea typeface="Yu Gothic"/>
                <a:cs typeface="Yu Gothic"/>
              </a:defRPr>
            </a:pPr>
            <a:r>
              <a:rPr sz="2175" b="1">
                <a:solidFill>
                  <a:srgbClr val="365C76"/>
                </a:solidFill>
                <a:latin typeface="Yu Gothic"/>
                <a:ea typeface="Yu Gothic"/>
                <a:cs typeface="Yu Gothic"/>
              </a:rPr>
              <a:t>必要な資料だけ読む</a:t>
            </a:r>
          </a:p>
        </p:txBody>
      </p:sp>
      <p:sp>
        <p:nvSpPr>
          <p:cNvPr id="6" name="">
            <a:extLst xmlns:a="http://schemas.openxmlformats.org/drawingml/2006/main">
              <a:ext uri="{FF2B5EF4-FFF2-40B4-BE49-F238E27FC236}">
                <a16:creationId xmlns:a16="http://schemas.microsoft.com/office/drawing/2014/main" id="{3BBFFBD5-6365-4E69-8F35-156ECA0FB65C}"/>
              </a:ext>
            </a:extLst>
          </p:cNvPr>
          <p:cNvSpPr>
            <a:spLocks xmlns:a="http://schemas.openxmlformats.org/drawingml/2006/main" noGrp="1"/>
          </p:cNvSpPr>
          <p:nvPr/>
        </p:nvSpPr>
        <p:spPr>
          <a:xfrm xmlns:a="http://schemas.openxmlformats.org/drawingml/2006/main">
            <a:off x="7000875" y="465772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365C76"/>
                </a:solidFill>
                <a:latin typeface="Yu Gothic"/>
                <a:ea typeface="Yu Gothic"/>
                <a:cs typeface="Yu Gothic"/>
              </a:defRPr>
            </a:pPr>
            <a:r>
              <a:rPr sz="2175" b="1">
                <a:solidFill>
                  <a:srgbClr val="365C76"/>
                </a:solidFill>
                <a:latin typeface="Yu Gothic"/>
                <a:ea typeface="Yu Gothic"/>
                <a:cs typeface="Yu Gothic"/>
              </a:rPr>
              <a:t>状況に合う検証</a:t>
            </a:r>
          </a:p>
        </p:txBody>
      </p:sp>
      <p:sp>
        <p:nvSpPr>
          <p:cNvPr id="7" name="">
            <a:extLst xmlns:a="http://schemas.openxmlformats.org/drawingml/2006/main">
              <a:ext uri="{FF2B5EF4-FFF2-40B4-BE49-F238E27FC236}">
                <a16:creationId xmlns:a16="http://schemas.microsoft.com/office/drawing/2014/main" id="{3D06C72D-7B19-4439-BE54-2850B6C5882F}"/>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28 / 38</a:t>
            </a:r>
          </a:p>
        </p:txBody>
      </p:sp>
    </p:spTree>
    <p:extLst>
      <p:ext uri="{BB962C8B-B14F-4D97-AF65-F5344CB8AC3E}">
        <p14:creationId xmlns:p14="http://schemas.microsoft.com/office/powerpoint/2010/main" val="1296757326"/>
      </p:ext>
    </p:extLst>
  </p:cSld>
</p:sld>
</file>

<file path=ppt/slides/slide29.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E8DF54B-1B6B-46B7-B4EA-E35FD4B629DD}"/>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Astraを使いこなす</a:t>
            </a:r>
          </a:p>
        </p:txBody>
      </p:sp>
      <p:sp>
        <p:nvSpPr>
          <p:cNvPr id="2" name="">
            <a:extLst xmlns:a="http://schemas.openxmlformats.org/drawingml/2006/main">
              <a:ext uri="{FF2B5EF4-FFF2-40B4-BE49-F238E27FC236}">
                <a16:creationId xmlns:a16="http://schemas.microsoft.com/office/drawing/2014/main" id="{A217A84D-414F-4263-899F-B2D8C63E72D9}"/>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作ったら必ず見る</a:t>
            </a:r>
          </a:p>
        </p:txBody>
      </p:sp>
      <p:sp>
        <p:nvSpPr>
          <p:cNvPr id="3" name="">
            <a:extLst xmlns:a="http://schemas.openxmlformats.org/drawingml/2006/main">
              <a:ext uri="{FF2B5EF4-FFF2-40B4-BE49-F238E27FC236}">
                <a16:creationId xmlns:a16="http://schemas.microsoft.com/office/drawing/2014/main" id="{2ABA4F1E-1967-41FB-9BDF-C82B4E133DF8}"/>
              </a:ext>
            </a:extLst>
          </p:cNvPr>
          <p:cNvSpPr>
            <a:spLocks xmlns:a="http://schemas.openxmlformats.org/drawingml/2006/main" noGrp="1"/>
          </p:cNvSpPr>
          <p:nvPr/>
        </p:nvSpPr>
        <p:spPr>
          <a:xfrm xmlns:a="http://schemas.openxmlformats.org/drawingml/2006/main">
            <a:off x="723900" y="25908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0D2A43"/>
                </a:solidFill>
                <a:latin typeface="Yu Gothic"/>
                <a:ea typeface="Yu Gothic"/>
                <a:cs typeface="Yu Gothic"/>
              </a:defRPr>
            </a:pPr>
            <a:r>
              <a:rPr sz="2850" b="1">
                <a:solidFill>
                  <a:srgbClr val="0D2A43"/>
                </a:solidFill>
                <a:latin typeface="Yu Gothic"/>
                <a:ea typeface="Yu Gothic"/>
                <a:cs typeface="Yu Gothic"/>
              </a:rPr>
              <a:t>作成→確認→修正を一つの依頼に含める</a:t>
            </a:r>
          </a:p>
        </p:txBody>
      </p:sp>
      <p:sp>
        <p:nvSpPr>
          <p:cNvPr id="4" name="">
            <a:extLst xmlns:a="http://schemas.openxmlformats.org/drawingml/2006/main">
              <a:ext uri="{FF2B5EF4-FFF2-40B4-BE49-F238E27FC236}">
                <a16:creationId xmlns:a16="http://schemas.microsoft.com/office/drawing/2014/main" id="{C465B742-B384-4848-891D-B342629624E4}"/>
              </a:ext>
            </a:extLst>
          </p:cNvPr>
          <p:cNvSpPr>
            <a:spLocks xmlns:a="http://schemas.openxmlformats.org/drawingml/2006/main" noGrp="1"/>
          </p:cNvSpPr>
          <p:nvPr/>
        </p:nvSpPr>
        <p:spPr>
          <a:xfrm xmlns:a="http://schemas.openxmlformats.org/drawingml/2006/main">
            <a:off x="723900" y="3876675"/>
            <a:ext cx="3105150" cy="18764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5" name="">
            <a:extLst xmlns:a="http://schemas.openxmlformats.org/drawingml/2006/main">
              <a:ext uri="{FF2B5EF4-FFF2-40B4-BE49-F238E27FC236}">
                <a16:creationId xmlns:a16="http://schemas.microsoft.com/office/drawing/2014/main" id="{02F8C353-7A52-46E8-A86B-F4A6BFCE07DF}"/>
              </a:ext>
            </a:extLst>
          </p:cNvPr>
          <p:cNvSpPr>
            <a:spLocks xmlns:a="http://schemas.openxmlformats.org/drawingml/2006/main" noGrp="1"/>
          </p:cNvSpPr>
          <p:nvPr/>
        </p:nvSpPr>
        <p:spPr>
          <a:xfrm xmlns:a="http://schemas.openxmlformats.org/drawingml/2006/main">
            <a:off x="904875"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B5E42945-1B9F-4D14-ABBC-81248D454470}"/>
              </a:ext>
            </a:extLst>
          </p:cNvPr>
          <p:cNvSpPr>
            <a:spLocks xmlns:a="http://schemas.openxmlformats.org/drawingml/2006/main" noGrp="1"/>
          </p:cNvSpPr>
          <p:nvPr/>
        </p:nvSpPr>
        <p:spPr>
          <a:xfrm xmlns:a="http://schemas.openxmlformats.org/drawingml/2006/main">
            <a:off x="923925" y="4305300"/>
            <a:ext cx="2705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作る</a:t>
            </a:r>
          </a:p>
        </p:txBody>
      </p:sp>
      <p:sp>
        <p:nvSpPr>
          <p:cNvPr id="7" name="">
            <a:extLst xmlns:a="http://schemas.openxmlformats.org/drawingml/2006/main">
              <a:ext uri="{FF2B5EF4-FFF2-40B4-BE49-F238E27FC236}">
                <a16:creationId xmlns:a16="http://schemas.microsoft.com/office/drawing/2014/main" id="{D3DFA655-F95F-400C-AA0C-1D71C5E888AA}"/>
              </a:ext>
            </a:extLst>
          </p:cNvPr>
          <p:cNvSpPr>
            <a:spLocks xmlns:a="http://schemas.openxmlformats.org/drawingml/2006/main" noGrp="1"/>
          </p:cNvSpPr>
          <p:nvPr/>
        </p:nvSpPr>
        <p:spPr>
          <a:xfrm xmlns:a="http://schemas.openxmlformats.org/drawingml/2006/main">
            <a:off x="3924300" y="4514850"/>
            <a:ext cx="52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129"/>
          </a:bodyPr>
          <a:lstStyle xmlns:a="http://schemas.openxmlformats.org/drawingml/2006/main"/>
          <a:p xmlns:a="http://schemas.openxmlformats.org/drawingml/2006/main">
            <a:pPr>
              <a:defRPr sz="3225" b="1">
                <a:solidFill>
                  <a:srgbClr val="2A77A3"/>
                </a:solidFill>
                <a:latin typeface="Yu Gothic"/>
                <a:ea typeface="Yu Gothic"/>
                <a:cs typeface="Yu Gothic"/>
              </a:defRPr>
            </a:pPr>
            <a:r>
              <a:rPr sz="3225" b="1">
                <a:solidFill>
                  <a:srgbClr val="2A77A3"/>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A3A7E952-3342-4E95-A59F-419B7302B7F6}"/>
              </a:ext>
            </a:extLst>
          </p:cNvPr>
          <p:cNvSpPr>
            <a:spLocks xmlns:a="http://schemas.openxmlformats.org/drawingml/2006/main" noGrp="1"/>
          </p:cNvSpPr>
          <p:nvPr/>
        </p:nvSpPr>
        <p:spPr>
          <a:xfrm xmlns:a="http://schemas.openxmlformats.org/drawingml/2006/main">
            <a:off x="4448175" y="3876675"/>
            <a:ext cx="3105150" cy="18764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9" name="">
            <a:extLst xmlns:a="http://schemas.openxmlformats.org/drawingml/2006/main">
              <a:ext uri="{FF2B5EF4-FFF2-40B4-BE49-F238E27FC236}">
                <a16:creationId xmlns:a16="http://schemas.microsoft.com/office/drawing/2014/main" id="{AF8BEF5B-0FF3-45C0-AFFE-1BAB38C725E6}"/>
              </a:ext>
            </a:extLst>
          </p:cNvPr>
          <p:cNvSpPr>
            <a:spLocks xmlns:a="http://schemas.openxmlformats.org/drawingml/2006/main" noGrp="1"/>
          </p:cNvSpPr>
          <p:nvPr/>
        </p:nvSpPr>
        <p:spPr>
          <a:xfrm xmlns:a="http://schemas.openxmlformats.org/drawingml/2006/main">
            <a:off x="4629150"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02</a:t>
            </a:r>
          </a:p>
        </p:txBody>
      </p:sp>
      <p:sp>
        <p:nvSpPr>
          <p:cNvPr id="10" name="">
            <a:extLst xmlns:a="http://schemas.openxmlformats.org/drawingml/2006/main">
              <a:ext uri="{FF2B5EF4-FFF2-40B4-BE49-F238E27FC236}">
                <a16:creationId xmlns:a16="http://schemas.microsoft.com/office/drawing/2014/main" id="{9364358A-5EEE-40F2-9251-0BFC4BEFE988}"/>
              </a:ext>
            </a:extLst>
          </p:cNvPr>
          <p:cNvSpPr>
            <a:spLocks xmlns:a="http://schemas.openxmlformats.org/drawingml/2006/main" noGrp="1"/>
          </p:cNvSpPr>
          <p:nvPr/>
        </p:nvSpPr>
        <p:spPr>
          <a:xfrm xmlns:a="http://schemas.openxmlformats.org/drawingml/2006/main">
            <a:off x="4648200" y="4305300"/>
            <a:ext cx="2705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実物を見る</a:t>
            </a:r>
          </a:p>
        </p:txBody>
      </p:sp>
      <p:sp>
        <p:nvSpPr>
          <p:cNvPr id="11" name="">
            <a:extLst xmlns:a="http://schemas.openxmlformats.org/drawingml/2006/main">
              <a:ext uri="{FF2B5EF4-FFF2-40B4-BE49-F238E27FC236}">
                <a16:creationId xmlns:a16="http://schemas.microsoft.com/office/drawing/2014/main" id="{BD306FCD-9429-40DD-A294-7379C49B7B75}"/>
              </a:ext>
            </a:extLst>
          </p:cNvPr>
          <p:cNvSpPr>
            <a:spLocks xmlns:a="http://schemas.openxmlformats.org/drawingml/2006/main" noGrp="1"/>
          </p:cNvSpPr>
          <p:nvPr/>
        </p:nvSpPr>
        <p:spPr>
          <a:xfrm xmlns:a="http://schemas.openxmlformats.org/drawingml/2006/main">
            <a:off x="7648575" y="4514850"/>
            <a:ext cx="52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129"/>
          </a:bodyPr>
          <a:lstStyle xmlns:a="http://schemas.openxmlformats.org/drawingml/2006/main"/>
          <a:p xmlns:a="http://schemas.openxmlformats.org/drawingml/2006/main">
            <a:pPr>
              <a:defRPr sz="3225" b="1">
                <a:solidFill>
                  <a:srgbClr val="2A77A3"/>
                </a:solidFill>
                <a:latin typeface="Yu Gothic"/>
                <a:ea typeface="Yu Gothic"/>
                <a:cs typeface="Yu Gothic"/>
              </a:defRPr>
            </a:pPr>
            <a:r>
              <a:rPr sz="3225" b="1">
                <a:solidFill>
                  <a:srgbClr val="2A77A3"/>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FFD487A5-6B42-4DF1-AA7A-65A92F4EB44E}"/>
              </a:ext>
            </a:extLst>
          </p:cNvPr>
          <p:cNvSpPr>
            <a:spLocks xmlns:a="http://schemas.openxmlformats.org/drawingml/2006/main" noGrp="1"/>
          </p:cNvSpPr>
          <p:nvPr/>
        </p:nvSpPr>
        <p:spPr>
          <a:xfrm xmlns:a="http://schemas.openxmlformats.org/drawingml/2006/main">
            <a:off x="8172450" y="3876675"/>
            <a:ext cx="3105150" cy="1876425"/>
          </a:xfrm>
          <a:prstGeom xmlns:a="http://schemas.openxmlformats.org/drawingml/2006/main" prst="rect">
            <a:avLst/>
          </a:prstGeom>
          <a:solidFill xmlns:a="http://schemas.openxmlformats.org/drawingml/2006/main">
            <a:srgbClr val="D7EEF8"/>
          </a:solidFill>
          <a:ln xmlns:a="http://schemas.openxmlformats.org/drawingml/2006/main" w="19050">
            <a:solidFill>
              <a:srgbClr val="2A77A3"/>
            </a:solidFill>
          </a:ln>
        </p:spPr>
      </p:sp>
      <p:sp>
        <p:nvSpPr>
          <p:cNvPr id="13" name="">
            <a:extLst xmlns:a="http://schemas.openxmlformats.org/drawingml/2006/main">
              <a:ext uri="{FF2B5EF4-FFF2-40B4-BE49-F238E27FC236}">
                <a16:creationId xmlns:a16="http://schemas.microsoft.com/office/drawing/2014/main" id="{1D593F5D-9598-45D0-AB8B-3F583377AAED}"/>
              </a:ext>
            </a:extLst>
          </p:cNvPr>
          <p:cNvSpPr>
            <a:spLocks xmlns:a="http://schemas.openxmlformats.org/drawingml/2006/main" noGrp="1"/>
          </p:cNvSpPr>
          <p:nvPr/>
        </p:nvSpPr>
        <p:spPr>
          <a:xfrm xmlns:a="http://schemas.openxmlformats.org/drawingml/2006/main">
            <a:off x="8353425"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03</a:t>
            </a:r>
          </a:p>
        </p:txBody>
      </p:sp>
      <p:sp>
        <p:nvSpPr>
          <p:cNvPr id="14" name="">
            <a:extLst xmlns:a="http://schemas.openxmlformats.org/drawingml/2006/main">
              <a:ext uri="{FF2B5EF4-FFF2-40B4-BE49-F238E27FC236}">
                <a16:creationId xmlns:a16="http://schemas.microsoft.com/office/drawing/2014/main" id="{E2A859AE-67E0-4951-912A-EA8DD37AB599}"/>
              </a:ext>
            </a:extLst>
          </p:cNvPr>
          <p:cNvSpPr>
            <a:spLocks xmlns:a="http://schemas.openxmlformats.org/drawingml/2006/main" noGrp="1"/>
          </p:cNvSpPr>
          <p:nvPr/>
        </p:nvSpPr>
        <p:spPr>
          <a:xfrm xmlns:a="http://schemas.openxmlformats.org/drawingml/2006/main">
            <a:off x="8372475" y="4305300"/>
            <a:ext cx="2705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直して再確認</a:t>
            </a:r>
          </a:p>
        </p:txBody>
      </p:sp>
      <p:sp>
        <p:nvSpPr>
          <p:cNvPr id="15" name="">
            <a:extLst xmlns:a="http://schemas.openxmlformats.org/drawingml/2006/main">
              <a:ext uri="{FF2B5EF4-FFF2-40B4-BE49-F238E27FC236}">
                <a16:creationId xmlns:a16="http://schemas.microsoft.com/office/drawing/2014/main" id="{56C8B63A-77D5-4146-83C7-D2F7200C31ED}"/>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29 / 38</a:t>
            </a:r>
          </a:p>
        </p:txBody>
      </p:sp>
    </p:spTree>
    <p:extLst>
      <p:ext uri="{BB962C8B-B14F-4D97-AF65-F5344CB8AC3E}">
        <p14:creationId xmlns:p14="http://schemas.microsoft.com/office/powerpoint/2010/main" val="23890580"/>
      </p:ext>
    </p:extLst>
  </p:cSld>
</p:sld>
</file>

<file path=ppt/slides/slide30.xml><?xml version="1.0" encoding="utf-8"?>
<p:sld xmlns:p="http://schemas.openxmlformats.org/presentationml/2006/main">
  <p:cSld>
    <p:bg>
      <p:bgPr>
        <a:solidFill xmlns:a="http://schemas.openxmlformats.org/drawingml/2006/main">
          <a:srgbClr val="E1F2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C7B3B2E-38E7-49FA-A7C5-B352D7D6838D}"/>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Astraを使いこなす</a:t>
            </a:r>
          </a:p>
        </p:txBody>
      </p:sp>
      <p:sp>
        <p:nvSpPr>
          <p:cNvPr id="2" name="">
            <a:extLst xmlns:a="http://schemas.openxmlformats.org/drawingml/2006/main">
              <a:ext uri="{FF2B5EF4-FFF2-40B4-BE49-F238E27FC236}">
                <a16:creationId xmlns:a16="http://schemas.microsoft.com/office/drawing/2014/main" id="{543C0435-4969-4284-B119-DD674A0DF5B0}"/>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考える量を調整</a:t>
            </a:r>
          </a:p>
        </p:txBody>
      </p:sp>
      <p:sp>
        <p:nvSpPr>
          <p:cNvPr id="3" name="">
            <a:extLst xmlns:a="http://schemas.openxmlformats.org/drawingml/2006/main">
              <a:ext uri="{FF2B5EF4-FFF2-40B4-BE49-F238E27FC236}">
                <a16:creationId xmlns:a16="http://schemas.microsoft.com/office/drawing/2014/main" id="{6450EF05-ED55-473D-ADAD-029945466398}"/>
              </a:ext>
            </a:extLst>
          </p:cNvPr>
          <p:cNvSpPr>
            <a:spLocks xmlns:a="http://schemas.openxmlformats.org/drawingml/2006/main" noGrp="1"/>
          </p:cNvSpPr>
          <p:nvPr/>
        </p:nvSpPr>
        <p:spPr>
          <a:xfrm xmlns:a="http://schemas.openxmlformats.org/drawingml/2006/main">
            <a:off x="723900" y="2524125"/>
            <a:ext cx="10668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D2A43"/>
                </a:solidFill>
                <a:latin typeface="Yu Gothic"/>
                <a:ea typeface="Yu Gothic"/>
                <a:cs typeface="Yu Gothic"/>
              </a:defRPr>
            </a:pPr>
            <a:r>
              <a:rPr sz="3000" b="1">
                <a:solidFill>
                  <a:srgbClr val="0D2A43"/>
                </a:solidFill>
                <a:latin typeface="Yu Gothic"/>
                <a:ea typeface="Yu Gothic"/>
                <a:cs typeface="Yu Gothic"/>
              </a:rPr>
              <a:t>品質を満たす最も軽い設定を選ぶ</a:t>
            </a:r>
          </a:p>
        </p:txBody>
      </p:sp>
      <p:sp>
        <p:nvSpPr>
          <p:cNvPr id="4" name="">
            <a:extLst xmlns:a="http://schemas.openxmlformats.org/drawingml/2006/main">
              <a:ext uri="{FF2B5EF4-FFF2-40B4-BE49-F238E27FC236}">
                <a16:creationId xmlns:a16="http://schemas.microsoft.com/office/drawing/2014/main" id="{53C3545D-330C-40FA-899A-DB38DE36E97C}"/>
              </a:ext>
            </a:extLst>
          </p:cNvPr>
          <p:cNvSpPr>
            <a:spLocks xmlns:a="http://schemas.openxmlformats.org/drawingml/2006/main" noGrp="1"/>
          </p:cNvSpPr>
          <p:nvPr/>
        </p:nvSpPr>
        <p:spPr>
          <a:xfrm xmlns:a="http://schemas.openxmlformats.org/drawingml/2006/main">
            <a:off x="723900" y="4286250"/>
            <a:ext cx="3571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2A77A3"/>
                </a:solidFill>
                <a:latin typeface="Yu Gothic"/>
                <a:ea typeface="Yu Gothic"/>
                <a:cs typeface="Yu Gothic"/>
              </a:defRPr>
            </a:pPr>
            <a:r>
              <a:rPr sz="2850" b="1">
                <a:solidFill>
                  <a:srgbClr val="2A77A3"/>
                </a:solidFill>
                <a:latin typeface="Yu Gothic"/>
                <a:ea typeface="Yu Gothic"/>
                <a:cs typeface="Yu Gothic"/>
              </a:rPr>
              <a:t>low</a:t>
            </a:r>
          </a:p>
        </p:txBody>
      </p:sp>
      <p:sp>
        <p:nvSpPr>
          <p:cNvPr id="5" name="">
            <a:extLst xmlns:a="http://schemas.openxmlformats.org/drawingml/2006/main">
              <a:ext uri="{FF2B5EF4-FFF2-40B4-BE49-F238E27FC236}">
                <a16:creationId xmlns:a16="http://schemas.microsoft.com/office/drawing/2014/main" id="{78867D20-4588-4AA8-845D-A68B080A10D6}"/>
              </a:ext>
            </a:extLst>
          </p:cNvPr>
          <p:cNvSpPr>
            <a:spLocks xmlns:a="http://schemas.openxmlformats.org/drawingml/2006/main" noGrp="1"/>
          </p:cNvSpPr>
          <p:nvPr/>
        </p:nvSpPr>
        <p:spPr>
          <a:xfrm xmlns:a="http://schemas.openxmlformats.org/drawingml/2006/main">
            <a:off x="723900" y="5219700"/>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a:solidFill>
                  <a:srgbClr val="365C76"/>
                </a:solidFill>
                <a:latin typeface="Yu Gothic"/>
                <a:ea typeface="Yu Gothic"/>
                <a:cs typeface="Yu Gothic"/>
              </a:defRPr>
            </a:pPr>
            <a:r>
              <a:rPr sz="1725" b="1">
                <a:solidFill>
                  <a:srgbClr val="365C76"/>
                </a:solidFill>
                <a:latin typeface="Yu Gothic"/>
                <a:ea typeface="Yu Gothic"/>
                <a:cs typeface="Yu Gothic"/>
              </a:rPr>
              <a:t>小さな明確作業</a:t>
            </a:r>
          </a:p>
        </p:txBody>
      </p:sp>
      <p:sp>
        <p:nvSpPr>
          <p:cNvPr id="6" name="">
            <a:extLst xmlns:a="http://schemas.openxmlformats.org/drawingml/2006/main">
              <a:ext uri="{FF2B5EF4-FFF2-40B4-BE49-F238E27FC236}">
                <a16:creationId xmlns:a16="http://schemas.microsoft.com/office/drawing/2014/main" id="{0907F2AE-039B-464E-A1AD-F4A9A6E69D29}"/>
              </a:ext>
            </a:extLst>
          </p:cNvPr>
          <p:cNvSpPr>
            <a:spLocks xmlns:a="http://schemas.openxmlformats.org/drawingml/2006/main" noGrp="1"/>
          </p:cNvSpPr>
          <p:nvPr/>
        </p:nvSpPr>
        <p:spPr>
          <a:xfrm xmlns:a="http://schemas.openxmlformats.org/drawingml/2006/main">
            <a:off x="4486275" y="4286250"/>
            <a:ext cx="3571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2A77A3"/>
                </a:solidFill>
                <a:latin typeface="Yu Gothic"/>
                <a:ea typeface="Yu Gothic"/>
                <a:cs typeface="Yu Gothic"/>
              </a:defRPr>
            </a:pPr>
            <a:r>
              <a:rPr sz="2850" b="1">
                <a:solidFill>
                  <a:srgbClr val="2A77A3"/>
                </a:solidFill>
                <a:latin typeface="Yu Gothic"/>
                <a:ea typeface="Yu Gothic"/>
                <a:cs typeface="Yu Gothic"/>
              </a:rPr>
              <a:t>medium・high</a:t>
            </a:r>
          </a:p>
        </p:txBody>
      </p:sp>
      <p:sp>
        <p:nvSpPr>
          <p:cNvPr id="7" name="">
            <a:extLst xmlns:a="http://schemas.openxmlformats.org/drawingml/2006/main">
              <a:ext uri="{FF2B5EF4-FFF2-40B4-BE49-F238E27FC236}">
                <a16:creationId xmlns:a16="http://schemas.microsoft.com/office/drawing/2014/main" id="{649A5894-93E4-45D7-837B-2914CE1C39C9}"/>
              </a:ext>
            </a:extLst>
          </p:cNvPr>
          <p:cNvSpPr>
            <a:spLocks xmlns:a="http://schemas.openxmlformats.org/drawingml/2006/main" noGrp="1"/>
          </p:cNvSpPr>
          <p:nvPr/>
        </p:nvSpPr>
        <p:spPr>
          <a:xfrm xmlns:a="http://schemas.openxmlformats.org/drawingml/2006/main">
            <a:off x="4486275" y="5219700"/>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a:solidFill>
                  <a:srgbClr val="365C76"/>
                </a:solidFill>
                <a:latin typeface="Yu Gothic"/>
                <a:ea typeface="Yu Gothic"/>
                <a:cs typeface="Yu Gothic"/>
              </a:defRPr>
            </a:pPr>
            <a:r>
              <a:rPr sz="1725" b="1">
                <a:solidFill>
                  <a:srgbClr val="365C76"/>
                </a:solidFill>
                <a:latin typeface="Yu Gothic"/>
                <a:ea typeface="Yu Gothic"/>
                <a:cs typeface="Yu Gothic"/>
              </a:rPr>
              <a:t>通常〜重要</a:t>
            </a:r>
          </a:p>
        </p:txBody>
      </p:sp>
      <p:sp>
        <p:nvSpPr>
          <p:cNvPr id="8" name="">
            <a:extLst xmlns:a="http://schemas.openxmlformats.org/drawingml/2006/main">
              <a:ext uri="{FF2B5EF4-FFF2-40B4-BE49-F238E27FC236}">
                <a16:creationId xmlns:a16="http://schemas.microsoft.com/office/drawing/2014/main" id="{D473AF5D-A768-4326-B31F-0D1124AE6084}"/>
              </a:ext>
            </a:extLst>
          </p:cNvPr>
          <p:cNvSpPr>
            <a:spLocks xmlns:a="http://schemas.openxmlformats.org/drawingml/2006/main" noGrp="1"/>
          </p:cNvSpPr>
          <p:nvPr/>
        </p:nvSpPr>
        <p:spPr>
          <a:xfrm xmlns:a="http://schemas.openxmlformats.org/drawingml/2006/main">
            <a:off x="8248650" y="4286250"/>
            <a:ext cx="3571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2A77A3"/>
                </a:solidFill>
                <a:latin typeface="Yu Gothic"/>
                <a:ea typeface="Yu Gothic"/>
                <a:cs typeface="Yu Gothic"/>
              </a:defRPr>
            </a:pPr>
            <a:r>
              <a:rPr sz="2850" b="1">
                <a:solidFill>
                  <a:srgbClr val="2A77A3"/>
                </a:solidFill>
                <a:latin typeface="Yu Gothic"/>
                <a:ea typeface="Yu Gothic"/>
                <a:cs typeface="Yu Gothic"/>
              </a:rPr>
              <a:t>xhigh・max</a:t>
            </a:r>
          </a:p>
        </p:txBody>
      </p:sp>
      <p:sp>
        <p:nvSpPr>
          <p:cNvPr id="9" name="">
            <a:extLst xmlns:a="http://schemas.openxmlformats.org/drawingml/2006/main">
              <a:ext uri="{FF2B5EF4-FFF2-40B4-BE49-F238E27FC236}">
                <a16:creationId xmlns:a16="http://schemas.microsoft.com/office/drawing/2014/main" id="{CE143754-9B99-4A12-ACB8-2413AD6D03A9}"/>
              </a:ext>
            </a:extLst>
          </p:cNvPr>
          <p:cNvSpPr>
            <a:spLocks xmlns:a="http://schemas.openxmlformats.org/drawingml/2006/main" noGrp="1"/>
          </p:cNvSpPr>
          <p:nvPr/>
        </p:nvSpPr>
        <p:spPr>
          <a:xfrm xmlns:a="http://schemas.openxmlformats.org/drawingml/2006/main">
            <a:off x="8248650" y="5219700"/>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a:solidFill>
                  <a:srgbClr val="365C76"/>
                </a:solidFill>
                <a:latin typeface="Yu Gothic"/>
                <a:ea typeface="Yu Gothic"/>
                <a:cs typeface="Yu Gothic"/>
              </a:defRPr>
            </a:pPr>
            <a:r>
              <a:rPr sz="1725" b="1">
                <a:solidFill>
                  <a:srgbClr val="365C76"/>
                </a:solidFill>
                <a:latin typeface="Yu Gothic"/>
                <a:ea typeface="Yu Gothic"/>
                <a:cs typeface="Yu Gothic"/>
              </a:rPr>
              <a:t>難題</a:t>
            </a:r>
          </a:p>
        </p:txBody>
      </p:sp>
      <p:sp>
        <p:nvSpPr>
          <p:cNvPr id="10" name="">
            <a:extLst xmlns:a="http://schemas.openxmlformats.org/drawingml/2006/main">
              <a:ext uri="{FF2B5EF4-FFF2-40B4-BE49-F238E27FC236}">
                <a16:creationId xmlns:a16="http://schemas.microsoft.com/office/drawing/2014/main" id="{AE354E7A-EF44-4FD3-B0EA-B2769D7FD99B}"/>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30 / 38</a:t>
            </a:r>
          </a:p>
        </p:txBody>
      </p:sp>
    </p:spTree>
    <p:extLst>
      <p:ext uri="{BB962C8B-B14F-4D97-AF65-F5344CB8AC3E}">
        <p14:creationId xmlns:p14="http://schemas.microsoft.com/office/powerpoint/2010/main" val="1044812772"/>
      </p:ext>
    </p:extLst>
  </p:cSld>
</p:sld>
</file>

<file path=ppt/slides/slide31.xml><?xml version="1.0" encoding="utf-8"?>
<p:sld xmlns:p="http://schemas.openxmlformats.org/presentationml/2006/main">
  <p:cSld>
    <p:bg>
      <p:bgPr>
        <a:solidFill xmlns:a="http://schemas.openxmlformats.org/drawingml/2006/main">
          <a:srgbClr val="EDF7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FF23463-6AB3-4440-8605-CDD9EE473176}"/>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Astraを使いこなす</a:t>
            </a:r>
          </a:p>
        </p:txBody>
      </p:sp>
      <p:sp>
        <p:nvSpPr>
          <p:cNvPr id="2" name="">
            <a:extLst xmlns:a="http://schemas.openxmlformats.org/drawingml/2006/main">
              <a:ext uri="{FF2B5EF4-FFF2-40B4-BE49-F238E27FC236}">
                <a16:creationId xmlns:a16="http://schemas.microsoft.com/office/drawing/2014/main" id="{96A2BF5C-1E46-4AA9-95FC-A2B5C7AE36A4}"/>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モデルを役割で使う</a:t>
            </a:r>
          </a:p>
        </p:txBody>
      </p:sp>
      <p:sp>
        <p:nvSpPr>
          <p:cNvPr id="3" name="">
            <a:extLst xmlns:a="http://schemas.openxmlformats.org/drawingml/2006/main">
              <a:ext uri="{FF2B5EF4-FFF2-40B4-BE49-F238E27FC236}">
                <a16:creationId xmlns:a16="http://schemas.microsoft.com/office/drawing/2014/main" id="{D3D52885-222D-404D-9B1F-161DF6EE82A4}"/>
              </a:ext>
            </a:extLst>
          </p:cNvPr>
          <p:cNvSpPr>
            <a:spLocks xmlns:a="http://schemas.openxmlformats.org/drawingml/2006/main" noGrp="1"/>
          </p:cNvSpPr>
          <p:nvPr/>
        </p:nvSpPr>
        <p:spPr>
          <a:xfrm xmlns:a="http://schemas.openxmlformats.org/drawingml/2006/main">
            <a:off x="723900" y="25908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0D2A43"/>
                </a:solidFill>
                <a:latin typeface="Yu Gothic"/>
                <a:ea typeface="Yu Gothic"/>
                <a:cs typeface="Yu Gothic"/>
              </a:defRPr>
            </a:pPr>
            <a:r>
              <a:rPr sz="2850" b="1">
                <a:solidFill>
                  <a:srgbClr val="0D2A43"/>
                </a:solidFill>
                <a:latin typeface="Yu Gothic"/>
                <a:ea typeface="Yu Gothic"/>
                <a:cs typeface="Yu Gothic"/>
              </a:rPr>
              <a:t>設計はAstra、通常運用はSol、量はLuna</a:t>
            </a:r>
          </a:p>
        </p:txBody>
      </p:sp>
      <p:sp>
        <p:nvSpPr>
          <p:cNvPr id="4" name="">
            <a:extLst xmlns:a="http://schemas.openxmlformats.org/drawingml/2006/main">
              <a:ext uri="{FF2B5EF4-FFF2-40B4-BE49-F238E27FC236}">
                <a16:creationId xmlns:a16="http://schemas.microsoft.com/office/drawing/2014/main" id="{34BE38B4-12C4-4DA2-9F99-DE2481954F98}"/>
              </a:ext>
            </a:extLst>
          </p:cNvPr>
          <p:cNvSpPr>
            <a:spLocks xmlns:a="http://schemas.openxmlformats.org/drawingml/2006/main" noGrp="1"/>
          </p:cNvSpPr>
          <p:nvPr/>
        </p:nvSpPr>
        <p:spPr>
          <a:xfrm xmlns:a="http://schemas.openxmlformats.org/drawingml/2006/main">
            <a:off x="723900" y="3876675"/>
            <a:ext cx="3105150" cy="18764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5" name="">
            <a:extLst xmlns:a="http://schemas.openxmlformats.org/drawingml/2006/main">
              <a:ext uri="{FF2B5EF4-FFF2-40B4-BE49-F238E27FC236}">
                <a16:creationId xmlns:a16="http://schemas.microsoft.com/office/drawing/2014/main" id="{7922AA83-C366-47EE-99E9-7FE538655DED}"/>
              </a:ext>
            </a:extLst>
          </p:cNvPr>
          <p:cNvSpPr>
            <a:spLocks xmlns:a="http://schemas.openxmlformats.org/drawingml/2006/main" noGrp="1"/>
          </p:cNvSpPr>
          <p:nvPr/>
        </p:nvSpPr>
        <p:spPr>
          <a:xfrm xmlns:a="http://schemas.openxmlformats.org/drawingml/2006/main">
            <a:off x="904875"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CD003BE3-8DFD-4286-BEC1-30F2FE4CD3A8}"/>
              </a:ext>
            </a:extLst>
          </p:cNvPr>
          <p:cNvSpPr>
            <a:spLocks xmlns:a="http://schemas.openxmlformats.org/drawingml/2006/main" noGrp="1"/>
          </p:cNvSpPr>
          <p:nvPr/>
        </p:nvSpPr>
        <p:spPr>
          <a:xfrm xmlns:a="http://schemas.openxmlformats.org/drawingml/2006/main">
            <a:off x="923925" y="4429125"/>
            <a:ext cx="2705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Astra</a:t>
            </a:r>
          </a:p>
        </p:txBody>
      </p:sp>
      <p:sp>
        <p:nvSpPr>
          <p:cNvPr id="7" name="">
            <a:extLst xmlns:a="http://schemas.openxmlformats.org/drawingml/2006/main">
              <a:ext uri="{FF2B5EF4-FFF2-40B4-BE49-F238E27FC236}">
                <a16:creationId xmlns:a16="http://schemas.microsoft.com/office/drawing/2014/main" id="{8661D466-D661-4729-A1FA-CA8501A62B36}"/>
              </a:ext>
            </a:extLst>
          </p:cNvPr>
          <p:cNvSpPr>
            <a:spLocks xmlns:a="http://schemas.openxmlformats.org/drawingml/2006/main" noGrp="1"/>
          </p:cNvSpPr>
          <p:nvPr/>
        </p:nvSpPr>
        <p:spPr>
          <a:xfrm xmlns:a="http://schemas.openxmlformats.org/drawingml/2006/main">
            <a:off x="923925" y="5000625"/>
            <a:ext cx="270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365C76"/>
                </a:solidFill>
                <a:latin typeface="Yu Gothic"/>
                <a:ea typeface="Yu Gothic"/>
                <a:cs typeface="Yu Gothic"/>
              </a:defRPr>
            </a:pPr>
            <a:r>
              <a:rPr sz="1650" b="1">
                <a:solidFill>
                  <a:srgbClr val="365C76"/>
                </a:solidFill>
                <a:latin typeface="Yu Gothic"/>
                <a:ea typeface="Yu Gothic"/>
                <a:cs typeface="Yu Gothic"/>
              </a:rPr>
              <a:t>難題を設計</a:t>
            </a:r>
          </a:p>
        </p:txBody>
      </p:sp>
      <p:sp>
        <p:nvSpPr>
          <p:cNvPr id="8" name="">
            <a:extLst xmlns:a="http://schemas.openxmlformats.org/drawingml/2006/main">
              <a:ext uri="{FF2B5EF4-FFF2-40B4-BE49-F238E27FC236}">
                <a16:creationId xmlns:a16="http://schemas.microsoft.com/office/drawing/2014/main" id="{17B8339C-8543-405E-A058-8996EB1F1E2E}"/>
              </a:ext>
            </a:extLst>
          </p:cNvPr>
          <p:cNvSpPr>
            <a:spLocks xmlns:a="http://schemas.openxmlformats.org/drawingml/2006/main" noGrp="1"/>
          </p:cNvSpPr>
          <p:nvPr/>
        </p:nvSpPr>
        <p:spPr>
          <a:xfrm xmlns:a="http://schemas.openxmlformats.org/drawingml/2006/main">
            <a:off x="3924300" y="4514850"/>
            <a:ext cx="52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129"/>
          </a:bodyPr>
          <a:lstStyle xmlns:a="http://schemas.openxmlformats.org/drawingml/2006/main"/>
          <a:p xmlns:a="http://schemas.openxmlformats.org/drawingml/2006/main">
            <a:pPr>
              <a:defRPr sz="3225" b="1">
                <a:solidFill>
                  <a:srgbClr val="2A77A3"/>
                </a:solidFill>
                <a:latin typeface="Yu Gothic"/>
                <a:ea typeface="Yu Gothic"/>
                <a:cs typeface="Yu Gothic"/>
              </a:defRPr>
            </a:pPr>
            <a:r>
              <a:rPr sz="3225" b="1">
                <a:solidFill>
                  <a:srgbClr val="2A77A3"/>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09A8E725-31D6-4C99-AEE5-289E368BF9A6}"/>
              </a:ext>
            </a:extLst>
          </p:cNvPr>
          <p:cNvSpPr>
            <a:spLocks xmlns:a="http://schemas.openxmlformats.org/drawingml/2006/main" noGrp="1"/>
          </p:cNvSpPr>
          <p:nvPr/>
        </p:nvSpPr>
        <p:spPr>
          <a:xfrm xmlns:a="http://schemas.openxmlformats.org/drawingml/2006/main">
            <a:off x="4448175" y="3876675"/>
            <a:ext cx="3105150" cy="18764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10" name="">
            <a:extLst xmlns:a="http://schemas.openxmlformats.org/drawingml/2006/main">
              <a:ext uri="{FF2B5EF4-FFF2-40B4-BE49-F238E27FC236}">
                <a16:creationId xmlns:a16="http://schemas.microsoft.com/office/drawing/2014/main" id="{C2ADDCF1-C3DB-4568-BB17-463BFFDA5A84}"/>
              </a:ext>
            </a:extLst>
          </p:cNvPr>
          <p:cNvSpPr>
            <a:spLocks xmlns:a="http://schemas.openxmlformats.org/drawingml/2006/main" noGrp="1"/>
          </p:cNvSpPr>
          <p:nvPr/>
        </p:nvSpPr>
        <p:spPr>
          <a:xfrm xmlns:a="http://schemas.openxmlformats.org/drawingml/2006/main">
            <a:off x="4629150"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02</a:t>
            </a:r>
          </a:p>
        </p:txBody>
      </p:sp>
      <p:sp>
        <p:nvSpPr>
          <p:cNvPr id="11" name="">
            <a:extLst xmlns:a="http://schemas.openxmlformats.org/drawingml/2006/main">
              <a:ext uri="{FF2B5EF4-FFF2-40B4-BE49-F238E27FC236}">
                <a16:creationId xmlns:a16="http://schemas.microsoft.com/office/drawing/2014/main" id="{FBC79FBF-6ABA-4143-87F5-296AE297F5B7}"/>
              </a:ext>
            </a:extLst>
          </p:cNvPr>
          <p:cNvSpPr>
            <a:spLocks xmlns:a="http://schemas.openxmlformats.org/drawingml/2006/main" noGrp="1"/>
          </p:cNvSpPr>
          <p:nvPr/>
        </p:nvSpPr>
        <p:spPr>
          <a:xfrm xmlns:a="http://schemas.openxmlformats.org/drawingml/2006/main">
            <a:off x="4648200" y="4429125"/>
            <a:ext cx="2705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Sol</a:t>
            </a:r>
          </a:p>
        </p:txBody>
      </p:sp>
      <p:sp>
        <p:nvSpPr>
          <p:cNvPr id="12" name="">
            <a:extLst xmlns:a="http://schemas.openxmlformats.org/drawingml/2006/main">
              <a:ext uri="{FF2B5EF4-FFF2-40B4-BE49-F238E27FC236}">
                <a16:creationId xmlns:a16="http://schemas.microsoft.com/office/drawing/2014/main" id="{3A7BCCDF-7604-4498-93CD-8C85F1DB9CEE}"/>
              </a:ext>
            </a:extLst>
          </p:cNvPr>
          <p:cNvSpPr>
            <a:spLocks xmlns:a="http://schemas.openxmlformats.org/drawingml/2006/main" noGrp="1"/>
          </p:cNvSpPr>
          <p:nvPr/>
        </p:nvSpPr>
        <p:spPr>
          <a:xfrm xmlns:a="http://schemas.openxmlformats.org/drawingml/2006/main">
            <a:off x="4648200" y="5000625"/>
            <a:ext cx="270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365C76"/>
                </a:solidFill>
                <a:latin typeface="Yu Gothic"/>
                <a:ea typeface="Yu Gothic"/>
                <a:cs typeface="Yu Gothic"/>
              </a:defRPr>
            </a:pPr>
            <a:r>
              <a:rPr sz="1650" b="1">
                <a:solidFill>
                  <a:srgbClr val="365C76"/>
                </a:solidFill>
                <a:latin typeface="Yu Gothic"/>
                <a:ea typeface="Yu Gothic"/>
                <a:cs typeface="Yu Gothic"/>
              </a:rPr>
              <a:t>実務を回す</a:t>
            </a:r>
          </a:p>
        </p:txBody>
      </p:sp>
      <p:sp>
        <p:nvSpPr>
          <p:cNvPr id="13" name="">
            <a:extLst xmlns:a="http://schemas.openxmlformats.org/drawingml/2006/main">
              <a:ext uri="{FF2B5EF4-FFF2-40B4-BE49-F238E27FC236}">
                <a16:creationId xmlns:a16="http://schemas.microsoft.com/office/drawing/2014/main" id="{7665B55B-B0A7-4DD8-BE39-BDF9A9099997}"/>
              </a:ext>
            </a:extLst>
          </p:cNvPr>
          <p:cNvSpPr>
            <a:spLocks xmlns:a="http://schemas.openxmlformats.org/drawingml/2006/main" noGrp="1"/>
          </p:cNvSpPr>
          <p:nvPr/>
        </p:nvSpPr>
        <p:spPr>
          <a:xfrm xmlns:a="http://schemas.openxmlformats.org/drawingml/2006/main">
            <a:off x="7648575" y="4514850"/>
            <a:ext cx="52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129"/>
          </a:bodyPr>
          <a:lstStyle xmlns:a="http://schemas.openxmlformats.org/drawingml/2006/main"/>
          <a:p xmlns:a="http://schemas.openxmlformats.org/drawingml/2006/main">
            <a:pPr>
              <a:defRPr sz="3225" b="1">
                <a:solidFill>
                  <a:srgbClr val="2A77A3"/>
                </a:solidFill>
                <a:latin typeface="Yu Gothic"/>
                <a:ea typeface="Yu Gothic"/>
                <a:cs typeface="Yu Gothic"/>
              </a:defRPr>
            </a:pPr>
            <a:r>
              <a:rPr sz="3225" b="1">
                <a:solidFill>
                  <a:srgbClr val="2A77A3"/>
                </a:solidFill>
                <a:latin typeface="Yu Gothic"/>
                <a:ea typeface="Yu Gothic"/>
                <a:cs typeface="Yu Gothic"/>
              </a:rPr>
              <a:t>→</a:t>
            </a:r>
          </a:p>
        </p:txBody>
      </p:sp>
      <p:sp>
        <p:nvSpPr>
          <p:cNvPr id="14" name="">
            <a:extLst xmlns:a="http://schemas.openxmlformats.org/drawingml/2006/main">
              <a:ext uri="{FF2B5EF4-FFF2-40B4-BE49-F238E27FC236}">
                <a16:creationId xmlns:a16="http://schemas.microsoft.com/office/drawing/2014/main" id="{0296DD92-AFD8-49E2-A108-C2EF2F3D7475}"/>
              </a:ext>
            </a:extLst>
          </p:cNvPr>
          <p:cNvSpPr>
            <a:spLocks xmlns:a="http://schemas.openxmlformats.org/drawingml/2006/main" noGrp="1"/>
          </p:cNvSpPr>
          <p:nvPr/>
        </p:nvSpPr>
        <p:spPr>
          <a:xfrm xmlns:a="http://schemas.openxmlformats.org/drawingml/2006/main">
            <a:off x="8172450" y="3876675"/>
            <a:ext cx="3105150" cy="1876425"/>
          </a:xfrm>
          <a:prstGeom xmlns:a="http://schemas.openxmlformats.org/drawingml/2006/main" prst="rect">
            <a:avLst/>
          </a:prstGeom>
          <a:solidFill xmlns:a="http://schemas.openxmlformats.org/drawingml/2006/main">
            <a:srgbClr val="D7EEF8"/>
          </a:solidFill>
          <a:ln xmlns:a="http://schemas.openxmlformats.org/drawingml/2006/main" w="19050">
            <a:solidFill>
              <a:srgbClr val="2A77A3"/>
            </a:solidFill>
          </a:ln>
        </p:spPr>
      </p:sp>
      <p:sp>
        <p:nvSpPr>
          <p:cNvPr id="15" name="">
            <a:extLst xmlns:a="http://schemas.openxmlformats.org/drawingml/2006/main">
              <a:ext uri="{FF2B5EF4-FFF2-40B4-BE49-F238E27FC236}">
                <a16:creationId xmlns:a16="http://schemas.microsoft.com/office/drawing/2014/main" id="{8B31F8E7-F1DC-4B6F-9596-E9D9025A5B3B}"/>
              </a:ext>
            </a:extLst>
          </p:cNvPr>
          <p:cNvSpPr>
            <a:spLocks xmlns:a="http://schemas.openxmlformats.org/drawingml/2006/main" noGrp="1"/>
          </p:cNvSpPr>
          <p:nvPr/>
        </p:nvSpPr>
        <p:spPr>
          <a:xfrm xmlns:a="http://schemas.openxmlformats.org/drawingml/2006/main">
            <a:off x="8353425"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03</a:t>
            </a:r>
          </a:p>
        </p:txBody>
      </p:sp>
      <p:sp>
        <p:nvSpPr>
          <p:cNvPr id="16" name="">
            <a:extLst xmlns:a="http://schemas.openxmlformats.org/drawingml/2006/main">
              <a:ext uri="{FF2B5EF4-FFF2-40B4-BE49-F238E27FC236}">
                <a16:creationId xmlns:a16="http://schemas.microsoft.com/office/drawing/2014/main" id="{82956F38-C052-41EB-8A0E-B4E1E0678A32}"/>
              </a:ext>
            </a:extLst>
          </p:cNvPr>
          <p:cNvSpPr>
            <a:spLocks xmlns:a="http://schemas.openxmlformats.org/drawingml/2006/main" noGrp="1"/>
          </p:cNvSpPr>
          <p:nvPr/>
        </p:nvSpPr>
        <p:spPr>
          <a:xfrm xmlns:a="http://schemas.openxmlformats.org/drawingml/2006/main">
            <a:off x="8372475" y="4429125"/>
            <a:ext cx="2705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Luna</a:t>
            </a:r>
          </a:p>
        </p:txBody>
      </p:sp>
      <p:sp>
        <p:nvSpPr>
          <p:cNvPr id="17" name="">
            <a:extLst xmlns:a="http://schemas.openxmlformats.org/drawingml/2006/main">
              <a:ext uri="{FF2B5EF4-FFF2-40B4-BE49-F238E27FC236}">
                <a16:creationId xmlns:a16="http://schemas.microsoft.com/office/drawing/2014/main" id="{C9F1072E-8498-4E05-96B9-2925DF73EA64}"/>
              </a:ext>
            </a:extLst>
          </p:cNvPr>
          <p:cNvSpPr>
            <a:spLocks xmlns:a="http://schemas.openxmlformats.org/drawingml/2006/main" noGrp="1"/>
          </p:cNvSpPr>
          <p:nvPr/>
        </p:nvSpPr>
        <p:spPr>
          <a:xfrm xmlns:a="http://schemas.openxmlformats.org/drawingml/2006/main">
            <a:off x="8372475" y="5000625"/>
            <a:ext cx="270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365C76"/>
                </a:solidFill>
                <a:latin typeface="Yu Gothic"/>
                <a:ea typeface="Yu Gothic"/>
                <a:cs typeface="Yu Gothic"/>
              </a:defRPr>
            </a:pPr>
            <a:r>
              <a:rPr sz="1650" b="1">
                <a:solidFill>
                  <a:srgbClr val="365C76"/>
                </a:solidFill>
                <a:latin typeface="Yu Gothic"/>
                <a:ea typeface="Yu Gothic"/>
                <a:cs typeface="Yu Gothic"/>
              </a:rPr>
              <a:t>大量処理</a:t>
            </a:r>
          </a:p>
        </p:txBody>
      </p:sp>
      <p:sp>
        <p:nvSpPr>
          <p:cNvPr id="18" name="">
            <a:extLst xmlns:a="http://schemas.openxmlformats.org/drawingml/2006/main">
              <a:ext uri="{FF2B5EF4-FFF2-40B4-BE49-F238E27FC236}">
                <a16:creationId xmlns:a16="http://schemas.microsoft.com/office/drawing/2014/main" id="{C3E72164-186D-40DF-90D3-B62EC661B408}"/>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31 / 38</a:t>
            </a:r>
          </a:p>
        </p:txBody>
      </p:sp>
    </p:spTree>
    <p:extLst>
      <p:ext uri="{BB962C8B-B14F-4D97-AF65-F5344CB8AC3E}">
        <p14:creationId xmlns:p14="http://schemas.microsoft.com/office/powerpoint/2010/main" val="512942403"/>
      </p:ext>
    </p:extLst>
  </p:cSld>
</p:sld>
</file>

<file path=ppt/slides/slide32.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901CA0-09C9-4159-935B-ADDBF21A4F2D}"/>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Astraを使いこなす</a:t>
            </a:r>
          </a:p>
        </p:txBody>
      </p:sp>
      <p:sp>
        <p:nvSpPr>
          <p:cNvPr id="2" name="">
            <a:extLst xmlns:a="http://schemas.openxmlformats.org/drawingml/2006/main">
              <a:ext uri="{FF2B5EF4-FFF2-40B4-BE49-F238E27FC236}">
                <a16:creationId xmlns:a16="http://schemas.microsoft.com/office/drawing/2014/main" id="{3F30EC61-2D5E-47F9-A1AA-867617534017}"/>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うまくいかない時</a:t>
            </a:r>
          </a:p>
        </p:txBody>
      </p:sp>
      <p:sp>
        <p:nvSpPr>
          <p:cNvPr id="3" name="">
            <a:extLst xmlns:a="http://schemas.openxmlformats.org/drawingml/2006/main">
              <a:ext uri="{FF2B5EF4-FFF2-40B4-BE49-F238E27FC236}">
                <a16:creationId xmlns:a16="http://schemas.microsoft.com/office/drawing/2014/main" id="{F2555A0D-13D5-45F7-BDA5-14C74641A1C2}"/>
              </a:ext>
            </a:extLst>
          </p:cNvPr>
          <p:cNvSpPr>
            <a:spLocks xmlns:a="http://schemas.openxmlformats.org/drawingml/2006/main" noGrp="1"/>
          </p:cNvSpPr>
          <p:nvPr/>
        </p:nvSpPr>
        <p:spPr>
          <a:xfrm xmlns:a="http://schemas.openxmlformats.org/drawingml/2006/main">
            <a:off x="723900" y="2571750"/>
            <a:ext cx="1066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925" b="1">
                <a:solidFill>
                  <a:srgbClr val="0D2A43"/>
                </a:solidFill>
                <a:latin typeface="Yu Gothic"/>
                <a:ea typeface="Yu Gothic"/>
                <a:cs typeface="Yu Gothic"/>
              </a:defRPr>
            </a:pPr>
            <a:r>
              <a:rPr sz="2925" b="1">
                <a:solidFill>
                  <a:srgbClr val="0D2A43"/>
                </a:solidFill>
                <a:latin typeface="Yu Gothic"/>
                <a:ea typeface="Yu Gothic"/>
                <a:cs typeface="Yu Gothic"/>
              </a:rPr>
              <a:t>失敗の型に合わせて依頼を直す</a:t>
            </a:r>
          </a:p>
        </p:txBody>
      </p:sp>
      <p:sp>
        <p:nvSpPr>
          <p:cNvPr id="4" name="">
            <a:extLst xmlns:a="http://schemas.openxmlformats.org/drawingml/2006/main">
              <a:ext uri="{FF2B5EF4-FFF2-40B4-BE49-F238E27FC236}">
                <a16:creationId xmlns:a16="http://schemas.microsoft.com/office/drawing/2014/main" id="{7BD36F1C-8DE8-4A2F-985C-3A2E4E5E6690}"/>
              </a:ext>
            </a:extLst>
          </p:cNvPr>
          <p:cNvSpPr>
            <a:spLocks xmlns:a="http://schemas.openxmlformats.org/drawingml/2006/main" noGrp="1"/>
          </p:cNvSpPr>
          <p:nvPr/>
        </p:nvSpPr>
        <p:spPr>
          <a:xfrm xmlns:a="http://schemas.openxmlformats.org/drawingml/2006/main">
            <a:off x="723900" y="42862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93"/>
          </a:bodyPr>
          <a:lstStyle xmlns:a="http://schemas.openxmlformats.org/drawingml/2006/main"/>
          <a:p xmlns:a="http://schemas.openxmlformats.org/drawingml/2006/main">
            <a:pPr>
              <a:defRPr sz="1650" b="1">
                <a:solidFill>
                  <a:srgbClr val="2A77A3"/>
                </a:solidFill>
                <a:latin typeface="Yu Gothic"/>
                <a:ea typeface="Yu Gothic"/>
                <a:cs typeface="Yu Gothic"/>
              </a:defRPr>
            </a:pPr>
            <a:r>
              <a:rPr sz="1650" b="1">
                <a:solidFill>
                  <a:srgbClr val="2A77A3"/>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BCFBBB3F-8402-47AF-8E17-14B6B8CFC98E}"/>
              </a:ext>
            </a:extLst>
          </p:cNvPr>
          <p:cNvSpPr>
            <a:spLocks xmlns:a="http://schemas.openxmlformats.org/drawingml/2006/main" noGrp="1"/>
          </p:cNvSpPr>
          <p:nvPr/>
        </p:nvSpPr>
        <p:spPr>
          <a:xfrm xmlns:a="http://schemas.openxmlformats.org/drawingml/2006/main">
            <a:off x="1200150" y="42576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止まる→権限を明確に</a:t>
            </a:r>
          </a:p>
        </p:txBody>
      </p:sp>
      <p:sp>
        <p:nvSpPr>
          <p:cNvPr id="6" name="">
            <a:extLst xmlns:a="http://schemas.openxmlformats.org/drawingml/2006/main">
              <a:ext uri="{FF2B5EF4-FFF2-40B4-BE49-F238E27FC236}">
                <a16:creationId xmlns:a16="http://schemas.microsoft.com/office/drawing/2014/main" id="{280A56CD-3D11-4134-8F3A-DBBA4D7D949A}"/>
              </a:ext>
            </a:extLst>
          </p:cNvPr>
          <p:cNvSpPr>
            <a:spLocks xmlns:a="http://schemas.openxmlformats.org/drawingml/2006/main" noGrp="1"/>
          </p:cNvSpPr>
          <p:nvPr/>
        </p:nvSpPr>
        <p:spPr>
          <a:xfrm xmlns:a="http://schemas.openxmlformats.org/drawingml/2006/main">
            <a:off x="6200775" y="42862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93"/>
          </a:bodyPr>
          <a:lstStyle xmlns:a="http://schemas.openxmlformats.org/drawingml/2006/main"/>
          <a:p xmlns:a="http://schemas.openxmlformats.org/drawingml/2006/main">
            <a:pPr>
              <a:defRPr sz="1650" b="1">
                <a:solidFill>
                  <a:srgbClr val="2A77A3"/>
                </a:solidFill>
                <a:latin typeface="Yu Gothic"/>
                <a:ea typeface="Yu Gothic"/>
                <a:cs typeface="Yu Gothic"/>
              </a:defRPr>
            </a:pPr>
            <a:r>
              <a:rPr sz="1650" b="1">
                <a:solidFill>
                  <a:srgbClr val="2A77A3"/>
                </a:solidFill>
                <a:latin typeface="Yu Gothic"/>
                <a:ea typeface="Yu Gothic"/>
                <a:cs typeface="Yu Gothic"/>
              </a:rPr>
              <a:t>02</a:t>
            </a:r>
          </a:p>
        </p:txBody>
      </p:sp>
      <p:sp>
        <p:nvSpPr>
          <p:cNvPr id="7" name="">
            <a:extLst xmlns:a="http://schemas.openxmlformats.org/drawingml/2006/main">
              <a:ext uri="{FF2B5EF4-FFF2-40B4-BE49-F238E27FC236}">
                <a16:creationId xmlns:a16="http://schemas.microsoft.com/office/drawing/2014/main" id="{181ED16C-671B-4D94-BD6A-241F84306FA3}"/>
              </a:ext>
            </a:extLst>
          </p:cNvPr>
          <p:cNvSpPr>
            <a:spLocks xmlns:a="http://schemas.openxmlformats.org/drawingml/2006/main" noGrp="1"/>
          </p:cNvSpPr>
          <p:nvPr/>
        </p:nvSpPr>
        <p:spPr>
          <a:xfrm xmlns:a="http://schemas.openxmlformats.org/drawingml/2006/main">
            <a:off x="6677025" y="42576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広がる→対象外を明確に</a:t>
            </a:r>
          </a:p>
        </p:txBody>
      </p:sp>
      <p:sp>
        <p:nvSpPr>
          <p:cNvPr id="8" name="">
            <a:extLst xmlns:a="http://schemas.openxmlformats.org/drawingml/2006/main">
              <a:ext uri="{FF2B5EF4-FFF2-40B4-BE49-F238E27FC236}">
                <a16:creationId xmlns:a16="http://schemas.microsoft.com/office/drawing/2014/main" id="{DEE0C834-EDF2-4F04-8411-4429A29B07C9}"/>
              </a:ext>
            </a:extLst>
          </p:cNvPr>
          <p:cNvSpPr>
            <a:spLocks xmlns:a="http://schemas.openxmlformats.org/drawingml/2006/main" noGrp="1"/>
          </p:cNvSpPr>
          <p:nvPr/>
        </p:nvSpPr>
        <p:spPr>
          <a:xfrm xmlns:a="http://schemas.openxmlformats.org/drawingml/2006/main">
            <a:off x="723900" y="533400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93"/>
          </a:bodyPr>
          <a:lstStyle xmlns:a="http://schemas.openxmlformats.org/drawingml/2006/main"/>
          <a:p xmlns:a="http://schemas.openxmlformats.org/drawingml/2006/main">
            <a:pPr>
              <a:defRPr sz="1650" b="1">
                <a:solidFill>
                  <a:srgbClr val="2A77A3"/>
                </a:solidFill>
                <a:latin typeface="Yu Gothic"/>
                <a:ea typeface="Yu Gothic"/>
                <a:cs typeface="Yu Gothic"/>
              </a:defRPr>
            </a:pPr>
            <a:r>
              <a:rPr sz="1650" b="1">
                <a:solidFill>
                  <a:srgbClr val="2A77A3"/>
                </a:solidFill>
                <a:latin typeface="Yu Gothic"/>
                <a:ea typeface="Yu Gothic"/>
                <a:cs typeface="Yu Gothic"/>
              </a:rPr>
              <a:t>03</a:t>
            </a:r>
          </a:p>
        </p:txBody>
      </p:sp>
      <p:sp>
        <p:nvSpPr>
          <p:cNvPr id="9" name="">
            <a:extLst xmlns:a="http://schemas.openxmlformats.org/drawingml/2006/main">
              <a:ext uri="{FF2B5EF4-FFF2-40B4-BE49-F238E27FC236}">
                <a16:creationId xmlns:a16="http://schemas.microsoft.com/office/drawing/2014/main" id="{B998E54C-152E-426F-B9A1-7FEE7E8402F7}"/>
              </a:ext>
            </a:extLst>
          </p:cNvPr>
          <p:cNvSpPr>
            <a:spLocks xmlns:a="http://schemas.openxmlformats.org/drawingml/2006/main" noGrp="1"/>
          </p:cNvSpPr>
          <p:nvPr/>
        </p:nvSpPr>
        <p:spPr>
          <a:xfrm xmlns:a="http://schemas.openxmlformats.org/drawingml/2006/main">
            <a:off x="1200150" y="53054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D2A43"/>
                </a:solidFill>
                <a:latin typeface="Yu Gothic"/>
                <a:ea typeface="Yu Gothic"/>
                <a:cs typeface="Yu Gothic"/>
              </a:defRPr>
            </a:pPr>
            <a:r>
              <a:rPr sz="2250" b="1">
                <a:solidFill>
                  <a:srgbClr val="0D2A43"/>
                </a:solidFill>
                <a:latin typeface="Yu Gothic"/>
                <a:ea typeface="Yu Gothic"/>
                <a:cs typeface="Yu Gothic"/>
              </a:rPr>
              <a:t>浅い→検証と出典を指定</a:t>
            </a:r>
          </a:p>
        </p:txBody>
      </p:sp>
      <p:sp>
        <p:nvSpPr>
          <p:cNvPr id="10" name="">
            <a:extLst xmlns:a="http://schemas.openxmlformats.org/drawingml/2006/main">
              <a:ext uri="{FF2B5EF4-FFF2-40B4-BE49-F238E27FC236}">
                <a16:creationId xmlns:a16="http://schemas.microsoft.com/office/drawing/2014/main" id="{4DA4447E-5612-4CFA-9C14-F4F0D77257C8}"/>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32 / 38</a:t>
            </a:r>
          </a:p>
        </p:txBody>
      </p:sp>
    </p:spTree>
    <p:extLst>
      <p:ext uri="{BB962C8B-B14F-4D97-AF65-F5344CB8AC3E}">
        <p14:creationId xmlns:p14="http://schemas.microsoft.com/office/powerpoint/2010/main" val="1467647726"/>
      </p:ext>
    </p:extLst>
  </p:cSld>
</p:sld>
</file>

<file path=ppt/slides/slide33.xml><?xml version="1.0" encoding="utf-8"?>
<p:sld xmlns:p="http://schemas.openxmlformats.org/presentationml/2006/main">
  <p:cSld>
    <p:bg>
      <p:bgPr>
        <a:solidFill xmlns:a="http://schemas.openxmlformats.org/drawingml/2006/main">
          <a:srgbClr val="E1F2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CEB6E5-FA68-432F-8423-ABACEC28E12C}"/>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Fable 5.1との比較</a:t>
            </a:r>
          </a:p>
        </p:txBody>
      </p:sp>
      <p:sp>
        <p:nvSpPr>
          <p:cNvPr id="2" name="">
            <a:extLst xmlns:a="http://schemas.openxmlformats.org/drawingml/2006/main">
              <a:ext uri="{FF2B5EF4-FFF2-40B4-BE49-F238E27FC236}">
                <a16:creationId xmlns:a16="http://schemas.microsoft.com/office/drawing/2014/main" id="{FA7DC9CC-DB7C-4006-BA23-4AEE819D188A}"/>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Claude Fable 5.1</a:t>
            </a:r>
          </a:p>
        </p:txBody>
      </p:sp>
      <p:sp>
        <p:nvSpPr>
          <p:cNvPr id="3" name="">
            <a:extLst xmlns:a="http://schemas.openxmlformats.org/drawingml/2006/main">
              <a:ext uri="{FF2B5EF4-FFF2-40B4-BE49-F238E27FC236}">
                <a16:creationId xmlns:a16="http://schemas.microsoft.com/office/drawing/2014/main" id="{2A069322-959B-40E9-A7B0-C39E07675BD4}"/>
              </a:ext>
            </a:extLst>
          </p:cNvPr>
          <p:cNvSpPr>
            <a:spLocks xmlns:a="http://schemas.openxmlformats.org/drawingml/2006/main" noGrp="1"/>
          </p:cNvSpPr>
          <p:nvPr/>
        </p:nvSpPr>
        <p:spPr>
          <a:xfrm xmlns:a="http://schemas.openxmlformats.org/drawingml/2006/main">
            <a:off x="723900" y="2905125"/>
            <a:ext cx="5619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450" b="1">
                <a:solidFill>
                  <a:srgbClr val="0D2A43"/>
                </a:solidFill>
                <a:latin typeface="Yu Gothic"/>
                <a:ea typeface="Yu Gothic"/>
                <a:cs typeface="Yu Gothic"/>
              </a:defRPr>
            </a:pPr>
            <a:r>
              <a:rPr sz="3450" b="1">
                <a:solidFill>
                  <a:srgbClr val="0D2A43"/>
                </a:solidFill>
                <a:latin typeface="Yu Gothic"/>
                <a:ea typeface="Yu Gothic"/>
                <a:cs typeface="Yu Gothic"/>
              </a:rPr>
              <a:t>Claude系の長期難題向け最上位モデル</a:t>
            </a:r>
          </a:p>
        </p:txBody>
      </p:sp>
      <p:sp>
        <p:nvSpPr>
          <p:cNvPr id="4" name="">
            <a:extLst xmlns:a="http://schemas.openxmlformats.org/drawingml/2006/main">
              <a:ext uri="{FF2B5EF4-FFF2-40B4-BE49-F238E27FC236}">
                <a16:creationId xmlns:a16="http://schemas.microsoft.com/office/drawing/2014/main" id="{0927A799-033C-4265-B47C-5673916BC2FA}"/>
              </a:ext>
            </a:extLst>
          </p:cNvPr>
          <p:cNvSpPr>
            <a:spLocks xmlns:a="http://schemas.openxmlformats.org/drawingml/2006/main" noGrp="1"/>
          </p:cNvSpPr>
          <p:nvPr/>
        </p:nvSpPr>
        <p:spPr>
          <a:xfrm xmlns:a="http://schemas.openxmlformats.org/drawingml/2006/main">
            <a:off x="7000875" y="301942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365C76"/>
                </a:solidFill>
                <a:latin typeface="Yu Gothic"/>
                <a:ea typeface="Yu Gothic"/>
                <a:cs typeface="Yu Gothic"/>
              </a:defRPr>
            </a:pPr>
            <a:r>
              <a:rPr sz="2175" b="1">
                <a:solidFill>
                  <a:srgbClr val="365C76"/>
                </a:solidFill>
                <a:latin typeface="Yu Gothic"/>
                <a:ea typeface="Yu Gothic"/>
                <a:cs typeface="Yu Gothic"/>
              </a:rPr>
              <a:t>長期のコード作業</a:t>
            </a:r>
          </a:p>
        </p:txBody>
      </p:sp>
      <p:sp>
        <p:nvSpPr>
          <p:cNvPr id="5" name="">
            <a:extLst xmlns:a="http://schemas.openxmlformats.org/drawingml/2006/main">
              <a:ext uri="{FF2B5EF4-FFF2-40B4-BE49-F238E27FC236}">
                <a16:creationId xmlns:a16="http://schemas.microsoft.com/office/drawing/2014/main" id="{F2A6750A-0912-4CFD-A482-25B5B87B9EBE}"/>
              </a:ext>
            </a:extLst>
          </p:cNvPr>
          <p:cNvSpPr>
            <a:spLocks xmlns:a="http://schemas.openxmlformats.org/drawingml/2006/main" noGrp="1"/>
          </p:cNvSpPr>
          <p:nvPr/>
        </p:nvSpPr>
        <p:spPr>
          <a:xfrm xmlns:a="http://schemas.openxmlformats.org/drawingml/2006/main">
            <a:off x="7000875" y="383857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365C76"/>
                </a:solidFill>
                <a:latin typeface="Yu Gothic"/>
                <a:ea typeface="Yu Gothic"/>
                <a:cs typeface="Yu Gothic"/>
              </a:defRPr>
            </a:pPr>
            <a:r>
              <a:rPr sz="2175" b="1">
                <a:solidFill>
                  <a:srgbClr val="365C76"/>
                </a:solidFill>
                <a:latin typeface="Yu Gothic"/>
                <a:ea typeface="Yu Gothic"/>
                <a:cs typeface="Yu Gothic"/>
              </a:rPr>
              <a:t>深い調査</a:t>
            </a:r>
          </a:p>
        </p:txBody>
      </p:sp>
      <p:sp>
        <p:nvSpPr>
          <p:cNvPr id="6" name="">
            <a:extLst xmlns:a="http://schemas.openxmlformats.org/drawingml/2006/main">
              <a:ext uri="{FF2B5EF4-FFF2-40B4-BE49-F238E27FC236}">
                <a16:creationId xmlns:a16="http://schemas.microsoft.com/office/drawing/2014/main" id="{E2BAFF24-9227-4D9A-8693-2D76548A6E44}"/>
              </a:ext>
            </a:extLst>
          </p:cNvPr>
          <p:cNvSpPr>
            <a:spLocks xmlns:a="http://schemas.openxmlformats.org/drawingml/2006/main" noGrp="1"/>
          </p:cNvSpPr>
          <p:nvPr/>
        </p:nvSpPr>
        <p:spPr>
          <a:xfrm xmlns:a="http://schemas.openxmlformats.org/drawingml/2006/main">
            <a:off x="7000875" y="465772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365C76"/>
                </a:solidFill>
                <a:latin typeface="Yu Gothic"/>
                <a:ea typeface="Yu Gothic"/>
                <a:cs typeface="Yu Gothic"/>
              </a:defRPr>
            </a:pPr>
            <a:r>
              <a:rPr sz="2175" b="1">
                <a:solidFill>
                  <a:srgbClr val="365C76"/>
                </a:solidFill>
                <a:latin typeface="Yu Gothic"/>
                <a:ea typeface="Yu Gothic"/>
                <a:cs typeface="Yu Gothic"/>
              </a:rPr>
              <a:t>複数日にわたる仕事</a:t>
            </a:r>
          </a:p>
        </p:txBody>
      </p:sp>
      <p:sp>
        <p:nvSpPr>
          <p:cNvPr id="7" name="">
            <a:extLst xmlns:a="http://schemas.openxmlformats.org/drawingml/2006/main">
              <a:ext uri="{FF2B5EF4-FFF2-40B4-BE49-F238E27FC236}">
                <a16:creationId xmlns:a16="http://schemas.microsoft.com/office/drawing/2014/main" id="{79BC1749-0F0A-415A-A26F-9E79F5625706}"/>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33 / 38</a:t>
            </a:r>
          </a:p>
        </p:txBody>
      </p:sp>
    </p:spTree>
    <p:extLst>
      <p:ext uri="{BB962C8B-B14F-4D97-AF65-F5344CB8AC3E}">
        <p14:creationId xmlns:p14="http://schemas.microsoft.com/office/powerpoint/2010/main" val="2111832935"/>
      </p:ext>
    </p:extLst>
  </p:cSld>
</p:sld>
</file>

<file path=ppt/slides/slide34.xml><?xml version="1.0" encoding="utf-8"?>
<p:sld xmlns:p="http://schemas.openxmlformats.org/presentationml/2006/main">
  <p:cSld>
    <p:bg>
      <p:bgPr>
        <a:solidFill xmlns:a="http://schemas.openxmlformats.org/drawingml/2006/main">
          <a:srgbClr val="EDF7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F3806B-25F6-43BE-8F83-FEC69E527550}"/>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Fable 5.1との比較</a:t>
            </a:r>
          </a:p>
        </p:txBody>
      </p:sp>
      <p:sp>
        <p:nvSpPr>
          <p:cNvPr id="2" name="">
            <a:extLst xmlns:a="http://schemas.openxmlformats.org/drawingml/2006/main">
              <a:ext uri="{FF2B5EF4-FFF2-40B4-BE49-F238E27FC236}">
                <a16:creationId xmlns:a16="http://schemas.microsoft.com/office/drawing/2014/main" id="{B2B91B4B-AC1D-4A2E-9CF6-3A8FD88482FA}"/>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基本数字は近い</a:t>
            </a:r>
          </a:p>
        </p:txBody>
      </p:sp>
      <p:sp>
        <p:nvSpPr>
          <p:cNvPr id="3" name="">
            <a:extLst xmlns:a="http://schemas.openxmlformats.org/drawingml/2006/main">
              <a:ext uri="{FF2B5EF4-FFF2-40B4-BE49-F238E27FC236}">
                <a16:creationId xmlns:a16="http://schemas.microsoft.com/office/drawing/2014/main" id="{0B9BBF4E-EA29-414A-8A10-8722B3595AB8}"/>
              </a:ext>
            </a:extLst>
          </p:cNvPr>
          <p:cNvSpPr>
            <a:spLocks xmlns:a="http://schemas.openxmlformats.org/drawingml/2006/main" noGrp="1"/>
          </p:cNvSpPr>
          <p:nvPr/>
        </p:nvSpPr>
        <p:spPr>
          <a:xfrm xmlns:a="http://schemas.openxmlformats.org/drawingml/2006/main">
            <a:off x="723900" y="2571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925" b="1">
                <a:solidFill>
                  <a:srgbClr val="0D2A43"/>
                </a:solidFill>
                <a:latin typeface="Yu Gothic"/>
                <a:ea typeface="Yu Gothic"/>
                <a:cs typeface="Yu Gothic"/>
              </a:defRPr>
            </a:pPr>
            <a:r>
              <a:rPr sz="2925" b="1">
                <a:solidFill>
                  <a:srgbClr val="0D2A43"/>
                </a:solidFill>
                <a:latin typeface="Yu Gothic"/>
                <a:ea typeface="Yu Gothic"/>
                <a:cs typeface="Yu Gothic"/>
              </a:rPr>
              <a:t>見出し料金と最大出力は同じ</a:t>
            </a:r>
          </a:p>
        </p:txBody>
      </p:sp>
      <p:sp>
        <p:nvSpPr>
          <p:cNvPr id="4" name="">
            <a:extLst xmlns:a="http://schemas.openxmlformats.org/drawingml/2006/main">
              <a:ext uri="{FF2B5EF4-FFF2-40B4-BE49-F238E27FC236}">
                <a16:creationId xmlns:a16="http://schemas.microsoft.com/office/drawing/2014/main" id="{EF073D6C-9231-4260-B37A-A22CA4453782}"/>
              </a:ext>
            </a:extLst>
          </p:cNvPr>
          <p:cNvSpPr>
            <a:spLocks xmlns:a="http://schemas.openxmlformats.org/drawingml/2006/main" noGrp="1"/>
          </p:cNvSpPr>
          <p:nvPr/>
        </p:nvSpPr>
        <p:spPr>
          <a:xfrm xmlns:a="http://schemas.openxmlformats.org/drawingml/2006/main">
            <a:off x="723900" y="4000500"/>
            <a:ext cx="4953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2A77A3"/>
                </a:solidFill>
                <a:latin typeface="Yu Gothic"/>
                <a:ea typeface="Yu Gothic"/>
                <a:cs typeface="Yu Gothic"/>
              </a:defRPr>
            </a:pPr>
            <a:r>
              <a:rPr sz="2700" b="1">
                <a:solidFill>
                  <a:srgbClr val="2A77A3"/>
                </a:solidFill>
                <a:latin typeface="Yu Gothic"/>
                <a:ea typeface="Yu Gothic"/>
                <a:cs typeface="Yu Gothic"/>
              </a:rPr>
              <a:t>GPT-6 Astra</a:t>
            </a:r>
          </a:p>
        </p:txBody>
      </p:sp>
      <p:sp>
        <p:nvSpPr>
          <p:cNvPr id="5" name="">
            <a:extLst xmlns:a="http://schemas.openxmlformats.org/drawingml/2006/main">
              <a:ext uri="{FF2B5EF4-FFF2-40B4-BE49-F238E27FC236}">
                <a16:creationId xmlns:a16="http://schemas.microsoft.com/office/drawing/2014/main" id="{829D8D19-227D-46BF-88FD-E97EFA9EF06D}"/>
              </a:ext>
            </a:extLst>
          </p:cNvPr>
          <p:cNvSpPr>
            <a:spLocks xmlns:a="http://schemas.openxmlformats.org/drawingml/2006/main" noGrp="1"/>
          </p:cNvSpPr>
          <p:nvPr/>
        </p:nvSpPr>
        <p:spPr>
          <a:xfrm xmlns:a="http://schemas.openxmlformats.org/drawingml/2006/main">
            <a:off x="6324600" y="4000500"/>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2A77A3"/>
                </a:solidFill>
                <a:latin typeface="Yu Gothic"/>
                <a:ea typeface="Yu Gothic"/>
                <a:cs typeface="Yu Gothic"/>
              </a:defRPr>
            </a:pPr>
            <a:r>
              <a:rPr sz="2700" b="1">
                <a:solidFill>
                  <a:srgbClr val="2A77A3"/>
                </a:solidFill>
                <a:latin typeface="Yu Gothic"/>
                <a:ea typeface="Yu Gothic"/>
                <a:cs typeface="Yu Gothic"/>
              </a:rPr>
              <a:t>Claude Fable 5.1</a:t>
            </a:r>
          </a:p>
        </p:txBody>
      </p:sp>
      <p:sp>
        <p:nvSpPr>
          <p:cNvPr id="6" name="">
            <a:extLst xmlns:a="http://schemas.openxmlformats.org/drawingml/2006/main">
              <a:ext uri="{FF2B5EF4-FFF2-40B4-BE49-F238E27FC236}">
                <a16:creationId xmlns:a16="http://schemas.microsoft.com/office/drawing/2014/main" id="{85406218-3C67-47AC-8B30-5066410C426F}"/>
              </a:ext>
            </a:extLst>
          </p:cNvPr>
          <p:cNvSpPr>
            <a:spLocks xmlns:a="http://schemas.openxmlformats.org/drawingml/2006/main" noGrp="1"/>
          </p:cNvSpPr>
          <p:nvPr/>
        </p:nvSpPr>
        <p:spPr>
          <a:xfrm xmlns:a="http://schemas.openxmlformats.org/drawingml/2006/main">
            <a:off x="723900" y="4762500"/>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105万トークン / 最大出力12.8万</a:t>
            </a:r>
          </a:p>
        </p:txBody>
      </p:sp>
      <p:sp>
        <p:nvSpPr>
          <p:cNvPr id="7" name="">
            <a:extLst xmlns:a="http://schemas.openxmlformats.org/drawingml/2006/main">
              <a:ext uri="{FF2B5EF4-FFF2-40B4-BE49-F238E27FC236}">
                <a16:creationId xmlns:a16="http://schemas.microsoft.com/office/drawing/2014/main" id="{8E413C21-3206-402F-A027-D684F147BFAB}"/>
              </a:ext>
            </a:extLst>
          </p:cNvPr>
          <p:cNvSpPr>
            <a:spLocks xmlns:a="http://schemas.openxmlformats.org/drawingml/2006/main" noGrp="1"/>
          </p:cNvSpPr>
          <p:nvPr/>
        </p:nvSpPr>
        <p:spPr>
          <a:xfrm xmlns:a="http://schemas.openxmlformats.org/drawingml/2006/main">
            <a:off x="6324600" y="476250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100万トークン / 最大出力12.8万</a:t>
            </a:r>
          </a:p>
        </p:txBody>
      </p:sp>
      <p:sp>
        <p:nvSpPr>
          <p:cNvPr id="8" name="">
            <a:extLst xmlns:a="http://schemas.openxmlformats.org/drawingml/2006/main">
              <a:ext uri="{FF2B5EF4-FFF2-40B4-BE49-F238E27FC236}">
                <a16:creationId xmlns:a16="http://schemas.microsoft.com/office/drawing/2014/main" id="{8C0FD746-6DC4-437E-91B9-B2B847768B61}"/>
              </a:ext>
            </a:extLst>
          </p:cNvPr>
          <p:cNvSpPr>
            <a:spLocks xmlns:a="http://schemas.openxmlformats.org/drawingml/2006/main" noGrp="1"/>
          </p:cNvSpPr>
          <p:nvPr/>
        </p:nvSpPr>
        <p:spPr>
          <a:xfrm xmlns:a="http://schemas.openxmlformats.org/drawingml/2006/main">
            <a:off x="723900" y="60388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365C76"/>
                </a:solidFill>
                <a:latin typeface="Yu Gothic"/>
                <a:ea typeface="Yu Gothic"/>
                <a:cs typeface="Yu Gothic"/>
              </a:defRPr>
            </a:pPr>
            <a:r>
              <a:rPr sz="1650" b="1">
                <a:solidFill>
                  <a:srgbClr val="365C76"/>
                </a:solidFill>
                <a:latin typeface="Yu Gothic"/>
                <a:ea typeface="Yu Gothic"/>
                <a:cs typeface="Yu Gothic"/>
              </a:rPr>
              <a:t>API基本単価：両者とも入力 $10 / 出力 $50（100万トークン当たり）</a:t>
            </a:r>
          </a:p>
        </p:txBody>
      </p:sp>
      <p:sp>
        <p:nvSpPr>
          <p:cNvPr id="9" name="">
            <a:extLst xmlns:a="http://schemas.openxmlformats.org/drawingml/2006/main">
              <a:ext uri="{FF2B5EF4-FFF2-40B4-BE49-F238E27FC236}">
                <a16:creationId xmlns:a16="http://schemas.microsoft.com/office/drawing/2014/main" id="{0DDB3D30-D7B0-4B0B-BEE1-82EDD9A0CFFD}"/>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34 / 38</a:t>
            </a:r>
          </a:p>
        </p:txBody>
      </p:sp>
    </p:spTree>
    <p:extLst>
      <p:ext uri="{BB962C8B-B14F-4D97-AF65-F5344CB8AC3E}">
        <p14:creationId xmlns:p14="http://schemas.microsoft.com/office/powerpoint/2010/main" val="1499242982"/>
      </p:ext>
    </p:extLst>
  </p:cSld>
</p:sld>
</file>

<file path=ppt/slides/slide35.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0F6E950-3296-41E3-BEDC-545572D02DB7}"/>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Fable 5.1との比較</a:t>
            </a:r>
          </a:p>
        </p:txBody>
      </p:sp>
      <p:sp>
        <p:nvSpPr>
          <p:cNvPr id="2" name="">
            <a:extLst xmlns:a="http://schemas.openxmlformats.org/drawingml/2006/main">
              <a:ext uri="{FF2B5EF4-FFF2-40B4-BE49-F238E27FC236}">
                <a16:creationId xmlns:a16="http://schemas.microsoft.com/office/drawing/2014/main" id="{60CFB597-4B75-4349-8F36-B8FBF059F266}"/>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違いは働かせ方</a:t>
            </a:r>
          </a:p>
        </p:txBody>
      </p:sp>
      <p:sp>
        <p:nvSpPr>
          <p:cNvPr id="3" name="">
            <a:extLst xmlns:a="http://schemas.openxmlformats.org/drawingml/2006/main">
              <a:ext uri="{FF2B5EF4-FFF2-40B4-BE49-F238E27FC236}">
                <a16:creationId xmlns:a16="http://schemas.microsoft.com/office/drawing/2014/main" id="{3AACDA48-0654-4361-996B-8BF33A13DC9C}"/>
              </a:ext>
            </a:extLst>
          </p:cNvPr>
          <p:cNvSpPr>
            <a:spLocks xmlns:a="http://schemas.openxmlformats.org/drawingml/2006/main" noGrp="1"/>
          </p:cNvSpPr>
          <p:nvPr/>
        </p:nvSpPr>
        <p:spPr>
          <a:xfrm xmlns:a="http://schemas.openxmlformats.org/drawingml/2006/main">
            <a:off x="723900" y="2571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925" b="1">
                <a:solidFill>
                  <a:srgbClr val="0D2A43"/>
                </a:solidFill>
                <a:latin typeface="Yu Gothic"/>
                <a:ea typeface="Yu Gothic"/>
                <a:cs typeface="Yu Gothic"/>
              </a:defRPr>
            </a:pPr>
            <a:r>
              <a:rPr sz="2925" b="1">
                <a:solidFill>
                  <a:srgbClr val="0D2A43"/>
                </a:solidFill>
                <a:latin typeface="Yu Gothic"/>
                <a:ea typeface="Yu Gothic"/>
                <a:cs typeface="Yu Gothic"/>
              </a:rPr>
              <a:t>使う環境と仕事の長さで選ぶ</a:t>
            </a:r>
          </a:p>
        </p:txBody>
      </p:sp>
      <p:sp>
        <p:nvSpPr>
          <p:cNvPr id="4" name="">
            <a:extLst xmlns:a="http://schemas.openxmlformats.org/drawingml/2006/main">
              <a:ext uri="{FF2B5EF4-FFF2-40B4-BE49-F238E27FC236}">
                <a16:creationId xmlns:a16="http://schemas.microsoft.com/office/drawing/2014/main" id="{47FCDFB1-C53A-47A1-ADD8-01457979B676}"/>
              </a:ext>
            </a:extLst>
          </p:cNvPr>
          <p:cNvSpPr>
            <a:spLocks xmlns:a="http://schemas.openxmlformats.org/drawingml/2006/main" noGrp="1"/>
          </p:cNvSpPr>
          <p:nvPr/>
        </p:nvSpPr>
        <p:spPr>
          <a:xfrm xmlns:a="http://schemas.openxmlformats.org/drawingml/2006/main">
            <a:off x="723900" y="4000500"/>
            <a:ext cx="4953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2A77A3"/>
                </a:solidFill>
                <a:latin typeface="Yu Gothic"/>
                <a:ea typeface="Yu Gothic"/>
                <a:cs typeface="Yu Gothic"/>
              </a:defRPr>
            </a:pPr>
            <a:r>
              <a:rPr sz="2700" b="1">
                <a:solidFill>
                  <a:srgbClr val="2A77A3"/>
                </a:solidFill>
                <a:latin typeface="Yu Gothic"/>
                <a:ea typeface="Yu Gothic"/>
                <a:cs typeface="Yu Gothic"/>
              </a:rPr>
              <a:t>Astra</a:t>
            </a:r>
          </a:p>
        </p:txBody>
      </p:sp>
      <p:sp>
        <p:nvSpPr>
          <p:cNvPr id="5" name="">
            <a:extLst xmlns:a="http://schemas.openxmlformats.org/drawingml/2006/main">
              <a:ext uri="{FF2B5EF4-FFF2-40B4-BE49-F238E27FC236}">
                <a16:creationId xmlns:a16="http://schemas.microsoft.com/office/drawing/2014/main" id="{C6DEE812-22C0-472F-83AF-CBC8C6302844}"/>
              </a:ext>
            </a:extLst>
          </p:cNvPr>
          <p:cNvSpPr>
            <a:spLocks xmlns:a="http://schemas.openxmlformats.org/drawingml/2006/main" noGrp="1"/>
          </p:cNvSpPr>
          <p:nvPr/>
        </p:nvSpPr>
        <p:spPr>
          <a:xfrm xmlns:a="http://schemas.openxmlformats.org/drawingml/2006/main">
            <a:off x="6324600" y="4000500"/>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2A77A3"/>
                </a:solidFill>
                <a:latin typeface="Yu Gothic"/>
                <a:ea typeface="Yu Gothic"/>
                <a:cs typeface="Yu Gothic"/>
              </a:defRPr>
            </a:pPr>
            <a:r>
              <a:rPr sz="2700" b="1">
                <a:solidFill>
                  <a:srgbClr val="2A77A3"/>
                </a:solidFill>
                <a:latin typeface="Yu Gothic"/>
                <a:ea typeface="Yu Gothic"/>
                <a:cs typeface="Yu Gothic"/>
              </a:rPr>
              <a:t>Fable 5.1</a:t>
            </a:r>
          </a:p>
        </p:txBody>
      </p:sp>
      <p:sp>
        <p:nvSpPr>
          <p:cNvPr id="6" name="">
            <a:extLst xmlns:a="http://schemas.openxmlformats.org/drawingml/2006/main">
              <a:ext uri="{FF2B5EF4-FFF2-40B4-BE49-F238E27FC236}">
                <a16:creationId xmlns:a16="http://schemas.microsoft.com/office/drawing/2014/main" id="{9B814581-310F-4845-BA17-33BFF79CD8D0}"/>
              </a:ext>
            </a:extLst>
          </p:cNvPr>
          <p:cNvSpPr>
            <a:spLocks xmlns:a="http://schemas.openxmlformats.org/drawingml/2006/main" noGrp="1"/>
          </p:cNvSpPr>
          <p:nvPr/>
        </p:nvSpPr>
        <p:spPr>
          <a:xfrm xmlns:a="http://schemas.openxmlformats.org/drawingml/2006/main">
            <a:off x="723900" y="4762500"/>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Codex・OpenAIのツール群で、曖昧な仕事から成果物へ</a:t>
            </a:r>
          </a:p>
        </p:txBody>
      </p:sp>
      <p:sp>
        <p:nvSpPr>
          <p:cNvPr id="7" name="">
            <a:extLst xmlns:a="http://schemas.openxmlformats.org/drawingml/2006/main">
              <a:ext uri="{FF2B5EF4-FFF2-40B4-BE49-F238E27FC236}">
                <a16:creationId xmlns:a16="http://schemas.microsoft.com/office/drawing/2014/main" id="{44A9DCBC-B1EF-456A-BFA7-F121EE0B0019}"/>
              </a:ext>
            </a:extLst>
          </p:cNvPr>
          <p:cNvSpPr>
            <a:spLocks xmlns:a="http://schemas.openxmlformats.org/drawingml/2006/main" noGrp="1"/>
          </p:cNvSpPr>
          <p:nvPr/>
        </p:nvSpPr>
        <p:spPr>
          <a:xfrm xmlns:a="http://schemas.openxmlformats.org/drawingml/2006/main">
            <a:off x="6324600" y="476250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Claude Code・Coworkで長期の難題へ</a:t>
            </a:r>
          </a:p>
        </p:txBody>
      </p:sp>
      <p:sp>
        <p:nvSpPr>
          <p:cNvPr id="8" name="">
            <a:extLst xmlns:a="http://schemas.openxmlformats.org/drawingml/2006/main">
              <a:ext uri="{FF2B5EF4-FFF2-40B4-BE49-F238E27FC236}">
                <a16:creationId xmlns:a16="http://schemas.microsoft.com/office/drawing/2014/main" id="{073A615E-5CAC-4640-B424-132486E088AB}"/>
              </a:ext>
            </a:extLst>
          </p:cNvPr>
          <p:cNvSpPr>
            <a:spLocks xmlns:a="http://schemas.openxmlformats.org/drawingml/2006/main" noGrp="1"/>
          </p:cNvSpPr>
          <p:nvPr/>
        </p:nvSpPr>
        <p:spPr>
          <a:xfrm xmlns:a="http://schemas.openxmlformats.org/drawingml/2006/main">
            <a:off x="723900" y="60388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365C76"/>
                </a:solidFill>
                <a:latin typeface="Yu Gothic"/>
                <a:ea typeface="Yu Gothic"/>
                <a:cs typeface="Yu Gothic"/>
              </a:defRPr>
            </a:pPr>
            <a:r>
              <a:rPr sz="1650" b="1">
                <a:solidFill>
                  <a:srgbClr val="365C76"/>
                </a:solidFill>
                <a:latin typeface="Yu Gothic"/>
                <a:ea typeface="Yu Gothic"/>
                <a:cs typeface="Yu Gothic"/>
              </a:rPr>
              <a:t>両者の用途は重なる。自社の仕事で評価する。</a:t>
            </a:r>
          </a:p>
        </p:txBody>
      </p:sp>
      <p:sp>
        <p:nvSpPr>
          <p:cNvPr id="9" name="">
            <a:extLst xmlns:a="http://schemas.openxmlformats.org/drawingml/2006/main">
              <a:ext uri="{FF2B5EF4-FFF2-40B4-BE49-F238E27FC236}">
                <a16:creationId xmlns:a16="http://schemas.microsoft.com/office/drawing/2014/main" id="{C190A338-0B71-44E0-BA1E-0FAA8FFC291D}"/>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35 / 38</a:t>
            </a:r>
          </a:p>
        </p:txBody>
      </p:sp>
    </p:spTree>
    <p:extLst>
      <p:ext uri="{BB962C8B-B14F-4D97-AF65-F5344CB8AC3E}">
        <p14:creationId xmlns:p14="http://schemas.microsoft.com/office/powerpoint/2010/main" val="551674888"/>
      </p:ext>
    </p:extLst>
  </p:cSld>
</p:sld>
</file>

<file path=ppt/slides/slide36.xml><?xml version="1.0" encoding="utf-8"?>
<p:sld xmlns:p="http://schemas.openxmlformats.org/presentationml/2006/main">
  <p:cSld>
    <p:bg>
      <p:bgPr>
        <a:solidFill xmlns:a="http://schemas.openxmlformats.org/drawingml/2006/main">
          <a:srgbClr val="E1F2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8B825A7-77C9-4B0B-9F7A-5196AB25BC14}"/>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Fable 5.1との比較</a:t>
            </a:r>
          </a:p>
        </p:txBody>
      </p:sp>
      <p:sp>
        <p:nvSpPr>
          <p:cNvPr id="2" name="">
            <a:extLst xmlns:a="http://schemas.openxmlformats.org/drawingml/2006/main">
              <a:ext uri="{FF2B5EF4-FFF2-40B4-BE49-F238E27FC236}">
                <a16:creationId xmlns:a16="http://schemas.microsoft.com/office/drawing/2014/main" id="{7CD02E36-CD88-498A-91DF-DC9E2498F5C5}"/>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長文の条件は違う</a:t>
            </a:r>
          </a:p>
        </p:txBody>
      </p:sp>
      <p:sp>
        <p:nvSpPr>
          <p:cNvPr id="3" name="">
            <a:extLst xmlns:a="http://schemas.openxmlformats.org/drawingml/2006/main">
              <a:ext uri="{FF2B5EF4-FFF2-40B4-BE49-F238E27FC236}">
                <a16:creationId xmlns:a16="http://schemas.microsoft.com/office/drawing/2014/main" id="{18017912-C6DF-4C48-A96B-79FB1F99B01B}"/>
              </a:ext>
            </a:extLst>
          </p:cNvPr>
          <p:cNvSpPr>
            <a:spLocks xmlns:a="http://schemas.openxmlformats.org/drawingml/2006/main" noGrp="1"/>
          </p:cNvSpPr>
          <p:nvPr/>
        </p:nvSpPr>
        <p:spPr>
          <a:xfrm xmlns:a="http://schemas.openxmlformats.org/drawingml/2006/main">
            <a:off x="723900" y="2571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925" b="1">
                <a:solidFill>
                  <a:srgbClr val="0D2A43"/>
                </a:solidFill>
                <a:latin typeface="Yu Gothic"/>
                <a:ea typeface="Yu Gothic"/>
                <a:cs typeface="Yu Gothic"/>
              </a:defRPr>
            </a:pPr>
            <a:r>
              <a:rPr sz="2925" b="1">
                <a:solidFill>
                  <a:srgbClr val="0D2A43"/>
                </a:solidFill>
                <a:latin typeface="Yu Gothic"/>
                <a:ea typeface="Yu Gothic"/>
                <a:cs typeface="Yu Gothic"/>
              </a:rPr>
              <a:t>同じ基本単価でも、長文とキャッシュで差が出る</a:t>
            </a:r>
          </a:p>
        </p:txBody>
      </p:sp>
      <p:sp>
        <p:nvSpPr>
          <p:cNvPr id="4" name="">
            <a:extLst xmlns:a="http://schemas.openxmlformats.org/drawingml/2006/main">
              <a:ext uri="{FF2B5EF4-FFF2-40B4-BE49-F238E27FC236}">
                <a16:creationId xmlns:a16="http://schemas.microsoft.com/office/drawing/2014/main" id="{869CE8A7-F151-41F2-BD6C-7679C894E94B}"/>
              </a:ext>
            </a:extLst>
          </p:cNvPr>
          <p:cNvSpPr>
            <a:spLocks xmlns:a="http://schemas.openxmlformats.org/drawingml/2006/main" noGrp="1"/>
          </p:cNvSpPr>
          <p:nvPr/>
        </p:nvSpPr>
        <p:spPr>
          <a:xfrm xmlns:a="http://schemas.openxmlformats.org/drawingml/2006/main">
            <a:off x="723900" y="4000500"/>
            <a:ext cx="4953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2A77A3"/>
                </a:solidFill>
                <a:latin typeface="Yu Gothic"/>
                <a:ea typeface="Yu Gothic"/>
                <a:cs typeface="Yu Gothic"/>
              </a:defRPr>
            </a:pPr>
            <a:r>
              <a:rPr sz="2700" b="1">
                <a:solidFill>
                  <a:srgbClr val="2A77A3"/>
                </a:solidFill>
                <a:latin typeface="Yu Gothic"/>
                <a:ea typeface="Yu Gothic"/>
                <a:cs typeface="Yu Gothic"/>
              </a:rPr>
              <a:t>Astra</a:t>
            </a:r>
          </a:p>
        </p:txBody>
      </p:sp>
      <p:sp>
        <p:nvSpPr>
          <p:cNvPr id="5" name="">
            <a:extLst xmlns:a="http://schemas.openxmlformats.org/drawingml/2006/main">
              <a:ext uri="{FF2B5EF4-FFF2-40B4-BE49-F238E27FC236}">
                <a16:creationId xmlns:a16="http://schemas.microsoft.com/office/drawing/2014/main" id="{677CE472-71C7-4264-8E2C-2278E821D80D}"/>
              </a:ext>
            </a:extLst>
          </p:cNvPr>
          <p:cNvSpPr>
            <a:spLocks xmlns:a="http://schemas.openxmlformats.org/drawingml/2006/main" noGrp="1"/>
          </p:cNvSpPr>
          <p:nvPr/>
        </p:nvSpPr>
        <p:spPr>
          <a:xfrm xmlns:a="http://schemas.openxmlformats.org/drawingml/2006/main">
            <a:off x="6324600" y="4000500"/>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2A77A3"/>
                </a:solidFill>
                <a:latin typeface="Yu Gothic"/>
                <a:ea typeface="Yu Gothic"/>
                <a:cs typeface="Yu Gothic"/>
              </a:defRPr>
            </a:pPr>
            <a:r>
              <a:rPr sz="2700" b="1">
                <a:solidFill>
                  <a:srgbClr val="2A77A3"/>
                </a:solidFill>
                <a:latin typeface="Yu Gothic"/>
                <a:ea typeface="Yu Gothic"/>
                <a:cs typeface="Yu Gothic"/>
              </a:rPr>
              <a:t>Fable 5.1</a:t>
            </a:r>
          </a:p>
        </p:txBody>
      </p:sp>
      <p:sp>
        <p:nvSpPr>
          <p:cNvPr id="6" name="">
            <a:extLst xmlns:a="http://schemas.openxmlformats.org/drawingml/2006/main">
              <a:ext uri="{FF2B5EF4-FFF2-40B4-BE49-F238E27FC236}">
                <a16:creationId xmlns:a16="http://schemas.microsoft.com/office/drawing/2014/main" id="{EF84E0CB-92A6-492A-9B0F-5ACFF2D40E68}"/>
              </a:ext>
            </a:extLst>
          </p:cNvPr>
          <p:cNvSpPr>
            <a:spLocks xmlns:a="http://schemas.openxmlformats.org/drawingml/2006/main" noGrp="1"/>
          </p:cNvSpPr>
          <p:nvPr/>
        </p:nvSpPr>
        <p:spPr>
          <a:xfrm xmlns:a="http://schemas.openxmlformats.org/drawingml/2006/main">
            <a:off x="723900" y="4762500"/>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入力27.2万トークン超で料金倍率</a:t>
            </a:r>
          </a:p>
        </p:txBody>
      </p:sp>
      <p:sp>
        <p:nvSpPr>
          <p:cNvPr id="7" name="">
            <a:extLst xmlns:a="http://schemas.openxmlformats.org/drawingml/2006/main">
              <a:ext uri="{FF2B5EF4-FFF2-40B4-BE49-F238E27FC236}">
                <a16:creationId xmlns:a16="http://schemas.microsoft.com/office/drawing/2014/main" id="{8DE18607-4BAC-4058-8F37-7ACC265382F2}"/>
              </a:ext>
            </a:extLst>
          </p:cNvPr>
          <p:cNvSpPr>
            <a:spLocks xmlns:a="http://schemas.openxmlformats.org/drawingml/2006/main" noGrp="1"/>
          </p:cNvSpPr>
          <p:nvPr/>
        </p:nvSpPr>
        <p:spPr>
          <a:xfrm xmlns:a="http://schemas.openxmlformats.org/drawingml/2006/main">
            <a:off x="6324600" y="476250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365C76"/>
                </a:solidFill>
                <a:latin typeface="Yu Gothic"/>
                <a:ea typeface="Yu Gothic"/>
                <a:cs typeface="Yu Gothic"/>
              </a:defRPr>
            </a:pPr>
            <a:r>
              <a:rPr sz="2100" b="1">
                <a:solidFill>
                  <a:srgbClr val="365C76"/>
                </a:solidFill>
                <a:latin typeface="Yu Gothic"/>
                <a:ea typeface="Yu Gothic"/>
                <a:cs typeface="Yu Gothic"/>
              </a:rPr>
              <a:t>100万トークン全域が標準単価</a:t>
            </a:r>
          </a:p>
        </p:txBody>
      </p:sp>
      <p:sp>
        <p:nvSpPr>
          <p:cNvPr id="8" name="">
            <a:extLst xmlns:a="http://schemas.openxmlformats.org/drawingml/2006/main">
              <a:ext uri="{FF2B5EF4-FFF2-40B4-BE49-F238E27FC236}">
                <a16:creationId xmlns:a16="http://schemas.microsoft.com/office/drawing/2014/main" id="{23AC43C4-C108-42A4-A69B-6321DB590440}"/>
              </a:ext>
            </a:extLst>
          </p:cNvPr>
          <p:cNvSpPr>
            <a:spLocks xmlns:a="http://schemas.openxmlformats.org/drawingml/2006/main" noGrp="1"/>
          </p:cNvSpPr>
          <p:nvPr/>
        </p:nvSpPr>
        <p:spPr>
          <a:xfrm xmlns:a="http://schemas.openxmlformats.org/drawingml/2006/main">
            <a:off x="723900" y="60388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365C76"/>
                </a:solidFill>
                <a:latin typeface="Yu Gothic"/>
                <a:ea typeface="Yu Gothic"/>
                <a:cs typeface="Yu Gothic"/>
              </a:defRPr>
            </a:pPr>
            <a:r>
              <a:rPr sz="1650" b="1">
                <a:solidFill>
                  <a:srgbClr val="365C76"/>
                </a:solidFill>
                <a:latin typeface="Yu Gothic"/>
                <a:ea typeface="Yu Gothic"/>
                <a:cs typeface="Yu Gothic"/>
              </a:rPr>
              <a:t>キャッシュ読込：Astra $1 / Fable $0.25（100万トークン当たり）</a:t>
            </a:r>
          </a:p>
        </p:txBody>
      </p:sp>
      <p:sp>
        <p:nvSpPr>
          <p:cNvPr id="9" name="">
            <a:extLst xmlns:a="http://schemas.openxmlformats.org/drawingml/2006/main">
              <a:ext uri="{FF2B5EF4-FFF2-40B4-BE49-F238E27FC236}">
                <a16:creationId xmlns:a16="http://schemas.microsoft.com/office/drawing/2014/main" id="{03DC12D5-4176-494B-B147-27ED47647FB7}"/>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36 / 38</a:t>
            </a:r>
          </a:p>
        </p:txBody>
      </p:sp>
    </p:spTree>
    <p:extLst>
      <p:ext uri="{BB962C8B-B14F-4D97-AF65-F5344CB8AC3E}">
        <p14:creationId xmlns:p14="http://schemas.microsoft.com/office/powerpoint/2010/main" val="1833315881"/>
      </p:ext>
    </p:extLst>
  </p:cSld>
</p:sld>
</file>

<file path=ppt/slides/slide37.xml><?xml version="1.0" encoding="utf-8"?>
<p:sld xmlns:p="http://schemas.openxmlformats.org/presentationml/2006/main">
  <p:cSld>
    <p:bg>
      <p:bgPr>
        <a:solidFill xmlns:a="http://schemas.openxmlformats.org/drawingml/2006/main">
          <a:srgbClr val="EDF7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92D3757-C554-491C-A325-8BFE65F0A784}"/>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Fable 5.1との比較</a:t>
            </a:r>
          </a:p>
        </p:txBody>
      </p:sp>
      <p:sp>
        <p:nvSpPr>
          <p:cNvPr id="2" name="">
            <a:extLst xmlns:a="http://schemas.openxmlformats.org/drawingml/2006/main">
              <a:ext uri="{FF2B5EF4-FFF2-40B4-BE49-F238E27FC236}">
                <a16:creationId xmlns:a16="http://schemas.microsoft.com/office/drawing/2014/main" id="{51F6D355-FFD0-435C-AF4E-5EF5786C89E5}"/>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自社の仕事で比べる</a:t>
            </a:r>
          </a:p>
        </p:txBody>
      </p:sp>
      <p:sp>
        <p:nvSpPr>
          <p:cNvPr id="3" name="">
            <a:extLst xmlns:a="http://schemas.openxmlformats.org/drawingml/2006/main">
              <a:ext uri="{FF2B5EF4-FFF2-40B4-BE49-F238E27FC236}">
                <a16:creationId xmlns:a16="http://schemas.microsoft.com/office/drawing/2014/main" id="{41288C6D-8639-4CCD-AC4A-8335DD7AC998}"/>
              </a:ext>
            </a:extLst>
          </p:cNvPr>
          <p:cNvSpPr>
            <a:spLocks xmlns:a="http://schemas.openxmlformats.org/drawingml/2006/main" noGrp="1"/>
          </p:cNvSpPr>
          <p:nvPr/>
        </p:nvSpPr>
        <p:spPr>
          <a:xfrm xmlns:a="http://schemas.openxmlformats.org/drawingml/2006/main">
            <a:off x="723900" y="25908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0D2A43"/>
                </a:solidFill>
                <a:latin typeface="Yu Gothic"/>
                <a:ea typeface="Yu Gothic"/>
                <a:cs typeface="Yu Gothic"/>
              </a:defRPr>
            </a:pPr>
            <a:r>
              <a:rPr sz="2850" b="1">
                <a:solidFill>
                  <a:srgbClr val="0D2A43"/>
                </a:solidFill>
                <a:latin typeface="Yu Gothic"/>
                <a:ea typeface="Yu Gothic"/>
                <a:cs typeface="Yu Gothic"/>
              </a:rPr>
              <a:t>成功率・時間・成功1件の費用で選ぶ</a:t>
            </a:r>
          </a:p>
        </p:txBody>
      </p:sp>
      <p:sp>
        <p:nvSpPr>
          <p:cNvPr id="4" name="">
            <a:extLst xmlns:a="http://schemas.openxmlformats.org/drawingml/2006/main">
              <a:ext uri="{FF2B5EF4-FFF2-40B4-BE49-F238E27FC236}">
                <a16:creationId xmlns:a16="http://schemas.microsoft.com/office/drawing/2014/main" id="{CC7BB8A9-D180-48A0-9B98-2480D5677801}"/>
              </a:ext>
            </a:extLst>
          </p:cNvPr>
          <p:cNvSpPr>
            <a:spLocks xmlns:a="http://schemas.openxmlformats.org/drawingml/2006/main" noGrp="1"/>
          </p:cNvSpPr>
          <p:nvPr/>
        </p:nvSpPr>
        <p:spPr>
          <a:xfrm xmlns:a="http://schemas.openxmlformats.org/drawingml/2006/main">
            <a:off x="723900" y="3876675"/>
            <a:ext cx="3105150" cy="18764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5" name="">
            <a:extLst xmlns:a="http://schemas.openxmlformats.org/drawingml/2006/main">
              <a:ext uri="{FF2B5EF4-FFF2-40B4-BE49-F238E27FC236}">
                <a16:creationId xmlns:a16="http://schemas.microsoft.com/office/drawing/2014/main" id="{B819DB8F-CD96-441F-B515-40FFF4F057B0}"/>
              </a:ext>
            </a:extLst>
          </p:cNvPr>
          <p:cNvSpPr>
            <a:spLocks xmlns:a="http://schemas.openxmlformats.org/drawingml/2006/main" noGrp="1"/>
          </p:cNvSpPr>
          <p:nvPr/>
        </p:nvSpPr>
        <p:spPr>
          <a:xfrm xmlns:a="http://schemas.openxmlformats.org/drawingml/2006/main">
            <a:off x="904875"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01</a:t>
            </a:r>
          </a:p>
        </p:txBody>
      </p:sp>
      <p:sp>
        <p:nvSpPr>
          <p:cNvPr id="6" name="">
            <a:extLst xmlns:a="http://schemas.openxmlformats.org/drawingml/2006/main">
              <a:ext uri="{FF2B5EF4-FFF2-40B4-BE49-F238E27FC236}">
                <a16:creationId xmlns:a16="http://schemas.microsoft.com/office/drawing/2014/main" id="{7824808D-CA08-4C35-BEBB-E3891C7C4AB1}"/>
              </a:ext>
            </a:extLst>
          </p:cNvPr>
          <p:cNvSpPr>
            <a:spLocks xmlns:a="http://schemas.openxmlformats.org/drawingml/2006/main" noGrp="1"/>
          </p:cNvSpPr>
          <p:nvPr/>
        </p:nvSpPr>
        <p:spPr>
          <a:xfrm xmlns:a="http://schemas.openxmlformats.org/drawingml/2006/main">
            <a:off x="923925" y="4305300"/>
            <a:ext cx="2705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成功率</a:t>
            </a:r>
          </a:p>
        </p:txBody>
      </p:sp>
      <p:sp>
        <p:nvSpPr>
          <p:cNvPr id="7" name="">
            <a:extLst xmlns:a="http://schemas.openxmlformats.org/drawingml/2006/main">
              <a:ext uri="{FF2B5EF4-FFF2-40B4-BE49-F238E27FC236}">
                <a16:creationId xmlns:a16="http://schemas.microsoft.com/office/drawing/2014/main" id="{982206CB-C41A-4B66-9238-FA667C2064B6}"/>
              </a:ext>
            </a:extLst>
          </p:cNvPr>
          <p:cNvSpPr>
            <a:spLocks xmlns:a="http://schemas.openxmlformats.org/drawingml/2006/main" noGrp="1"/>
          </p:cNvSpPr>
          <p:nvPr/>
        </p:nvSpPr>
        <p:spPr>
          <a:xfrm xmlns:a="http://schemas.openxmlformats.org/drawingml/2006/main">
            <a:off x="3924300" y="4514850"/>
            <a:ext cx="52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129"/>
          </a:bodyPr>
          <a:lstStyle xmlns:a="http://schemas.openxmlformats.org/drawingml/2006/main"/>
          <a:p xmlns:a="http://schemas.openxmlformats.org/drawingml/2006/main">
            <a:pPr>
              <a:defRPr sz="3225" b="1">
                <a:solidFill>
                  <a:srgbClr val="2A77A3"/>
                </a:solidFill>
                <a:latin typeface="Yu Gothic"/>
                <a:ea typeface="Yu Gothic"/>
                <a:cs typeface="Yu Gothic"/>
              </a:defRPr>
            </a:pPr>
            <a:r>
              <a:rPr sz="3225" b="1">
                <a:solidFill>
                  <a:srgbClr val="2A77A3"/>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CA5CD42B-0C5D-4191-8007-C7C3032E2841}"/>
              </a:ext>
            </a:extLst>
          </p:cNvPr>
          <p:cNvSpPr>
            <a:spLocks xmlns:a="http://schemas.openxmlformats.org/drawingml/2006/main" noGrp="1"/>
          </p:cNvSpPr>
          <p:nvPr/>
        </p:nvSpPr>
        <p:spPr>
          <a:xfrm xmlns:a="http://schemas.openxmlformats.org/drawingml/2006/main">
            <a:off x="4448175" y="3876675"/>
            <a:ext cx="3105150" cy="1876425"/>
          </a:xfrm>
          <a:prstGeom xmlns:a="http://schemas.openxmlformats.org/drawingml/2006/main" prst="rect">
            <a:avLst/>
          </a:prstGeom>
          <a:solidFill xmlns:a="http://schemas.openxmlformats.org/drawingml/2006/main">
            <a:srgbClr val="FFFFFF"/>
          </a:solidFill>
          <a:ln xmlns:a="http://schemas.openxmlformats.org/drawingml/2006/main" w="19050">
            <a:solidFill>
              <a:srgbClr val="AED8E9"/>
            </a:solidFill>
          </a:ln>
        </p:spPr>
      </p:sp>
      <p:sp>
        <p:nvSpPr>
          <p:cNvPr id="9" name="">
            <a:extLst xmlns:a="http://schemas.openxmlformats.org/drawingml/2006/main">
              <a:ext uri="{FF2B5EF4-FFF2-40B4-BE49-F238E27FC236}">
                <a16:creationId xmlns:a16="http://schemas.microsoft.com/office/drawing/2014/main" id="{AE71EA5A-86D5-4A46-958D-046AFE8FDB2C}"/>
              </a:ext>
            </a:extLst>
          </p:cNvPr>
          <p:cNvSpPr>
            <a:spLocks xmlns:a="http://schemas.openxmlformats.org/drawingml/2006/main" noGrp="1"/>
          </p:cNvSpPr>
          <p:nvPr/>
        </p:nvSpPr>
        <p:spPr>
          <a:xfrm xmlns:a="http://schemas.openxmlformats.org/drawingml/2006/main">
            <a:off x="4629150"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02</a:t>
            </a:r>
          </a:p>
        </p:txBody>
      </p:sp>
      <p:sp>
        <p:nvSpPr>
          <p:cNvPr id="10" name="">
            <a:extLst xmlns:a="http://schemas.openxmlformats.org/drawingml/2006/main">
              <a:ext uri="{FF2B5EF4-FFF2-40B4-BE49-F238E27FC236}">
                <a16:creationId xmlns:a16="http://schemas.microsoft.com/office/drawing/2014/main" id="{91F13244-7F58-4E88-B566-12E6676B8F42}"/>
              </a:ext>
            </a:extLst>
          </p:cNvPr>
          <p:cNvSpPr>
            <a:spLocks xmlns:a="http://schemas.openxmlformats.org/drawingml/2006/main" noGrp="1"/>
          </p:cNvSpPr>
          <p:nvPr/>
        </p:nvSpPr>
        <p:spPr>
          <a:xfrm xmlns:a="http://schemas.openxmlformats.org/drawingml/2006/main">
            <a:off x="4648200" y="4305300"/>
            <a:ext cx="2705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所要時間</a:t>
            </a:r>
          </a:p>
        </p:txBody>
      </p:sp>
      <p:sp>
        <p:nvSpPr>
          <p:cNvPr id="11" name="">
            <a:extLst xmlns:a="http://schemas.openxmlformats.org/drawingml/2006/main">
              <a:ext uri="{FF2B5EF4-FFF2-40B4-BE49-F238E27FC236}">
                <a16:creationId xmlns:a16="http://schemas.microsoft.com/office/drawing/2014/main" id="{F9C75403-5C13-4F2B-A4CE-560005275281}"/>
              </a:ext>
            </a:extLst>
          </p:cNvPr>
          <p:cNvSpPr>
            <a:spLocks xmlns:a="http://schemas.openxmlformats.org/drawingml/2006/main" noGrp="1"/>
          </p:cNvSpPr>
          <p:nvPr/>
        </p:nvSpPr>
        <p:spPr>
          <a:xfrm xmlns:a="http://schemas.openxmlformats.org/drawingml/2006/main">
            <a:off x="7648575" y="4514850"/>
            <a:ext cx="52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129"/>
          </a:bodyPr>
          <a:lstStyle xmlns:a="http://schemas.openxmlformats.org/drawingml/2006/main"/>
          <a:p xmlns:a="http://schemas.openxmlformats.org/drawingml/2006/main">
            <a:pPr>
              <a:defRPr sz="3225" b="1">
                <a:solidFill>
                  <a:srgbClr val="2A77A3"/>
                </a:solidFill>
                <a:latin typeface="Yu Gothic"/>
                <a:ea typeface="Yu Gothic"/>
                <a:cs typeface="Yu Gothic"/>
              </a:defRPr>
            </a:pPr>
            <a:r>
              <a:rPr sz="3225" b="1">
                <a:solidFill>
                  <a:srgbClr val="2A77A3"/>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2878B9F9-2A6B-4C37-ABD3-39F03A6511E6}"/>
              </a:ext>
            </a:extLst>
          </p:cNvPr>
          <p:cNvSpPr>
            <a:spLocks xmlns:a="http://schemas.openxmlformats.org/drawingml/2006/main" noGrp="1"/>
          </p:cNvSpPr>
          <p:nvPr/>
        </p:nvSpPr>
        <p:spPr>
          <a:xfrm xmlns:a="http://schemas.openxmlformats.org/drawingml/2006/main">
            <a:off x="8172450" y="3876675"/>
            <a:ext cx="3105150" cy="1876425"/>
          </a:xfrm>
          <a:prstGeom xmlns:a="http://schemas.openxmlformats.org/drawingml/2006/main" prst="rect">
            <a:avLst/>
          </a:prstGeom>
          <a:solidFill xmlns:a="http://schemas.openxmlformats.org/drawingml/2006/main">
            <a:srgbClr val="D7EEF8"/>
          </a:solidFill>
          <a:ln xmlns:a="http://schemas.openxmlformats.org/drawingml/2006/main" w="19050">
            <a:solidFill>
              <a:srgbClr val="2A77A3"/>
            </a:solidFill>
          </a:ln>
        </p:spPr>
      </p:sp>
      <p:sp>
        <p:nvSpPr>
          <p:cNvPr id="13" name="">
            <a:extLst xmlns:a="http://schemas.openxmlformats.org/drawingml/2006/main">
              <a:ext uri="{FF2B5EF4-FFF2-40B4-BE49-F238E27FC236}">
                <a16:creationId xmlns:a16="http://schemas.microsoft.com/office/drawing/2014/main" id="{21017BEE-60CA-43AF-A40D-EC4458AD0764}"/>
              </a:ext>
            </a:extLst>
          </p:cNvPr>
          <p:cNvSpPr>
            <a:spLocks xmlns:a="http://schemas.openxmlformats.org/drawingml/2006/main" noGrp="1"/>
          </p:cNvSpPr>
          <p:nvPr/>
        </p:nvSpPr>
        <p:spPr>
          <a:xfrm xmlns:a="http://schemas.openxmlformats.org/drawingml/2006/main">
            <a:off x="8353425" y="402907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94"/>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03</a:t>
            </a:r>
          </a:p>
        </p:txBody>
      </p:sp>
      <p:sp>
        <p:nvSpPr>
          <p:cNvPr id="14" name="">
            <a:extLst xmlns:a="http://schemas.openxmlformats.org/drawingml/2006/main">
              <a:ext uri="{FF2B5EF4-FFF2-40B4-BE49-F238E27FC236}">
                <a16:creationId xmlns:a16="http://schemas.microsoft.com/office/drawing/2014/main" id="{61859119-B0A0-4A0C-9F9D-F2C100609D3E}"/>
              </a:ext>
            </a:extLst>
          </p:cNvPr>
          <p:cNvSpPr>
            <a:spLocks xmlns:a="http://schemas.openxmlformats.org/drawingml/2006/main" noGrp="1"/>
          </p:cNvSpPr>
          <p:nvPr/>
        </p:nvSpPr>
        <p:spPr>
          <a:xfrm xmlns:a="http://schemas.openxmlformats.org/drawingml/2006/main">
            <a:off x="8372475" y="4305300"/>
            <a:ext cx="2705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0D2A43"/>
                </a:solidFill>
                <a:latin typeface="Yu Gothic"/>
                <a:ea typeface="Yu Gothic"/>
                <a:cs typeface="Yu Gothic"/>
              </a:defRPr>
            </a:pPr>
            <a:r>
              <a:rPr sz="2325" b="1">
                <a:solidFill>
                  <a:srgbClr val="0D2A43"/>
                </a:solidFill>
                <a:latin typeface="Yu Gothic"/>
                <a:ea typeface="Yu Gothic"/>
                <a:cs typeface="Yu Gothic"/>
              </a:rPr>
              <a:t>成功1件の費用</a:t>
            </a:r>
          </a:p>
        </p:txBody>
      </p:sp>
      <p:sp>
        <p:nvSpPr>
          <p:cNvPr id="15" name="">
            <a:extLst xmlns:a="http://schemas.openxmlformats.org/drawingml/2006/main">
              <a:ext uri="{FF2B5EF4-FFF2-40B4-BE49-F238E27FC236}">
                <a16:creationId xmlns:a16="http://schemas.microsoft.com/office/drawing/2014/main" id="{45FE9F5F-6AF2-4F28-AC0B-1418247CC703}"/>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37 / 38</a:t>
            </a:r>
          </a:p>
        </p:txBody>
      </p:sp>
    </p:spTree>
    <p:extLst>
      <p:ext uri="{BB962C8B-B14F-4D97-AF65-F5344CB8AC3E}">
        <p14:creationId xmlns:p14="http://schemas.microsoft.com/office/powerpoint/2010/main" val="151302281"/>
      </p:ext>
    </p:extLst>
  </p:cSld>
</p:sld>
</file>

<file path=ppt/slides/slide38.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516C15-DD7B-4976-919C-6EAECFF10352}"/>
              </a:ext>
            </a:extLst>
          </p:cNvPr>
          <p:cNvSpPr>
            <a:spLocks xmlns:a="http://schemas.openxmlformats.org/drawingml/2006/main" noGrp="1"/>
          </p:cNvSpPr>
          <p:nvPr/>
        </p:nvSpPr>
        <p:spPr>
          <a:xfrm xmlns:a="http://schemas.openxmlformats.org/drawingml/2006/main">
            <a:off x="723900" y="4953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A77A3"/>
                </a:solidFill>
                <a:latin typeface="Yu Gothic"/>
                <a:ea typeface="Yu Gothic"/>
                <a:cs typeface="Yu Gothic"/>
              </a:defRPr>
            </a:pPr>
            <a:r>
              <a:rPr sz="1425" b="1">
                <a:solidFill>
                  <a:srgbClr val="2A77A3"/>
                </a:solidFill>
                <a:latin typeface="Yu Gothic"/>
                <a:ea typeface="Yu Gothic"/>
                <a:cs typeface="Yu Gothic"/>
              </a:rPr>
              <a:t>まとめ</a:t>
            </a:r>
          </a:p>
        </p:txBody>
      </p:sp>
      <p:sp>
        <p:nvSpPr>
          <p:cNvPr id="2" name="">
            <a:extLst xmlns:a="http://schemas.openxmlformats.org/drawingml/2006/main">
              <a:ext uri="{FF2B5EF4-FFF2-40B4-BE49-F238E27FC236}">
                <a16:creationId xmlns:a16="http://schemas.microsoft.com/office/drawing/2014/main" id="{3DC5B002-1E0A-4D54-B049-E346B198C27F}"/>
              </a:ext>
            </a:extLst>
          </p:cNvPr>
          <p:cNvSpPr>
            <a:spLocks xmlns:a="http://schemas.openxmlformats.org/drawingml/2006/main" noGrp="1"/>
          </p:cNvSpPr>
          <p:nvPr/>
        </p:nvSpPr>
        <p:spPr>
          <a:xfrm xmlns:a="http://schemas.openxmlformats.org/drawingml/2006/main">
            <a:off x="723900" y="1362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0D2A43"/>
                </a:solidFill>
                <a:latin typeface="Yu Gothic"/>
                <a:ea typeface="Yu Gothic"/>
                <a:cs typeface="Yu Gothic"/>
              </a:defRPr>
            </a:pPr>
            <a:r>
              <a:rPr sz="3900" b="1">
                <a:solidFill>
                  <a:srgbClr val="0D2A43"/>
                </a:solidFill>
                <a:latin typeface="Yu Gothic"/>
                <a:ea typeface="Yu Gothic"/>
                <a:cs typeface="Yu Gothic"/>
              </a:rPr>
              <a:t>明日、何を任せますか？</a:t>
            </a:r>
          </a:p>
        </p:txBody>
      </p:sp>
      <p:sp>
        <p:nvSpPr>
          <p:cNvPr id="3" name="">
            <a:extLst xmlns:a="http://schemas.openxmlformats.org/drawingml/2006/main">
              <a:ext uri="{FF2B5EF4-FFF2-40B4-BE49-F238E27FC236}">
                <a16:creationId xmlns:a16="http://schemas.microsoft.com/office/drawing/2014/main" id="{B858989B-FAB3-4D23-B4CD-085048BA34F9}"/>
              </a:ext>
            </a:extLst>
          </p:cNvPr>
          <p:cNvSpPr>
            <a:spLocks xmlns:a="http://schemas.openxmlformats.org/drawingml/2006/main" noGrp="1"/>
          </p:cNvSpPr>
          <p:nvPr/>
        </p:nvSpPr>
        <p:spPr>
          <a:xfrm xmlns:a="http://schemas.openxmlformats.org/drawingml/2006/main">
            <a:off x="723900" y="292417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4275" b="1">
                <a:solidFill>
                  <a:srgbClr val="2A77A3"/>
                </a:solidFill>
                <a:latin typeface="Yu Gothic"/>
                <a:ea typeface="Yu Gothic"/>
                <a:cs typeface="Yu Gothic"/>
              </a:defRPr>
            </a:pPr>
            <a:r>
              <a:rPr sz="4275" b="1">
                <a:solidFill>
                  <a:srgbClr val="2A77A3"/>
                </a:solidFill>
                <a:latin typeface="Yu Gothic"/>
                <a:ea typeface="Yu Gothic"/>
                <a:cs typeface="Yu Gothic"/>
              </a:rPr>
              <a:t>複雑でも完成条件を言える仕事を一つ選ぶ</a:t>
            </a:r>
          </a:p>
        </p:txBody>
      </p:sp>
      <p:sp>
        <p:nvSpPr>
          <p:cNvPr id="4" name="">
            <a:extLst xmlns:a="http://schemas.openxmlformats.org/drawingml/2006/main">
              <a:ext uri="{FF2B5EF4-FFF2-40B4-BE49-F238E27FC236}">
                <a16:creationId xmlns:a16="http://schemas.microsoft.com/office/drawing/2014/main" id="{646E208B-E878-4E07-8D14-EA3D1B061F78}"/>
              </a:ext>
            </a:extLst>
          </p:cNvPr>
          <p:cNvSpPr>
            <a:spLocks xmlns:a="http://schemas.openxmlformats.org/drawingml/2006/main" noGrp="1"/>
          </p:cNvSpPr>
          <p:nvPr/>
        </p:nvSpPr>
        <p:spPr>
          <a:xfrm xmlns:a="http://schemas.openxmlformats.org/drawingml/2006/main">
            <a:off x="723900" y="547687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a:solidFill>
                  <a:srgbClr val="365C76"/>
                </a:solidFill>
                <a:latin typeface="Yu Gothic"/>
                <a:ea typeface="Yu Gothic"/>
                <a:cs typeface="Yu Gothic"/>
              </a:defRPr>
            </a:pPr>
            <a:r>
              <a:rPr sz="1725" b="1">
                <a:solidFill>
                  <a:srgbClr val="365C76"/>
                </a:solidFill>
                <a:latin typeface="Yu Gothic"/>
                <a:ea typeface="Yu Gothic"/>
                <a:cs typeface="Yu Gothic"/>
              </a:rPr>
              <a:t>目的を伝える　 / 　権限と終点を決める　 / 　作って、確かめる</a:t>
            </a:r>
          </a:p>
        </p:txBody>
      </p:sp>
      <p:sp>
        <p:nvSpPr>
          <p:cNvPr id="5" name="">
            <a:extLst xmlns:a="http://schemas.openxmlformats.org/drawingml/2006/main">
              <a:ext uri="{FF2B5EF4-FFF2-40B4-BE49-F238E27FC236}">
                <a16:creationId xmlns:a16="http://schemas.microsoft.com/office/drawing/2014/main" id="{252E610F-7DA4-40B5-ABF2-8220501A5EA8}"/>
              </a:ext>
            </a:extLst>
          </p:cNvPr>
          <p:cNvSpPr>
            <a:spLocks xmlns:a="http://schemas.openxmlformats.org/drawingml/2006/main" noGrp="1"/>
          </p:cNvSpPr>
          <p:nvPr/>
        </p:nvSpPr>
        <p:spPr>
          <a:xfrm xmlns:a="http://schemas.openxmlformats.org/drawingml/2006/main">
            <a:off x="10763250" y="63436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2A77A3"/>
                </a:solidFill>
                <a:latin typeface="Yu Gothic"/>
                <a:ea typeface="Yu Gothic"/>
                <a:cs typeface="Yu Gothic"/>
              </a:defRPr>
            </a:pPr>
            <a:r>
              <a:rPr sz="1275" b="1">
                <a:solidFill>
                  <a:srgbClr val="2A77A3"/>
                </a:solidFill>
                <a:latin typeface="Yu Gothic"/>
                <a:ea typeface="Yu Gothic"/>
                <a:cs typeface="Yu Gothic"/>
              </a:rPr>
              <a:t>38 / 38</a:t>
            </a:r>
          </a:p>
        </p:txBody>
      </p:sp>
    </p:spTree>
    <p:extLst>
      <p:ext uri="{BB962C8B-B14F-4D97-AF65-F5344CB8AC3E}">
        <p14:creationId xmlns:p14="http://schemas.microsoft.com/office/powerpoint/2010/main" val="16378063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2026-10-19T23:44:06.7940000Z</dcterms:created>
  <dcterms:modified xsi:type="dcterms:W3CDTF">2026-10-19T23:44:06.7940000Z</dcterms:modified>
</coreProperties>
</file>